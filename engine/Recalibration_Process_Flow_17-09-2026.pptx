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6000"/>
            </a:avLst>
          </a:prstGeom>
          <a:solidFill>
            <a:srgbClr val="FA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457200"/>
          </a:xfrm>
          <a:prstGeom prst="rect">
            <a:avLst/>
          </a:prstGeom>
          <a:noFill/>
        </p:spPr>
        <p:txBody>
          <a:bodyPr wrap="square" lIns="0" rIns="0" tIns="0" bIns="0" anchor="t">
            <a:spAutoFit/>
          </a:bodyPr>
          <a:lstStyle/>
          <a:p>
            <a:pPr algn="l">
              <a:lnSpc>
                <a:spcPct val="95000"/>
              </a:lnSpc>
            </a:pPr>
            <a:r>
              <a:rPr sz="2600" b="1">
                <a:solidFill>
                  <a:srgbClr val="1A1A1A"/>
                </a:solidFill>
                <a:latin typeface="Georgia"/>
              </a:rPr>
              <a:t>Fundamental recalibration — the process, end to end</a:t>
            </a:r>
          </a:p>
        </p:txBody>
      </p:sp>
      <p:sp>
        <p:nvSpPr>
          <p:cNvPr id="4" name="TextBox 3"/>
          <p:cNvSpPr txBox="1"/>
          <p:nvPr/>
        </p:nvSpPr>
        <p:spPr>
          <a:xfrm>
            <a:off x="548640" y="868680"/>
            <a:ext cx="10515600" cy="320040"/>
          </a:xfrm>
          <a:prstGeom prst="rect">
            <a:avLst/>
          </a:prstGeom>
          <a:noFill/>
        </p:spPr>
        <p:txBody>
          <a:bodyPr wrap="square" lIns="0" rIns="0" tIns="0" bIns="0" anchor="t">
            <a:spAutoFit/>
          </a:bodyPr>
          <a:lstStyle/>
          <a:p>
            <a:pPr algn="l">
              <a:lnSpc>
                <a:spcPct val="95000"/>
              </a:lnSpc>
            </a:pPr>
            <a:r>
              <a:rPr sz="1150" b="0">
                <a:solidFill>
                  <a:srgbClr val="6B665E"/>
                </a:solidFill>
                <a:latin typeface="Georgia"/>
              </a:rPr>
              <a:t>ONE NAME AT A TIME, never in parallel — a defect found on the first usually changes how the second is built.   Publishing is a separate gate and it can refuse.</a:t>
            </a:r>
          </a:p>
        </p:txBody>
      </p:sp>
      <p:sp>
        <p:nvSpPr>
          <p:cNvPr id="5" name="Rounded Rectangle 4"/>
          <p:cNvSpPr/>
          <p:nvPr/>
        </p:nvSpPr>
        <p:spPr>
          <a:xfrm>
            <a:off x="548640" y="141732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 y="1508760"/>
            <a:ext cx="365760" cy="365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0</a:t>
            </a:r>
          </a:p>
        </p:txBody>
      </p:sp>
      <p:sp>
        <p:nvSpPr>
          <p:cNvPr id="7" name="TextBox 6"/>
          <p:cNvSpPr txBox="1"/>
          <p:nvPr/>
        </p:nvSpPr>
        <p:spPr>
          <a:xfrm>
            <a:off x="1170432" y="152247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FREEZE, THEN ASK</a:t>
            </a:r>
          </a:p>
        </p:txBody>
      </p:sp>
      <p:sp>
        <p:nvSpPr>
          <p:cNvPr id="8" name="TextBox 7"/>
          <p:cNvSpPr txBox="1"/>
          <p:nvPr/>
        </p:nvSpPr>
        <p:spPr>
          <a:xfrm>
            <a:off x="3566160" y="1513332"/>
            <a:ext cx="784829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Freeze fair{} BEFORE anything moves it — a baseline taken afterwards is a fabricated zero. Ask for the latest price and its date, then route around it. Read what already binds on this name and its class.</a:t>
            </a:r>
          </a:p>
        </p:txBody>
      </p:sp>
      <p:sp>
        <p:nvSpPr>
          <p:cNvPr id="9" name="Rounded Rectangle 8"/>
          <p:cNvSpPr/>
          <p:nvPr/>
        </p:nvSpPr>
        <p:spPr>
          <a:xfrm>
            <a:off x="548640" y="203454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944" y="2125980"/>
            <a:ext cx="365760" cy="365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1</a:t>
            </a:r>
          </a:p>
        </p:txBody>
      </p:sp>
      <p:sp>
        <p:nvSpPr>
          <p:cNvPr id="11" name="TextBox 10"/>
          <p:cNvSpPr txBox="1"/>
          <p:nvPr/>
        </p:nvSpPr>
        <p:spPr>
          <a:xfrm>
            <a:off x="1170432" y="213969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RECALIBRATE THE FUNDAMENTALS</a:t>
            </a:r>
          </a:p>
        </p:txBody>
      </p:sp>
      <p:sp>
        <p:nvSpPr>
          <p:cNvPr id="12" name="TextBox 11"/>
          <p:cNvSpPr txBox="1"/>
          <p:nvPr/>
        </p:nvSpPr>
        <p:spPr>
          <a:xfrm>
            <a:off x="3566160" y="2130552"/>
            <a:ext cx="784829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Walk-forward on the company's own history. Drivers ground up — volume x price, cost per unit, margins as OUTPUTS. Terminal on a DISCLOSED asset life. One class primary IS the central; there is no blend.</a:t>
            </a:r>
          </a:p>
        </p:txBody>
      </p:sp>
      <p:sp>
        <p:nvSpPr>
          <p:cNvPr id="13" name="Rounded Rectangle 12"/>
          <p:cNvSpPr/>
          <p:nvPr/>
        </p:nvSpPr>
        <p:spPr>
          <a:xfrm>
            <a:off x="548640" y="265176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4944" y="2743200"/>
            <a:ext cx="365760" cy="365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2</a:t>
            </a:r>
          </a:p>
        </p:txBody>
      </p:sp>
      <p:sp>
        <p:nvSpPr>
          <p:cNvPr id="15" name="TextBox 14"/>
          <p:cNvSpPr txBox="1"/>
          <p:nvPr/>
        </p:nvSpPr>
        <p:spPr>
          <a:xfrm>
            <a:off x="1170432" y="275691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INTERNAL QC</a:t>
            </a:r>
          </a:p>
        </p:txBody>
      </p:sp>
      <p:sp>
        <p:nvSpPr>
          <p:cNvPr id="16" name="TextBox 15"/>
          <p:cNvSpPr txBox="1"/>
          <p:nvPr/>
        </p:nvSpPr>
        <p:spPr>
          <a:xfrm>
            <a:off x="3566160" y="2747772"/>
            <a:ext cx="784829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The QC gate filled from OUTSIDE the study, evidence per row, never self-certified. Every CI gate run as CI runs it. More than 10% from price either way — the eight-heading gap review, BEFORE anything is staged.</a:t>
            </a:r>
          </a:p>
        </p:txBody>
      </p:sp>
      <p:sp>
        <p:nvSpPr>
          <p:cNvPr id="17" name="Rounded Rectangle 16"/>
          <p:cNvSpPr/>
          <p:nvPr/>
        </p:nvSpPr>
        <p:spPr>
          <a:xfrm>
            <a:off x="548640" y="326898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944" y="3360420"/>
            <a:ext cx="365760" cy="365760"/>
          </a:xfrm>
          <a:prstGeom prst="roundRect">
            <a:avLst>
              <a:gd name="adj" fmla="val 6000"/>
            </a:avLst>
          </a:prstGeom>
          <a:solidFill>
            <a:srgbClr val="8C2F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3</a:t>
            </a:r>
          </a:p>
        </p:txBody>
      </p:sp>
      <p:sp>
        <p:nvSpPr>
          <p:cNvPr id="19" name="TextBox 18"/>
          <p:cNvSpPr txBox="1"/>
          <p:nvPr/>
        </p:nvSpPr>
        <p:spPr>
          <a:xfrm>
            <a:off x="1170432" y="337413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EXTERNAL NEWS RESEARCH</a:t>
            </a:r>
          </a:p>
        </p:txBody>
      </p:sp>
      <p:sp>
        <p:nvSpPr>
          <p:cNvPr id="20" name="TextBox 19"/>
          <p:cNvSpPr txBox="1"/>
          <p:nvPr/>
        </p:nvSpPr>
        <p:spPr>
          <a:xfrm>
            <a:off x="3566160" y="3364992"/>
            <a:ext cx="661385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The session BUILDS the prompt — registered name in English and the local language, the study's own driver headings, its dated negative searches — and STOPS. What comes back is a LEAD and never an input; every claim is traced to the primary source before it moves anything.</a:t>
            </a:r>
          </a:p>
        </p:txBody>
      </p:sp>
      <p:sp>
        <p:nvSpPr>
          <p:cNvPr id="21" name="TextBox 20"/>
          <p:cNvSpPr txBox="1"/>
          <p:nvPr/>
        </p:nvSpPr>
        <p:spPr>
          <a:xfrm>
            <a:off x="10271455" y="3451860"/>
            <a:ext cx="1225296" cy="274320"/>
          </a:xfrm>
          <a:prstGeom prst="rect">
            <a:avLst/>
          </a:prstGeom>
          <a:noFill/>
        </p:spPr>
        <p:txBody>
          <a:bodyPr wrap="square" lIns="0" rIns="0" tIns="0" bIns="0" anchor="t">
            <a:spAutoFit/>
          </a:bodyPr>
          <a:lstStyle/>
          <a:p>
            <a:pPr algn="r">
              <a:lnSpc>
                <a:spcPct val="95000"/>
              </a:lnSpc>
            </a:pPr>
            <a:r>
              <a:rPr sz="750" b="1">
                <a:solidFill>
                  <a:srgbClr val="8C2F2F"/>
                </a:solidFill>
                <a:latin typeface="Georgia"/>
              </a:rPr>
              <a:t>STOPS — HANDS OFF TO YOU</a:t>
            </a:r>
          </a:p>
        </p:txBody>
      </p:sp>
      <p:sp>
        <p:nvSpPr>
          <p:cNvPr id="22" name="Rounded Rectangle 21"/>
          <p:cNvSpPr/>
          <p:nvPr/>
        </p:nvSpPr>
        <p:spPr>
          <a:xfrm>
            <a:off x="548640" y="388620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94944" y="3977640"/>
            <a:ext cx="365760" cy="365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4</a:t>
            </a:r>
          </a:p>
        </p:txBody>
      </p:sp>
      <p:sp>
        <p:nvSpPr>
          <p:cNvPr id="24" name="TextBox 23"/>
          <p:cNvSpPr txBox="1"/>
          <p:nvPr/>
        </p:nvSpPr>
        <p:spPr>
          <a:xfrm>
            <a:off x="1170432" y="399135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DOES IT MOVE A DRIVER</a:t>
            </a:r>
          </a:p>
        </p:txBody>
      </p:sp>
      <p:sp>
        <p:nvSpPr>
          <p:cNvPr id="25" name="TextBox 24"/>
          <p:cNvSpPr txBox="1"/>
          <p:nvPr/>
        </p:nvSpPr>
        <p:spPr>
          <a:xfrm>
            <a:off x="3566160" y="3982212"/>
            <a:ext cx="784829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NO: say so, record which rings were re-run, move on — the commonest outcome. YES: score the prior study first, rebuild only what moved, and move every record, field name and sentence the lever touched IN THE SAME PASS, PDFs re-rendered.</a:t>
            </a:r>
          </a:p>
        </p:txBody>
      </p:sp>
      <p:sp>
        <p:nvSpPr>
          <p:cNvPr id="26" name="Rounded Rectangle 25"/>
          <p:cNvSpPr/>
          <p:nvPr/>
        </p:nvSpPr>
        <p:spPr>
          <a:xfrm>
            <a:off x="548640" y="450342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4944" y="4594860"/>
            <a:ext cx="365760" cy="365760"/>
          </a:xfrm>
          <a:prstGeom prst="roundRect">
            <a:avLst>
              <a:gd name="adj" fmla="val 6000"/>
            </a:avLst>
          </a:prstGeom>
          <a:solidFill>
            <a:srgbClr val="8C2F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5</a:t>
            </a:r>
          </a:p>
        </p:txBody>
      </p:sp>
      <p:sp>
        <p:nvSpPr>
          <p:cNvPr id="28" name="TextBox 27"/>
          <p:cNvSpPr txBox="1"/>
          <p:nvPr/>
        </p:nvSpPr>
        <p:spPr>
          <a:xfrm>
            <a:off x="1170432" y="460857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EXTERNAL AUDIT</a:t>
            </a:r>
          </a:p>
        </p:txBody>
      </p:sp>
      <p:sp>
        <p:nvSpPr>
          <p:cNvPr id="29" name="TextBox 28"/>
          <p:cNvSpPr txBox="1"/>
          <p:nvPr/>
        </p:nvSpPr>
        <p:spPr>
          <a:xfrm>
            <a:off x="3566160" y="4599432"/>
            <a:ext cx="661385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The session hands you the document and the workbook and STOPS. Findings come back priced before judged, one row each, rejected only with receipts. Where no outside audit is run, the QC auditor stands in — from outside the study.</a:t>
            </a:r>
          </a:p>
        </p:txBody>
      </p:sp>
      <p:sp>
        <p:nvSpPr>
          <p:cNvPr id="30" name="TextBox 29"/>
          <p:cNvSpPr txBox="1"/>
          <p:nvPr/>
        </p:nvSpPr>
        <p:spPr>
          <a:xfrm>
            <a:off x="10271455" y="4686300"/>
            <a:ext cx="1225296" cy="274320"/>
          </a:xfrm>
          <a:prstGeom prst="rect">
            <a:avLst/>
          </a:prstGeom>
          <a:noFill/>
        </p:spPr>
        <p:txBody>
          <a:bodyPr wrap="square" lIns="0" rIns="0" tIns="0" bIns="0" anchor="t">
            <a:spAutoFit/>
          </a:bodyPr>
          <a:lstStyle/>
          <a:p>
            <a:pPr algn="r">
              <a:lnSpc>
                <a:spcPct val="95000"/>
              </a:lnSpc>
            </a:pPr>
            <a:r>
              <a:rPr sz="750" b="1">
                <a:solidFill>
                  <a:srgbClr val="8C2F2F"/>
                </a:solidFill>
                <a:latin typeface="Georgia"/>
              </a:rPr>
              <a:t>STOPS — HANDS OFF TO YOU</a:t>
            </a:r>
          </a:p>
        </p:txBody>
      </p:sp>
      <p:sp>
        <p:nvSpPr>
          <p:cNvPr id="31" name="Rounded Rectangle 30"/>
          <p:cNvSpPr/>
          <p:nvPr/>
        </p:nvSpPr>
        <p:spPr>
          <a:xfrm>
            <a:off x="548640" y="5120640"/>
            <a:ext cx="11094415" cy="54864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4944" y="5212080"/>
            <a:ext cx="365760" cy="365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Georgia"/>
              </a:rPr>
              <a:t>6</a:t>
            </a:r>
          </a:p>
        </p:txBody>
      </p:sp>
      <p:sp>
        <p:nvSpPr>
          <p:cNvPr id="33" name="TextBox 32"/>
          <p:cNvSpPr txBox="1"/>
          <p:nvPr/>
        </p:nvSpPr>
        <p:spPr>
          <a:xfrm>
            <a:off x="1170432" y="5225796"/>
            <a:ext cx="2331720" cy="365760"/>
          </a:xfrm>
          <a:prstGeom prst="rect">
            <a:avLst/>
          </a:prstGeom>
          <a:noFill/>
        </p:spPr>
        <p:txBody>
          <a:bodyPr wrap="square" lIns="0" rIns="0" tIns="0" bIns="0" anchor="t">
            <a:spAutoFit/>
          </a:bodyPr>
          <a:lstStyle/>
          <a:p>
            <a:pPr algn="l">
              <a:lnSpc>
                <a:spcPct val="92000"/>
              </a:lnSpc>
            </a:pPr>
            <a:r>
              <a:rPr sz="1050" b="1">
                <a:solidFill>
                  <a:srgbClr val="1A1A1A"/>
                </a:solidFill>
                <a:latin typeface="Georgia"/>
              </a:rPr>
              <a:t>THE PUBLISH GATE</a:t>
            </a:r>
          </a:p>
        </p:txBody>
      </p:sp>
      <p:sp>
        <p:nvSpPr>
          <p:cNvPr id="34" name="TextBox 33"/>
          <p:cNvSpPr txBox="1"/>
          <p:nvPr/>
        </p:nvSpPr>
        <p:spPr>
          <a:xfrm>
            <a:off x="3566160" y="5216652"/>
            <a:ext cx="7848295" cy="402336"/>
          </a:xfrm>
          <a:prstGeom prst="rect">
            <a:avLst/>
          </a:prstGeom>
          <a:noFill/>
        </p:spPr>
        <p:txBody>
          <a:bodyPr wrap="square" lIns="0" rIns="0" tIns="0" bIns="0" anchor="t">
            <a:spAutoFit/>
          </a:bodyPr>
          <a:lstStyle/>
          <a:p>
            <a:pPr algn="l">
              <a:lnSpc>
                <a:spcPct val="108000"/>
              </a:lnSpc>
            </a:pPr>
            <a:r>
              <a:rPr sz="850" b="0">
                <a:solidFill>
                  <a:srgbClr val="6B665E"/>
                </a:solidFill>
                <a:latin typeface="Georgia"/>
              </a:rPr>
              <a:t>Three tests, all must pass. THE GAP: held only more than 10% BELOW price, released by a filed dissent. THE METHOD HOLD: Phase 1 must be proven. READABILITY: an unreadable study is held too. Publishing is a separate, explicit ask.</a:t>
            </a:r>
          </a:p>
        </p:txBody>
      </p:sp>
      <p:sp>
        <p:nvSpPr>
          <p:cNvPr id="35" name="TextBox 34"/>
          <p:cNvSpPr txBox="1"/>
          <p:nvPr/>
        </p:nvSpPr>
        <p:spPr>
          <a:xfrm>
            <a:off x="548640" y="5779008"/>
            <a:ext cx="11064240" cy="548640"/>
          </a:xfrm>
          <a:prstGeom prst="rect">
            <a:avLst/>
          </a:prstGeom>
          <a:noFill/>
        </p:spPr>
        <p:txBody>
          <a:bodyPr wrap="square" lIns="0" rIns="0" tIns="0" bIns="0" anchor="t">
            <a:spAutoFit/>
          </a:bodyPr>
          <a:lstStyle/>
          <a:p>
            <a:pPr algn="l">
              <a:lnSpc>
                <a:spcPct val="115000"/>
              </a:lnSpc>
            </a:pPr>
            <a:r>
              <a:rPr sz="1000" b="0">
                <a:solidFill>
                  <a:srgbClr val="1A1A1A"/>
                </a:solidFill>
                <a:latin typeface="Georgia"/>
              </a:rPr>
              <a:t>The two red steps STOP and wait for you — they are where a 90-name programme actually queues.   Expect step 6 to say HELD: most of the book is held on the METHOD until Phase 1 closes, and that is the gate working.</a:t>
            </a:r>
          </a:p>
        </p:txBody>
      </p:sp>
      <p:sp>
        <p:nvSpPr>
          <p:cNvPr id="36" name="TextBox 35"/>
          <p:cNvSpPr txBox="1"/>
          <p:nvPr/>
        </p:nvSpPr>
        <p:spPr>
          <a:xfrm>
            <a:off x="548640" y="6419088"/>
            <a:ext cx="11064240" cy="292608"/>
          </a:xfrm>
          <a:prstGeom prst="rect">
            <a:avLst/>
          </a:prstGeom>
          <a:noFill/>
        </p:spPr>
        <p:txBody>
          <a:bodyPr wrap="square" lIns="0" rIns="0" tIns="0" bIns="0" anchor="t">
            <a:spAutoFit/>
          </a:bodyPr>
          <a:lstStyle/>
          <a:p>
            <a:pPr algn="l">
              <a:lnSpc>
                <a:spcPct val="95000"/>
              </a:lnSpc>
            </a:pPr>
            <a:r>
              <a:rPr sz="850" b="0">
                <a:solidFill>
                  <a:srgbClr val="6B665E"/>
                </a:solidFill>
                <a:latin typeface="Georgia"/>
              </a:rPr>
              <a:t>Generated from engine/Recalibration_Runbook_17-09-2026.md, revision 2026-09-17d — the runbook is authoritative and this deck is a reading of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6000"/>
            </a:avLst>
          </a:prstGeom>
          <a:solidFill>
            <a:srgbClr val="FA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155680" cy="502920"/>
          </a:xfrm>
          <a:prstGeom prst="rect">
            <a:avLst/>
          </a:prstGeom>
          <a:noFill/>
        </p:spPr>
        <p:txBody>
          <a:bodyPr wrap="square" lIns="0" rIns="0" tIns="0" bIns="0" anchor="t">
            <a:spAutoFit/>
          </a:bodyPr>
          <a:lstStyle/>
          <a:p>
            <a:pPr algn="l">
              <a:lnSpc>
                <a:spcPct val="95000"/>
              </a:lnSpc>
            </a:pPr>
            <a:r>
              <a:rPr sz="2600" b="1">
                <a:solidFill>
                  <a:srgbClr val="1A1A1A"/>
                </a:solidFill>
                <a:latin typeface="Georgia"/>
              </a:rPr>
              <a:t>Ninety names through it — who does what</a:t>
            </a:r>
          </a:p>
        </p:txBody>
      </p:sp>
      <p:sp>
        <p:nvSpPr>
          <p:cNvPr id="4" name="TextBox 3"/>
          <p:cNvSpPr txBox="1"/>
          <p:nvPr/>
        </p:nvSpPr>
        <p:spPr>
          <a:xfrm>
            <a:off x="548640" y="896112"/>
            <a:ext cx="11155680" cy="320040"/>
          </a:xfrm>
          <a:prstGeom prst="rect">
            <a:avLst/>
          </a:prstGeom>
          <a:noFill/>
        </p:spPr>
        <p:txBody>
          <a:bodyPr wrap="square" lIns="0" rIns="0" tIns="0" bIns="0" anchor="t">
            <a:spAutoFit/>
          </a:bodyPr>
          <a:lstStyle/>
          <a:p>
            <a:pPr algn="l">
              <a:lnSpc>
                <a:spcPct val="95000"/>
              </a:lnSpc>
            </a:pPr>
            <a:r>
              <a:rPr sz="1150" b="0">
                <a:solidFill>
                  <a:srgbClr val="6B665E"/>
                </a:solidFill>
                <a:latin typeface="Georgia"/>
              </a:rPr>
              <a:t>The page opposite is ONE name. This is the part that was missing: which name is touched next, what it is waiting for, and which of us is holding it.</a:t>
            </a:r>
          </a:p>
        </p:txBody>
      </p:sp>
      <p:sp>
        <p:nvSpPr>
          <p:cNvPr id="5" name="Rounded Rectangle 4"/>
          <p:cNvSpPr/>
          <p:nvPr/>
        </p:nvSpPr>
        <p:spPr>
          <a:xfrm>
            <a:off x="548640" y="1481328"/>
            <a:ext cx="3594506" cy="416052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00784"/>
            <a:ext cx="3119018" cy="365760"/>
          </a:xfrm>
          <a:prstGeom prst="rect">
            <a:avLst/>
          </a:prstGeom>
          <a:noFill/>
        </p:spPr>
        <p:txBody>
          <a:bodyPr wrap="square" lIns="0" rIns="0" tIns="0" bIns="0" anchor="t">
            <a:spAutoFit/>
          </a:bodyPr>
          <a:lstStyle/>
          <a:p>
            <a:pPr algn="l">
              <a:lnSpc>
                <a:spcPct val="95000"/>
              </a:lnSpc>
            </a:pPr>
            <a:r>
              <a:rPr sz="1100" b="1">
                <a:solidFill>
                  <a:srgbClr val="8C2F2F"/>
                </a:solidFill>
                <a:latin typeface="Georgia"/>
              </a:rPr>
              <a:t>WHAT YOU DO — THREE THINGS</a:t>
            </a:r>
          </a:p>
        </p:txBody>
      </p:sp>
      <p:sp>
        <p:nvSpPr>
          <p:cNvPr id="7" name="TextBox 6"/>
          <p:cNvSpPr txBox="1"/>
          <p:nvPr/>
        </p:nvSpPr>
        <p:spPr>
          <a:xfrm>
            <a:off x="786384" y="2121408"/>
            <a:ext cx="3119018" cy="3383280"/>
          </a:xfrm>
          <a:prstGeom prst="rect">
            <a:avLst/>
          </a:prstGeom>
          <a:noFill/>
        </p:spPr>
        <p:txBody>
          <a:bodyPr wrap="square" lIns="0" rIns="0" tIns="0" bIns="0" anchor="t">
            <a:spAutoFit/>
          </a:bodyPr>
          <a:lstStyle/>
          <a:p>
            <a:pPr algn="l">
              <a:lnSpc>
                <a:spcPct val="118000"/>
              </a:lnSpc>
            </a:pPr>
            <a:r>
              <a:rPr sz="900" b="0">
                <a:solidFill>
                  <a:srgbClr val="6B665E"/>
                </a:solidFill>
                <a:latin typeface="Georgia"/>
              </a:rPr>
              <a:t>ONE.  Say "start a recalibration on {TICKER}" — or "what is next" and take the name the board gives.
TWO.  Answer the price question at the START. One line: the latest price and its date. It is the one input only you can supply; the work routes around it rather than waiting.
THREE.  Take the two hand-off packs — the external news prompt at step 3 and the document plus workbook at step 5 — and bring back the answers.
Nothing else is yours. You never type a command.</a:t>
            </a:r>
          </a:p>
        </p:txBody>
      </p:sp>
      <p:sp>
        <p:nvSpPr>
          <p:cNvPr id="8" name="Rounded Rectangle 7"/>
          <p:cNvSpPr/>
          <p:nvPr/>
        </p:nvSpPr>
        <p:spPr>
          <a:xfrm>
            <a:off x="4298594" y="1481328"/>
            <a:ext cx="3594506" cy="416052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6338" y="1700784"/>
            <a:ext cx="3119018" cy="365760"/>
          </a:xfrm>
          <a:prstGeom prst="rect">
            <a:avLst/>
          </a:prstGeom>
          <a:noFill/>
        </p:spPr>
        <p:txBody>
          <a:bodyPr wrap="square" lIns="0" rIns="0" tIns="0" bIns="0" anchor="t">
            <a:spAutoFit/>
          </a:bodyPr>
          <a:lstStyle/>
          <a:p>
            <a:pPr algn="l">
              <a:lnSpc>
                <a:spcPct val="95000"/>
              </a:lnSpc>
            </a:pPr>
            <a:r>
              <a:rPr sz="1100" b="1">
                <a:solidFill>
                  <a:srgbClr val="1F4E79"/>
                </a:solidFill>
                <a:latin typeface="Georgia"/>
              </a:rPr>
              <a:t>WHAT THE SESSION DOES</a:t>
            </a:r>
          </a:p>
        </p:txBody>
      </p:sp>
      <p:sp>
        <p:nvSpPr>
          <p:cNvPr id="10" name="TextBox 9"/>
          <p:cNvSpPr txBox="1"/>
          <p:nvPr/>
        </p:nvSpPr>
        <p:spPr>
          <a:xfrm>
            <a:off x="4536338" y="2121408"/>
            <a:ext cx="3119018" cy="3383280"/>
          </a:xfrm>
          <a:prstGeom prst="rect">
            <a:avLst/>
          </a:prstGeom>
          <a:noFill/>
        </p:spPr>
        <p:txBody>
          <a:bodyPr wrap="square" lIns="0" rIns="0" tIns="0" bIns="0" anchor="t">
            <a:spAutoFit/>
          </a:bodyPr>
          <a:lstStyle/>
          <a:p>
            <a:pPr algn="l">
              <a:lnSpc>
                <a:spcPct val="118000"/>
              </a:lnSpc>
            </a:pPr>
            <a:r>
              <a:rPr sz="900" b="0">
                <a:solidFill>
                  <a:srgbClr val="6B665E"/>
                </a:solidFill>
                <a:latin typeface="Georgia"/>
              </a:rPr>
              <a:t>Reads the board, takes the next name in wave order, works steps 0 to 6 IN ORDER, stops at each stop condition and reports before moving on.
Stops dead at 3 and 5 and hands over. Never runs two names at once.
Never publishes without an explicit ask, never moves a fair value toward a price, never edits a gate to make something pass, never invents an input.
Reports which names are sitting on YOUR desk, batched by market, so a pack goes out once rather than a name at a time.</a:t>
            </a:r>
          </a:p>
        </p:txBody>
      </p:sp>
      <p:sp>
        <p:nvSpPr>
          <p:cNvPr id="11" name="Rounded Rectangle 10"/>
          <p:cNvSpPr/>
          <p:nvPr/>
        </p:nvSpPr>
        <p:spPr>
          <a:xfrm>
            <a:off x="8048548" y="1481328"/>
            <a:ext cx="3594506" cy="4160520"/>
          </a:xfrm>
          <a:prstGeom prst="roundRect">
            <a:avLst>
              <a:gd name="adj" fmla="val 6000"/>
            </a:avLst>
          </a:prstGeom>
          <a:solidFill>
            <a:srgbClr val="FFFFFF"/>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6292" y="1700784"/>
            <a:ext cx="3119018" cy="365760"/>
          </a:xfrm>
          <a:prstGeom prst="rect">
            <a:avLst/>
          </a:prstGeom>
          <a:noFill/>
        </p:spPr>
        <p:txBody>
          <a:bodyPr wrap="square" lIns="0" rIns="0" tIns="0" bIns="0" anchor="t">
            <a:spAutoFit/>
          </a:bodyPr>
          <a:lstStyle/>
          <a:p>
            <a:pPr algn="l">
              <a:lnSpc>
                <a:spcPct val="95000"/>
              </a:lnSpc>
            </a:pPr>
            <a:r>
              <a:rPr sz="1100" b="1">
                <a:solidFill>
                  <a:srgbClr val="6B665E"/>
                </a:solidFill>
                <a:latin typeface="Georgia"/>
              </a:rPr>
              <a:t>WHAT THE BOARD IS, AND WHY</a:t>
            </a:r>
          </a:p>
        </p:txBody>
      </p:sp>
      <p:sp>
        <p:nvSpPr>
          <p:cNvPr id="13" name="TextBox 12"/>
          <p:cNvSpPr txBox="1"/>
          <p:nvPr/>
        </p:nvSpPr>
        <p:spPr>
          <a:xfrm>
            <a:off x="8286292" y="2121408"/>
            <a:ext cx="3119018" cy="3383280"/>
          </a:xfrm>
          <a:prstGeom prst="rect">
            <a:avLst/>
          </a:prstGeom>
          <a:noFill/>
        </p:spPr>
        <p:txBody>
          <a:bodyPr wrap="square" lIns="0" rIns="0" tIns="0" bIns="0" anchor="t">
            <a:spAutoFit/>
          </a:bodyPr>
          <a:lstStyle/>
          <a:p>
            <a:pPr algn="l">
              <a:lnSpc>
                <a:spcPct val="118000"/>
              </a:lnSpc>
            </a:pPr>
            <a:r>
              <a:rPr sz="900" b="0">
                <a:solidFill>
                  <a:srgbClr val="6B665E"/>
                </a:solidFill>
                <a:latin typeface="Georgia"/>
              </a:rPr>
              <a:t>engine/recalibration_run.py. Nothing is marked done and no step pointer is stored: each step is a PROBE over the artefacts that step produces, so a name sits wherever the probes stop.
A board kept by hand goes stale the first busy afternoon — silently.
ALL NINETY NAMES HAVE A DELIVERED STUDY. Twenty-three also commit a record the gates can read. A missing record is not a missing study, and reading it as one is what put "67 built from nothing" into the first version of this plan.
WAVE 1: the 23 record-backed re-issues, EGX first. Then Phase 1. Then the 67.</a:t>
            </a:r>
          </a:p>
        </p:txBody>
      </p:sp>
      <p:sp>
        <p:nvSpPr>
          <p:cNvPr id="14" name="TextBox 13"/>
          <p:cNvSpPr txBox="1"/>
          <p:nvPr/>
        </p:nvSpPr>
        <p:spPr>
          <a:xfrm>
            <a:off x="548640" y="5870448"/>
            <a:ext cx="11155680" cy="640080"/>
          </a:xfrm>
          <a:prstGeom prst="rect">
            <a:avLst/>
          </a:prstGeom>
          <a:noFill/>
        </p:spPr>
        <p:txBody>
          <a:bodyPr wrap="square" lIns="0" rIns="0" tIns="0" bIns="0" anchor="t">
            <a:spAutoFit/>
          </a:bodyPr>
          <a:lstStyle/>
          <a:p>
            <a:pPr algn="l">
              <a:lnSpc>
                <a:spcPct val="120000"/>
              </a:lnSpc>
            </a:pPr>
            <a:r>
              <a:rPr sz="1000" b="0">
                <a:solidFill>
                  <a:srgbClr val="1A1A1A"/>
                </a:solidFill>
                <a:latin typeface="Georgia"/>
              </a:rPr>
              <a:t>WHY THE BOARD EXISTS, IN ONE SENTENCE: a probe that comes back empty has not found nothing — the first hypothesis is that the probe did not run. That is how sixty-seven delivered studies came to be reported as absent, and it is why every step is now read off an artefact rather than off anyone's memory.</a:t>
            </a:r>
          </a:p>
        </p:txBody>
      </p:sp>
      <p:sp>
        <p:nvSpPr>
          <p:cNvPr id="15" name="TextBox 14"/>
          <p:cNvSpPr txBox="1"/>
          <p:nvPr/>
        </p:nvSpPr>
        <p:spPr>
          <a:xfrm>
            <a:off x="548640" y="6455664"/>
            <a:ext cx="11155680" cy="292608"/>
          </a:xfrm>
          <a:prstGeom prst="rect">
            <a:avLst/>
          </a:prstGeom>
          <a:noFill/>
        </p:spPr>
        <p:txBody>
          <a:bodyPr wrap="square" lIns="0" rIns="0" tIns="0" bIns="0" anchor="t">
            <a:spAutoFit/>
          </a:bodyPr>
          <a:lstStyle/>
          <a:p>
            <a:pPr algn="l">
              <a:lnSpc>
                <a:spcPct val="95000"/>
              </a:lnSpc>
            </a:pPr>
            <a:r>
              <a:rPr sz="850" b="0">
                <a:solidFill>
                  <a:srgbClr val="6B665E"/>
                </a:solidFill>
                <a:latin typeface="Georgia"/>
              </a:rPr>
              <a:t>Runbook: engine/Recalibration_Runbook_17-09-2026.md (revision 2026-09-17d).   Programme: engine/Recalibration_Campaign_Plan_17-09-2026.md.   Read every number live, never off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