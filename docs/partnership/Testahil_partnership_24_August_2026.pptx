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2.svg" ContentType="image/svg+xml"/>
  <Override PartName="/ppt/media/image-9-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Open on the four numbers. 93 instruments, each with a full study behind it. 90.9% inside a stated 90% band — and on the live ledger, three of fifty have landed outside: 6%, under the designed 10%. [Numbers restruck 24-Aug on main @ d0bf624: 93 instruments / 4,081 windows / 90.9% / 275 ledger rows, 50 graded, 3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#200 has no analyst anywhere. The wave arriving into that vacuum is the whole pitch — let the three numbers do the talking. CONCEPTS — Long tail: the hundreds of smaller names retail actually trades but no research desk covers, because hand-building a study on a small cap costs the same analyst-month as on a blue chip with none of the client demand to pay for it. Churn: clients who lose money unguided leave the platform; replacing them costs more in acquisition than keeping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in one sentence: a multi-model AI writes the research, the system audits itself against the out-of-sample exam, and a named human signs before anything publishes. Scale from the machines, accountability from a human. Everything after this slide is each step in detail. CONCEPTS — Multi-model: several specialised AI models in a pipeline (one reads filings, one builds the financial model, one runs simulations), not one chatbot. Out-of-sample exam: the simulation is tested on data it never saw during fitting — the only honest test. Walk-forward backtest: replay history step by step; at each step the simulation may only use data available up to that date, then its forecast is graded against what actually happened next. 90% band: a price range published with the claim that the true price will land inside it 9 times out of 10 — so about 1 in 10 SHOULD land outside; if none do, the band is too wide to be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path: read the fundamental for the destination (fair value, 1 year out), the technical for where it stands today, then the simulation for the odds of the journey between the two over 1–3 months. Never blended into one number. Then the live card: real ADNOC numbers, the same the public sees. CONCEPTS — Fair value: what the business is worth per share based on the cash it can generate, independent of today's price mood. Support/resistance: price levels where a stock has repeatedly stopped falling (support) or stopped rising (resistance) — the levels traders watch. Monte-Carlo simulation: instead of one prediction, generate 50,000 plausible price paths by drawing from the stock's own historical behaviour; the fraction of paths ending in each price bracket IS the probability. Median: the middle outcome — half the paths end above it, half below. The 1-in-20 cases on the card: the 5th and 95th percentile paths — the realistic bad case and good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tracks — filings for the fundamental read, prices for the technical and simulation reads — meeting at the site. The dashed box at the bottom is the moat: everything tested and rejected, named. CONCEPTS — Step-0 gate: an automated data-quality screen; every exchange has daily price-limit rules, so a move that breaks them is a data error to fix, not a price to model. Carry-anchored: the simulation's centre is tied to the local risk-free rate minus the stock's dividend yield — what holding the stock 'costs' vs cash — instead of assuming yesterday's trend continues. YZ: Yang-Zhang volatility, an estimator that uses open, high, low AND close (not just close-to-close), so overnight gaps are counted — essential where limit rules mute intraday moves. HAR-t: volatility forecast blending yesterday, last week and last month (markets have memory at all three scales), with a fat-tailed t-distribution so extreme days are expected, not 'impossible'. Fixed seed: the random generator starts from a recorded number, so any auditor can re-run the exact same 50,000 paths and get identical output. IS/BS/CF → DCF: income statement, balance sheet, cash flow, all live formulas feeding a discounted-cash-flow valuation — future cash translated into today's money. Rejected list: CRPS = a scoring rule for probability forecasts; HARQ and skew-t = fancier volatility/distribution variants; each version beaten by the simpler one on out-of-sample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Exams through a revolution, a float, a pandemic, three devaluations. 90.9% inside the 90% band, every market between 86–94%; 54.2% inside the 50% band, markets 43–59%. Slightly cautious at both depths — never overconfident. CONCEPTS — A window: one exam question — stand at a past date, forecast the 3-month band using only data known then, wait, grade it. 4,081 windows = 4,081 graded questions across the whole panel. Why 90.9% is the win, not 100%: the claim is calibration — saying 90% and delivering 90% — because a band that always contains the price is too wide to act on. Above the target: slightly TOO cautious — bands wider than claimed — flagged for tightening, not bragging. Below it: slightly overconfident — watched the other way. The 50% band is the second, harder exam: it checks the MIDDLE of the distribution, not just the edges — 54.2% against a 50% claim means the whole shape is honest, not just the extremes. Backtest vs ledger: backtests are simulated history (large sample, weaker proof); the ledger is real published forecasts graded in public (strongest proof — now 50 graded). Ledger state 24-Aug: Egypt 30 of 32 inside the 90% band (94%), 17 of 32 inside the 50% (53%); UAE 10 of 10 and 7 of 10; three misses total — Samsung, OIH, RMDA. Direction detail: 12 of Egypt's 15 closes outside the 50% band were ABOVE it — a strong upward month the untilted cones under-called; the momentum tilt adopted since addresses exactly that, first tilted strikes at this roll-forward. UAE grades used the 21-Aug close under the bounded early-grade rule; 8 UAE names still open. Both shown, never mixed.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fifty — 6%, still under the designed 10%: Samsung (below its band), OIH and RMDA (above, in a sharply upward Egypt month, all struck before the momentum tilt). No competitor can show this slide — a public miss record cannot be backdated, only started. CONCEPTS — Cone: the band drawn over time; it widens with the horizon because uncertainty grows the further out you look. Anchored: the date and price the forecast was struck from — fixed and time-stamped when published, so it cannot be quietly moved. Matured: the horizon date arrived, the real price is known, the forecast can be graded. Why a miss is healthy: at a 90% claim, ~1 in 10 SHOULD land outside; 50 matured with 3 outside (6%) is on schedule — slightly under, if anything. Zero misses over a long record would mean the bands are wastefully wide. Samsung landed below the lower edge — the tail the band accepts missing 5% of the time on each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Picker reads fair value and simulated range together: is the fair value even reachable in the time given? At short horizons the upside ranking and the reachability ranking are nearly opposite. The page itself flags what is not yet provable — in red, before the table. CONCEPTS — Upside: the % gap between today's price and fair value — how far the stock COULD go. Reachability: whether the simulation says the stock moves fast enough to close that gap within the horizon — a 70% gap can't close in a month at any realistic speed; a 6% gap can. That's why the two rankings nearly invert at short horizons. Hurdle rate (Egypt 19.5%): the local risk-free cash return; a trade only makes sense if its expected move beats what cash pays for the same period. The red caveat: whether fair values predict returns needs ~783 graded observations to prove statistically; we have 5, verdict ~2027 — printed on the page before the table so nobody discovers it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flywheel on the left, the licensed tiers on the right — features, not giveaways. Close on the roadmap band: 95% of daily traded value next, then Arabic across the full list. CONCEPTS — Flywheel: each turn feeds the next — accessible odds bring first-timers in, guided clients stay and trade, volume funds the next name; it compounds instead of needing fresh marketing spend each cycle. White-label: our engine, your brand — clients never see Testahil. API: the raw numbers delivered into your own app's screens. Tiers: base cones for everyone, then Picker, Compare/Trade, Portfolio as licensed upgrades. 95% of daily traded value: cover every stock that carries 95% of what actually trades each day — near-total practical coverage without chasing every dormant listing. Marginal name nearly free: the pipeline is built; stock #94 costs compute and one review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story is done. What follows is the reference layer — for the quants, compliance and vendor-risk readers who go deeper: the live read, the alternatives, governance, the improvement loop, and the full per-market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rarely agree — and that disagreement is the product. The Ticker Picker exists to read the two clocks together. CONCEPTS — The two clocks: fundamental runs on a 1-year clock (business value), simulation on a 1–3-month clock (price odds); a stock can be cheap on one and dead on the other. Gap to fair value: how far price sits below the study's value — the value list. Median move: the middle of the simulated 3-month distribution — the odds list. Why not blended: one number would hide which clock is speaking; every figure on the site is tagged with its source lens. Graded vs not yet: the 3-month lens has a public graded record; the 1-year lens's first cohort matures June 2027 — until then it is honest to say it is unproven. CAVEAT — Cleopatra Hospitals (CLHO) enters the simulation list while its own calibration verdict reads FAIL on the 24-Aug registry (skill −2.0%): the “ranked estimates, not picks” guard is doing real work here —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Read it row by row: vendors don't reach these names, building in-house starts a record at zero and moves model risk in-house, doing nothing leaves the long tail to Telegram. Testahil is the only cell that is live today. CONCEPTS — Vendor feeds: global data suppliers' pre-packaged numbers; fine for Apple, absent or stale for an EGX mid-cap — which is why our studies rebuild from the company's own filings instead. Model risk: the risk a model is wrong and the losses land on whoever owns it; buy the research under a supplier contract and the supplier carries it, build in-house and your balance sheet does. Record can't be backdated: a public track record only counts from the day it starts being published in public — a competitor starting today starts at zero, while ours has compounded in public since June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for compliance, model risk, and vendor risk — the three teams who read this without us in the room. The audit trail exists by construction. CONCEPTS — Ranges, never ratings: publishing a probability distribution is education; publishing 'BUY' is regulated investment advice — staying on the right side of that line is what lets the public site exist, while true advice happens only inside the partner's licensed perimeter. Named reviewer: a specific accountable person signs each release — under integration, the partner's own analyst, so output becomes the partner's process. Append-only ledger: entries can be added, never edited or removed — deletion-proof by construction. Reproducible runs: fixed seed + documented pipeline means a third party can re-run everything and get identical numbers; continuity survives any one person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The loop never stops — and it runs on all three reads. Simulation: every graded window is new evidence, refits are automatic, upgrades ship only by beating the incumbent on the same exam. Fundamental: each new filing re-runs the study's live formula chain and the fair value republishes after analyst re-sign-off. Technical: levels recompute every close from the same cleaned series. CONCEPTS — Refit: re-estimating a model's parameters on the latest data without changing its structure; the pipeline refits a whole market in seconds when a name updates. Challenger: a candidate simulation technique run side-by-side against the production one on identical out-of-sample windows; it replaces the incumbent only on a statistically significant win. Champion/challenger is standard model-risk practice — banks' own model-validation teams will recognise it. Version pinning: every published forecast records the exact engine version that produced it, so an engine upgrade never rewrites history — old forecasts stay graded under the engine that made them. LIVE EXAMPLE — the 23-Aug UAE material-change review: two arriving names flagged FAIL on day one (BOROUGE, EMPOWER), the published UAE cone narrowed by 5.1% — announced by the pipeline itself, before any human asked. (The review’s two borderline flags, ADIB and DEWA, did not persist: the 24-Aug registry reads ADIB PASS and DEWA PARITY. Verdicts are volatile — re-read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On the 24-Aug registry UAE prints PASS (skill +1.4%, CI [0.6%, 2.2%]) — the one market-level edge — and the other seven print PARITY. Egypt's earlier market-level PASS did not persist as the panel grew: calibration held (7.2% miss rate) but the edge over the benchmark is no longer statistically significant at market level. Say it before they find it. Four name-level FAILs, kept unedited: EXTRA (Tadawul, skill −3.7%), CLHO (EGX, −2.0%, new on the 24-Aug refit), and the two UAE newcomers BOROUGE (−6.2%) and EMPOWER (−2.7%), flagged on arrival by the 23-Aug material-change review — which also narrowed the published UAE cone by 5.1%. (The review's two borderline flags, ADIB and DEWA, did not persist: the 24-Aug registry reads ADIB PASS, DEWA PARITY.) 50% band by market: Egypt 56.9, UAE 58.8, Saudi 45.1, USA 44.8, India 50.0, Korea 43.2, Qatar 55.2, Metals 51.1 — pooled 54.2. CONCEPTS — The benchmark: a carry-anchored random walk — the naive strategy of assuming no predictable move beyond the cash rate; the simulation must beat THAT, not zero. PASS: beats the benchmark with statistical confidence. PARITY: matches it — correctly calibrated bands, edge not yet proven. FAIL: a name where the simulation is measurably worse — kept on the record unedited. Miss rate: share of windows landing outside the band; target ~10%, so 6.2% means slightly too wide, 14.4% slightly overconfident. Metals caveat: gold's verdict is a self-fit (circular) and silver borrows gold's parameters — the weakest calibration in the system, said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1111" r="1111" t="0" b="0"/>
          <a:stretch/>
        </p:blipFill>
        <p:spPr>
          <a:xfrm>
            <a:off x="0" y="0"/>
            <a:ext cx="18287999" cy="10287000"/>
          </a:xfrm>
          <a:prstGeom prst="rect">
            <a:avLst/>
          </a:prstGeom>
        </p:spPr>
      </p:pic>
      <p:sp>
        <p:nvSpPr>
          <p:cNvPr id="3"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6EC4B4"/>
                </a:solidFill>
                <a:latin typeface="Arial" pitchFamily="34" charset="0"/>
                <a:ea typeface="Arial" pitchFamily="34" charset="-122"/>
                <a:cs typeface="Arial" pitchFamily="34" charset="-120"/>
              </a:rPr>
              <a:t>INDEPENDENT VALUATION STUDIES · PARTNERSHIP BRIEF</a:t>
            </a:r>
            <a:endParaRPr lang="en-US" sz="1800" dirty="0"/>
          </a:p>
        </p:txBody>
      </p:sp>
      <p:sp>
        <p:nvSpPr>
          <p:cNvPr id="4" name="Text 1"/>
          <p:cNvSpPr/>
          <p:nvPr/>
        </p:nvSpPr>
        <p:spPr>
          <a:xfrm>
            <a:off x="1143000" y="1428750"/>
            <a:ext cx="17602200" cy="1638273"/>
          </a:xfrm>
          <a:prstGeom prst="rect">
            <a:avLst/>
          </a:prstGeom>
          <a:noFill/>
          <a:ln/>
        </p:spPr>
        <p:txBody>
          <a:bodyPr wrap="square" lIns="25400" tIns="25400" rIns="25400" bIns="25400" rtlCol="0" anchor="t">
            <a:normAutofit/>
          </a:bodyPr>
          <a:lstStyle/>
          <a:p>
            <a:pPr algn="l" indent="0" marL="0">
              <a:lnSpc>
                <a:spcPct val="86965"/>
              </a:lnSpc>
              <a:buNone/>
            </a:pPr>
            <a:r>
              <a:rPr lang="en-US" sz="12600" b="1" spc="-252" kern="0" dirty="0">
                <a:solidFill>
                  <a:srgbClr val="F6F8F7"/>
                </a:solidFill>
                <a:latin typeface="Arial" pitchFamily="34" charset="0"/>
                <a:ea typeface="Arial" pitchFamily="34" charset="-122"/>
                <a:cs typeface="Arial" pitchFamily="34" charset="-120"/>
              </a:rPr>
              <a:t>testahil</a:t>
            </a:r>
            <a:endParaRPr lang="en-US" sz="12600" dirty="0"/>
          </a:p>
        </p:txBody>
      </p:sp>
      <p:sp>
        <p:nvSpPr>
          <p:cNvPr id="5" name="Text 2"/>
          <p:cNvSpPr/>
          <p:nvPr/>
        </p:nvSpPr>
        <p:spPr>
          <a:xfrm>
            <a:off x="1143000" y="3276519"/>
            <a:ext cx="17602200" cy="629556"/>
          </a:xfrm>
          <a:prstGeom prst="rect">
            <a:avLst/>
          </a:prstGeom>
          <a:noFill/>
          <a:ln/>
        </p:spPr>
        <p:txBody>
          <a:bodyPr wrap="square" lIns="25400" tIns="25400" rIns="25400" bIns="25400" rtlCol="0" anchor="t">
            <a:normAutofit/>
          </a:bodyPr>
          <a:lstStyle/>
          <a:p>
            <a:pPr algn="l" indent="0" marL="0">
              <a:lnSpc>
                <a:spcPct val="99723"/>
              </a:lnSpc>
              <a:buNone/>
            </a:pPr>
            <a:r>
              <a:rPr lang="en-US" sz="4050" b="1" spc="-61" kern="0" dirty="0">
                <a:solidFill>
                  <a:srgbClr val="6EC4B4"/>
                </a:solidFill>
                <a:latin typeface="Arial" pitchFamily="34" charset="0"/>
                <a:ea typeface="Arial" pitchFamily="34" charset="-122"/>
                <a:cs typeface="Arial" pitchFamily="34" charset="-120"/>
              </a:rPr>
              <a:t>Distributions, not tips.</a:t>
            </a:r>
            <a:endParaRPr lang="en-US" sz="4050" dirty="0"/>
          </a:p>
        </p:txBody>
      </p:sp>
      <p:sp>
        <p:nvSpPr>
          <p:cNvPr id="6" name="Text 3"/>
          <p:cNvSpPr/>
          <p:nvPr/>
        </p:nvSpPr>
        <p:spPr>
          <a:xfrm>
            <a:off x="1143000" y="4153725"/>
            <a:ext cx="11956434" cy="838119"/>
          </a:xfrm>
          <a:prstGeom prst="rect">
            <a:avLst/>
          </a:prstGeom>
          <a:noFill/>
          <a:ln/>
        </p:spPr>
        <p:txBody>
          <a:bodyPr wrap="square" lIns="25400" tIns="25400" rIns="25400" bIns="25400" rtlCol="0" anchor="t">
            <a:normAutofit/>
          </a:bodyPr>
          <a:lstStyle/>
          <a:p>
            <a:pPr algn="l" indent="0" marL="0">
              <a:lnSpc>
                <a:spcPct val="130141"/>
              </a:lnSpc>
              <a:buNone/>
            </a:pPr>
            <a:r>
              <a:rPr lang="en-US" sz="2100" dirty="0">
                <a:solidFill>
                  <a:srgbClr val="F6F9F7">
                    <a:alpha val="78000"/>
                  </a:srgbClr>
                </a:solidFill>
                <a:latin typeface="Arial" pitchFamily="34" charset="0"/>
                <a:ea typeface="Arial" pitchFamily="34" charset="-122"/>
                <a:cs typeface="Arial" pitchFamily="34" charset="-120"/>
              </a:rPr>
              <a:t>Machine-generated, analyst-reviewed research for the modern wealth platform — every forecast published, time-stamped, and graded in public. Never edited.</a:t>
            </a:r>
            <a:endParaRPr lang="en-US" sz="2100" dirty="0"/>
          </a:p>
        </p:txBody>
      </p:sp>
      <p:sp>
        <p:nvSpPr>
          <p:cNvPr id="7" name="Shape 4"/>
          <p:cNvSpPr/>
          <p:nvPr/>
        </p:nvSpPr>
        <p:spPr>
          <a:xfrm>
            <a:off x="1143000" y="5563330"/>
            <a:ext cx="3657586" cy="17318"/>
          </a:xfrm>
          <a:prstGeom prst="rect">
            <a:avLst/>
          </a:prstGeom>
          <a:solidFill>
            <a:srgbClr val="F4F8F8">
              <a:alpha val="28000"/>
            </a:srgbClr>
          </a:solidFill>
          <a:ln/>
        </p:spPr>
        <p:txBody>
          <a:bodyPr/>
          <a:p/>
        </p:txBody>
      </p:sp>
      <p:sp>
        <p:nvSpPr>
          <p:cNvPr id="8" name="Text 5"/>
          <p:cNvSpPr/>
          <p:nvPr/>
        </p:nvSpPr>
        <p:spPr>
          <a:xfrm>
            <a:off x="1143000" y="5752072"/>
            <a:ext cx="4023345" cy="914427"/>
          </a:xfrm>
          <a:prstGeom prst="rect">
            <a:avLst/>
          </a:prstGeom>
          <a:noFill/>
          <a:ln/>
        </p:spPr>
        <p:txBody>
          <a:bodyPr wrap="square" lIns="25400" tIns="25400" rIns="25400" bIns="25400" rtlCol="0" anchor="t">
            <a:normAutofit/>
          </a:bodyPr>
          <a:lstStyle/>
          <a:p>
            <a:pPr algn="l" indent="0" marL="0">
              <a:lnSpc>
                <a:spcPct val="86867"/>
              </a:lnSpc>
              <a:buNone/>
            </a:pPr>
            <a:r>
              <a:rPr lang="en-US" sz="6900" b="1" dirty="0">
                <a:solidFill>
                  <a:srgbClr val="6EC4B4"/>
                </a:solidFill>
                <a:latin typeface="Arial" pitchFamily="34" charset="0"/>
                <a:ea typeface="Arial" pitchFamily="34" charset="-122"/>
                <a:cs typeface="Arial" pitchFamily="34" charset="-120"/>
              </a:rPr>
              <a:t>93</a:t>
            </a:r>
            <a:endParaRPr lang="en-US" sz="6900" dirty="0"/>
          </a:p>
        </p:txBody>
      </p:sp>
      <p:sp>
        <p:nvSpPr>
          <p:cNvPr id="9" name="Text 6"/>
          <p:cNvSpPr/>
          <p:nvPr/>
        </p:nvSpPr>
        <p:spPr>
          <a:xfrm>
            <a:off x="1143000" y="6761735"/>
            <a:ext cx="4151362" cy="963743"/>
          </a:xfrm>
          <a:prstGeom prst="rect">
            <a:avLst/>
          </a:prstGeom>
          <a:noFill/>
          <a:ln/>
        </p:spPr>
        <p:txBody>
          <a:bodyPr wrap="square" lIns="25400" tIns="25400" rIns="25400" bIns="25400" rtlCol="0" anchor="t">
            <a:normAutofit/>
          </a:bodyPr>
          <a:lstStyle/>
          <a:p>
            <a:pPr algn="l" indent="0" marL="0">
              <a:lnSpc>
                <a:spcPct val="116852"/>
              </a:lnSpc>
              <a:buNone/>
            </a:pPr>
            <a:r>
              <a:rPr lang="en-US" sz="1800" spc="108" kern="0" dirty="0">
                <a:solidFill>
                  <a:srgbClr val="F6F9F7">
                    <a:alpha val="78000"/>
                  </a:srgbClr>
                </a:solidFill>
                <a:latin typeface="Arial" pitchFamily="34" charset="0"/>
                <a:ea typeface="Arial" pitchFamily="34" charset="-122"/>
                <a:cs typeface="Arial" pitchFamily="34" charset="-120"/>
              </a:rPr>
              <a:t>INSTRUMENTS · 8 MARKETS — A FULL STUDY BEHIND EVERY ONE</a:t>
            </a:r>
            <a:endParaRPr lang="en-US" sz="1800" dirty="0"/>
          </a:p>
        </p:txBody>
      </p:sp>
      <p:sp>
        <p:nvSpPr>
          <p:cNvPr id="10" name="Shape 7"/>
          <p:cNvSpPr/>
          <p:nvPr/>
        </p:nvSpPr>
        <p:spPr>
          <a:xfrm>
            <a:off x="5257759" y="5563330"/>
            <a:ext cx="3657654" cy="17318"/>
          </a:xfrm>
          <a:prstGeom prst="rect">
            <a:avLst/>
          </a:prstGeom>
          <a:solidFill>
            <a:srgbClr val="F4F8F8">
              <a:alpha val="28000"/>
            </a:srgbClr>
          </a:solidFill>
          <a:ln/>
        </p:spPr>
        <p:txBody>
          <a:bodyPr/>
          <a:p/>
        </p:txBody>
      </p:sp>
      <p:sp>
        <p:nvSpPr>
          <p:cNvPr id="11" name="Text 8"/>
          <p:cNvSpPr/>
          <p:nvPr/>
        </p:nvSpPr>
        <p:spPr>
          <a:xfrm>
            <a:off x="5257759" y="5752072"/>
            <a:ext cx="4023419" cy="914427"/>
          </a:xfrm>
          <a:prstGeom prst="rect">
            <a:avLst/>
          </a:prstGeom>
          <a:noFill/>
          <a:ln/>
        </p:spPr>
        <p:txBody>
          <a:bodyPr wrap="square" lIns="25400" tIns="25400" rIns="25400" bIns="25400" rtlCol="0" anchor="t">
            <a:normAutofit/>
          </a:bodyPr>
          <a:lstStyle/>
          <a:p>
            <a:pPr algn="l" indent="0" marL="0">
              <a:lnSpc>
                <a:spcPct val="86867"/>
              </a:lnSpc>
              <a:buNone/>
            </a:pPr>
            <a:r>
              <a:rPr lang="en-US" sz="6900" b="1" dirty="0">
                <a:solidFill>
                  <a:srgbClr val="6EC4B4"/>
                </a:solidFill>
                <a:latin typeface="Arial" pitchFamily="34" charset="0"/>
                <a:ea typeface="Arial" pitchFamily="34" charset="-122"/>
                <a:cs typeface="Arial" pitchFamily="34" charset="-120"/>
              </a:rPr>
              <a:t>4,081</a:t>
            </a:r>
            <a:endParaRPr lang="en-US" sz="6900" dirty="0"/>
          </a:p>
        </p:txBody>
      </p:sp>
      <p:sp>
        <p:nvSpPr>
          <p:cNvPr id="12" name="Text 9"/>
          <p:cNvSpPr/>
          <p:nvPr/>
        </p:nvSpPr>
        <p:spPr>
          <a:xfrm>
            <a:off x="5257759" y="6761735"/>
            <a:ext cx="4151432"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spc="108" kern="0" dirty="0">
                <a:solidFill>
                  <a:srgbClr val="F6F9F7">
                    <a:alpha val="78000"/>
                  </a:srgbClr>
                </a:solidFill>
                <a:latin typeface="Arial" pitchFamily="34" charset="0"/>
                <a:ea typeface="Arial" pitchFamily="34" charset="-122"/>
                <a:cs typeface="Arial" pitchFamily="34" charset="-120"/>
              </a:rPr>
              <a:t>BACKTEST WINDOWS · UP TO 15 YEARS PER NAME</a:t>
            </a:r>
            <a:endParaRPr lang="en-US" sz="1800" dirty="0"/>
          </a:p>
        </p:txBody>
      </p:sp>
      <p:sp>
        <p:nvSpPr>
          <p:cNvPr id="13" name="Shape 10"/>
          <p:cNvSpPr/>
          <p:nvPr/>
        </p:nvSpPr>
        <p:spPr>
          <a:xfrm>
            <a:off x="9372586" y="5563330"/>
            <a:ext cx="3657586" cy="17318"/>
          </a:xfrm>
          <a:prstGeom prst="rect">
            <a:avLst/>
          </a:prstGeom>
          <a:solidFill>
            <a:srgbClr val="F4F8F8">
              <a:alpha val="28000"/>
            </a:srgbClr>
          </a:solidFill>
          <a:ln/>
        </p:spPr>
        <p:txBody>
          <a:bodyPr/>
          <a:p/>
        </p:txBody>
      </p:sp>
      <p:sp>
        <p:nvSpPr>
          <p:cNvPr id="14" name="Text 11"/>
          <p:cNvSpPr/>
          <p:nvPr/>
        </p:nvSpPr>
        <p:spPr>
          <a:xfrm>
            <a:off x="9372586" y="5752072"/>
            <a:ext cx="4023345" cy="914427"/>
          </a:xfrm>
          <a:prstGeom prst="rect">
            <a:avLst/>
          </a:prstGeom>
          <a:noFill/>
          <a:ln/>
        </p:spPr>
        <p:txBody>
          <a:bodyPr wrap="square" lIns="25400" tIns="25400" rIns="25400" bIns="25400" rtlCol="0" anchor="t">
            <a:normAutofit/>
          </a:bodyPr>
          <a:lstStyle/>
          <a:p>
            <a:pPr algn="l" indent="0" marL="0">
              <a:lnSpc>
                <a:spcPct val="86867"/>
              </a:lnSpc>
              <a:buNone/>
            </a:pPr>
            <a:r>
              <a:rPr lang="en-US" sz="6900" b="1" dirty="0">
                <a:solidFill>
                  <a:srgbClr val="6EC4B4"/>
                </a:solidFill>
                <a:latin typeface="Arial" pitchFamily="34" charset="0"/>
                <a:ea typeface="Arial" pitchFamily="34" charset="-122"/>
                <a:cs typeface="Arial" pitchFamily="34" charset="-120"/>
              </a:rPr>
              <a:t>90.9%</a:t>
            </a:r>
            <a:endParaRPr lang="en-US" sz="6900" dirty="0"/>
          </a:p>
        </p:txBody>
      </p:sp>
      <p:sp>
        <p:nvSpPr>
          <p:cNvPr id="15" name="Text 12"/>
          <p:cNvSpPr/>
          <p:nvPr/>
        </p:nvSpPr>
        <p:spPr>
          <a:xfrm>
            <a:off x="9372586" y="6761735"/>
            <a:ext cx="4151362"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spc="108" kern="0" dirty="0">
                <a:solidFill>
                  <a:srgbClr val="F6F9F7">
                    <a:alpha val="78000"/>
                  </a:srgbClr>
                </a:solidFill>
                <a:latin typeface="Arial" pitchFamily="34" charset="0"/>
                <a:ea typeface="Arial" pitchFamily="34" charset="-122"/>
                <a:cs typeface="Arial" pitchFamily="34" charset="-120"/>
              </a:rPr>
              <a:t>LANDED INSIDE THE STATED 90% BAND</a:t>
            </a:r>
            <a:endParaRPr lang="en-US" sz="1800" dirty="0"/>
          </a:p>
        </p:txBody>
      </p:sp>
      <p:sp>
        <p:nvSpPr>
          <p:cNvPr id="16" name="Shape 13"/>
          <p:cNvSpPr/>
          <p:nvPr/>
        </p:nvSpPr>
        <p:spPr>
          <a:xfrm>
            <a:off x="13487345" y="5563330"/>
            <a:ext cx="3657654" cy="17318"/>
          </a:xfrm>
          <a:prstGeom prst="rect">
            <a:avLst/>
          </a:prstGeom>
          <a:solidFill>
            <a:srgbClr val="F4F8F8">
              <a:alpha val="28000"/>
            </a:srgbClr>
          </a:solidFill>
          <a:ln/>
        </p:spPr>
        <p:txBody>
          <a:bodyPr/>
          <a:p/>
        </p:txBody>
      </p:sp>
      <p:sp>
        <p:nvSpPr>
          <p:cNvPr id="17" name="Text 14"/>
          <p:cNvSpPr/>
          <p:nvPr/>
        </p:nvSpPr>
        <p:spPr>
          <a:xfrm>
            <a:off x="13487345" y="5752072"/>
            <a:ext cx="4023419" cy="914427"/>
          </a:xfrm>
          <a:prstGeom prst="rect">
            <a:avLst/>
          </a:prstGeom>
          <a:noFill/>
          <a:ln/>
        </p:spPr>
        <p:txBody>
          <a:bodyPr wrap="square" lIns="25400" tIns="25400" rIns="25400" bIns="25400" rtlCol="0" anchor="t">
            <a:normAutofit/>
          </a:bodyPr>
          <a:lstStyle/>
          <a:p>
            <a:pPr algn="l" indent="0" marL="0">
              <a:lnSpc>
                <a:spcPct val="86867"/>
              </a:lnSpc>
              <a:buNone/>
            </a:pPr>
            <a:r>
              <a:rPr lang="en-US" sz="6900" b="1" dirty="0">
                <a:solidFill>
                  <a:srgbClr val="6EC4B4"/>
                </a:solidFill>
                <a:latin typeface="Arial" pitchFamily="34" charset="0"/>
                <a:ea typeface="Arial" pitchFamily="34" charset="-122"/>
                <a:cs typeface="Arial" pitchFamily="34" charset="-120"/>
              </a:rPr>
              <a:t>275</a:t>
            </a:r>
            <a:endParaRPr lang="en-US" sz="6900" dirty="0"/>
          </a:p>
        </p:txBody>
      </p:sp>
      <p:sp>
        <p:nvSpPr>
          <p:cNvPr id="18" name="Text 15"/>
          <p:cNvSpPr/>
          <p:nvPr/>
        </p:nvSpPr>
        <p:spPr>
          <a:xfrm>
            <a:off x="13487345" y="6761735"/>
            <a:ext cx="4151432"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spc="108" kern="0" dirty="0">
                <a:solidFill>
                  <a:srgbClr val="F6F9F7">
                    <a:alpha val="78000"/>
                  </a:srgbClr>
                </a:solidFill>
                <a:latin typeface="Arial" pitchFamily="34" charset="0"/>
                <a:ea typeface="Arial" pitchFamily="34" charset="-122"/>
                <a:cs typeface="Arial" pitchFamily="34" charset="-120"/>
              </a:rPr>
              <a:t>PUBLIC FORECASTS SINCE JUN-2026</a:t>
            </a:r>
            <a:endParaRPr lang="en-US" sz="1800" dirty="0"/>
          </a:p>
        </p:txBody>
      </p:sp>
      <p:sp>
        <p:nvSpPr>
          <p:cNvPr id="19" name="Shape 16"/>
          <p:cNvSpPr/>
          <p:nvPr/>
        </p:nvSpPr>
        <p:spPr>
          <a:xfrm>
            <a:off x="1143000" y="8691427"/>
            <a:ext cx="6816937" cy="17318"/>
          </a:xfrm>
          <a:prstGeom prst="rect">
            <a:avLst/>
          </a:prstGeom>
          <a:solidFill>
            <a:srgbClr val="F4F8F8">
              <a:alpha val="28000"/>
            </a:srgbClr>
          </a:solidFill>
          <a:ln/>
        </p:spPr>
        <p:txBody>
          <a:bodyPr/>
          <a:p/>
        </p:txBody>
      </p:sp>
      <p:sp>
        <p:nvSpPr>
          <p:cNvPr id="20" name="Text 17"/>
          <p:cNvSpPr/>
          <p:nvPr/>
        </p:nvSpPr>
        <p:spPr>
          <a:xfrm>
            <a:off x="1143000" y="8880195"/>
            <a:ext cx="7021445" cy="397155"/>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6EC4B4"/>
                </a:solidFill>
                <a:latin typeface="Arial" pitchFamily="34" charset="0"/>
                <a:ea typeface="Arial" pitchFamily="34" charset="-122"/>
                <a:cs typeface="Arial" pitchFamily="34" charset="-120"/>
              </a:rPr>
              <a:t>One in ten lands outside — by design. So far, three of fifty have.</a:t>
            </a:r>
            <a:endParaRPr lang="en-US" sz="1950" dirty="0"/>
          </a:p>
        </p:txBody>
      </p:sp>
      <p:sp>
        <p:nvSpPr>
          <p:cNvPr id="21" name="Text 18"/>
          <p:cNvSpPr/>
          <p:nvPr/>
        </p:nvSpPr>
        <p:spPr>
          <a:xfrm>
            <a:off x="10684033" y="8942134"/>
            <a:ext cx="7107063" cy="335215"/>
          </a:xfrm>
          <a:prstGeom prst="rect">
            <a:avLst/>
          </a:prstGeom>
          <a:noFill/>
          <a:ln/>
        </p:spPr>
        <p:txBody>
          <a:bodyPr wrap="square" lIns="25400" tIns="25400" rIns="25400" bIns="25400" rtlCol="0" anchor="t">
            <a:normAutofit/>
          </a:bodyPr>
          <a:lstStyle/>
          <a:p>
            <a:pPr algn="l" indent="0" marL="0">
              <a:lnSpc>
                <a:spcPct val="112525"/>
              </a:lnSpc>
              <a:buNone/>
            </a:pPr>
            <a:r>
              <a:rPr lang="en-US" sz="1800" dirty="0">
                <a:solidFill>
                  <a:srgbClr val="6EC4B4"/>
                </a:solidFill>
                <a:latin typeface="Arial" pitchFamily="34" charset="0"/>
                <a:ea typeface="Arial" pitchFamily="34" charset="-122"/>
                <a:cs typeface="Arial" pitchFamily="34" charset="-120"/>
              </a:rPr>
              <a:t>Prepared for partnership discussion · August 2026 · testahil.com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02 · THE GAP</a:t>
            </a:r>
            <a:endParaRPr lang="en-US" sz="1800" dirty="0"/>
          </a:p>
        </p:txBody>
      </p:sp>
      <p:sp>
        <p:nvSpPr>
          <p:cNvPr id="3" name="Text 1"/>
          <p:cNvSpPr/>
          <p:nvPr/>
        </p:nvSpPr>
        <p:spPr>
          <a:xfrm>
            <a:off x="16082773" y="133336"/>
            <a:ext cx="1138427" cy="1028686"/>
          </a:xfrm>
          <a:prstGeom prst="rect">
            <a:avLst/>
          </a:prstGeom>
          <a:noFill/>
          <a:ln/>
        </p:spPr>
        <p:txBody>
          <a:bodyPr wrap="square" lIns="25400" tIns="25400" rIns="25400" bIns="25400" rtlCol="0" anchor="t">
            <a:normAutofit/>
          </a:bodyPr>
          <a:lstStyle/>
          <a:p>
            <a:pPr algn="l" indent="0" marL="0">
              <a:lnSpc>
                <a:spcPct val="87328"/>
              </a:lnSpc>
              <a:buNone/>
            </a:pPr>
            <a:r>
              <a:rPr lang="en-US" sz="7800" b="1" spc="-156" kern="0" dirty="0">
                <a:solidFill>
                  <a:srgbClr val="12796B"/>
                </a:solidFill>
                <a:latin typeface="Arial" pitchFamily="34" charset="0"/>
                <a:ea typeface="Arial" pitchFamily="34" charset="-122"/>
                <a:cs typeface="Arial" pitchFamily="34" charset="-120"/>
              </a:rPr>
              <a:t>02</a:t>
            </a:r>
            <a:endParaRPr lang="en-US" sz="7800" dirty="0"/>
          </a:p>
        </p:txBody>
      </p:sp>
      <p:sp>
        <p:nvSpPr>
          <p:cNvPr id="4" name="Text 2"/>
          <p:cNvSpPr/>
          <p:nvPr/>
        </p:nvSpPr>
        <p:spPr>
          <a:xfrm>
            <a:off x="1143000" y="1790673"/>
            <a:ext cx="17602200" cy="806188"/>
          </a:xfrm>
          <a:prstGeom prst="rect">
            <a:avLst/>
          </a:prstGeom>
          <a:noFill/>
          <a:ln/>
        </p:spPr>
        <p:txBody>
          <a:bodyPr wrap="square" lIns="25400" tIns="25400" rIns="25400" bIns="25400" rtlCol="0" anchor="t">
            <a:normAutofit/>
          </a:bodyPr>
          <a:lstStyle/>
          <a:p>
            <a:pPr algn="l" indent="0" marL="0">
              <a:lnSpc>
                <a:spcPct val="97477"/>
              </a:lnSpc>
              <a:buNone/>
            </a:pPr>
            <a:r>
              <a:rPr lang="en-US" sz="5400" b="1" spc="-81" kern="0" dirty="0">
                <a:solidFill>
                  <a:srgbClr val="0E2726"/>
                </a:solidFill>
                <a:latin typeface="Arial" pitchFamily="34" charset="0"/>
                <a:ea typeface="Arial" pitchFamily="34" charset="-122"/>
                <a:cs typeface="Arial" pitchFamily="34" charset="-120"/>
              </a:rPr>
              <a:t>Who covers stock #200?</a:t>
            </a:r>
            <a:endParaRPr lang="en-US" sz="5400" dirty="0"/>
          </a:p>
        </p:txBody>
      </p:sp>
      <p:sp>
        <p:nvSpPr>
          <p:cNvPr id="5" name="Text 3"/>
          <p:cNvSpPr/>
          <p:nvPr/>
        </p:nvSpPr>
        <p:spPr>
          <a:xfrm>
            <a:off x="1143000" y="2787348"/>
            <a:ext cx="14833185" cy="1028619"/>
          </a:xfrm>
          <a:prstGeom prst="rect">
            <a:avLst/>
          </a:prstGeom>
          <a:noFill/>
          <a:ln/>
        </p:spPr>
        <p:txBody>
          <a:bodyPr wrap="square" lIns="25400" tIns="25400" rIns="25400" bIns="25400" rtlCol="0" anchor="t">
            <a:normAutofit/>
          </a:bodyPr>
          <a:lstStyle/>
          <a:p>
            <a:pPr algn="l" indent="0" marL="0">
              <a:lnSpc>
                <a:spcPct val="112157"/>
              </a:lnSpc>
              <a:buNone/>
            </a:pPr>
            <a:r>
              <a:rPr lang="en-US" sz="3000" dirty="0">
                <a:solidFill>
                  <a:srgbClr val="0E2626">
                    <a:alpha val="78000"/>
                  </a:srgbClr>
                </a:solidFill>
                <a:latin typeface="Arial" pitchFamily="34" charset="0"/>
                <a:ea typeface="Arial" pitchFamily="34" charset="-122"/>
                <a:cs typeface="Arial" pitchFamily="34" charset="-120"/>
              </a:rPr>
              <a:t>Nobody. Excellent research exists — for forty names, in twenty-page reports a first-time investor will never open.</a:t>
            </a:r>
            <a:endParaRPr lang="en-US" sz="3000" dirty="0"/>
          </a:p>
        </p:txBody>
      </p:sp>
      <p:sp>
        <p:nvSpPr>
          <p:cNvPr id="6" name="Shape 4"/>
          <p:cNvSpPr/>
          <p:nvPr/>
        </p:nvSpPr>
        <p:spPr>
          <a:xfrm>
            <a:off x="1143000" y="4196953"/>
            <a:ext cx="5029173" cy="17318"/>
          </a:xfrm>
          <a:prstGeom prst="rect">
            <a:avLst/>
          </a:prstGeom>
          <a:solidFill>
            <a:srgbClr val="102825">
              <a:alpha val="32000"/>
            </a:srgbClr>
          </a:solidFill>
          <a:ln/>
        </p:spPr>
      </p:sp>
      <p:sp>
        <p:nvSpPr>
          <p:cNvPr id="7" name="Text 5"/>
          <p:cNvSpPr/>
          <p:nvPr/>
        </p:nvSpPr>
        <p:spPr>
          <a:xfrm>
            <a:off x="1143000" y="4404771"/>
            <a:ext cx="5532090" cy="1257273"/>
          </a:xfrm>
          <a:prstGeom prst="rect">
            <a:avLst/>
          </a:prstGeom>
          <a:noFill/>
          <a:ln/>
        </p:spPr>
        <p:txBody>
          <a:bodyPr wrap="square" lIns="25400" tIns="25400" rIns="25400" bIns="25400" rtlCol="0" anchor="t">
            <a:normAutofit/>
          </a:bodyPr>
          <a:lstStyle/>
          <a:p>
            <a:pPr algn="l" indent="0" marL="0">
              <a:lnSpc>
                <a:spcPct val="86914"/>
              </a:lnSpc>
              <a:buNone/>
            </a:pPr>
            <a:r>
              <a:rPr lang="en-US" sz="9600" b="1" spc="-192" kern="0" dirty="0">
                <a:solidFill>
                  <a:srgbClr val="8A6A2E"/>
                </a:solidFill>
                <a:latin typeface="Arial" pitchFamily="34" charset="0"/>
                <a:ea typeface="Arial" pitchFamily="34" charset="-122"/>
                <a:cs typeface="Arial" pitchFamily="34" charset="-120"/>
              </a:rPr>
              <a:t>40–60</a:t>
            </a:r>
            <a:endParaRPr lang="en-US" sz="9600" dirty="0"/>
          </a:p>
        </p:txBody>
      </p:sp>
      <p:sp>
        <p:nvSpPr>
          <p:cNvPr id="8" name="Text 6"/>
          <p:cNvSpPr/>
          <p:nvPr/>
        </p:nvSpPr>
        <p:spPr>
          <a:xfrm>
            <a:off x="1143000" y="5757281"/>
            <a:ext cx="4966831" cy="756263"/>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2726"/>
                </a:solidFill>
                <a:latin typeface="Arial" pitchFamily="34" charset="0"/>
                <a:ea typeface="Arial" pitchFamily="34" charset="-122"/>
                <a:cs typeface="Arial" pitchFamily="34" charset="-120"/>
              </a:rPr>
              <a:t>names one desk of analysts can carry with real depth</a:t>
            </a:r>
            <a:endParaRPr lang="en-US" sz="1950" dirty="0"/>
          </a:p>
        </p:txBody>
      </p:sp>
      <p:sp>
        <p:nvSpPr>
          <p:cNvPr id="9" name="Shape 7"/>
          <p:cNvSpPr/>
          <p:nvPr/>
        </p:nvSpPr>
        <p:spPr>
          <a:xfrm>
            <a:off x="6629346" y="4196953"/>
            <a:ext cx="5029241" cy="17318"/>
          </a:xfrm>
          <a:prstGeom prst="rect">
            <a:avLst/>
          </a:prstGeom>
          <a:solidFill>
            <a:srgbClr val="102825">
              <a:alpha val="32000"/>
            </a:srgbClr>
          </a:solidFill>
          <a:ln/>
        </p:spPr>
      </p:sp>
      <p:sp>
        <p:nvSpPr>
          <p:cNvPr id="10" name="Text 8"/>
          <p:cNvSpPr/>
          <p:nvPr/>
        </p:nvSpPr>
        <p:spPr>
          <a:xfrm>
            <a:off x="6629346" y="4404771"/>
            <a:ext cx="5532165" cy="1257273"/>
          </a:xfrm>
          <a:prstGeom prst="rect">
            <a:avLst/>
          </a:prstGeom>
          <a:noFill/>
          <a:ln/>
        </p:spPr>
        <p:txBody>
          <a:bodyPr wrap="square" lIns="25400" tIns="25400" rIns="25400" bIns="25400" rtlCol="0" anchor="t">
            <a:normAutofit/>
          </a:bodyPr>
          <a:lstStyle/>
          <a:p>
            <a:pPr algn="l" indent="0" marL="0">
              <a:lnSpc>
                <a:spcPct val="86914"/>
              </a:lnSpc>
              <a:buNone/>
            </a:pPr>
            <a:r>
              <a:rPr lang="en-US" sz="9600" b="1" spc="-192" kern="0" dirty="0">
                <a:solidFill>
                  <a:srgbClr val="8A6A2E"/>
                </a:solidFill>
                <a:latin typeface="Arial" pitchFamily="34" charset="0"/>
                <a:ea typeface="Arial" pitchFamily="34" charset="-122"/>
                <a:cs typeface="Arial" pitchFamily="34" charset="-120"/>
              </a:rPr>
              <a:t>hundreds</a:t>
            </a:r>
            <a:endParaRPr lang="en-US" sz="9600" dirty="0"/>
          </a:p>
        </p:txBody>
      </p:sp>
      <p:sp>
        <p:nvSpPr>
          <p:cNvPr id="11" name="Text 9"/>
          <p:cNvSpPr/>
          <p:nvPr/>
        </p:nvSpPr>
        <p:spPr>
          <a:xfrm>
            <a:off x="6629346" y="5757281"/>
            <a:ext cx="4966831" cy="756263"/>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2726"/>
                </a:solidFill>
                <a:latin typeface="Arial" pitchFamily="34" charset="0"/>
                <a:ea typeface="Arial" pitchFamily="34" charset="-122"/>
                <a:cs typeface="Arial" pitchFamily="34" charset="-120"/>
              </a:rPr>
              <a:t>names retail actually trades — covered today by Telegram tips</a:t>
            </a:r>
            <a:endParaRPr lang="en-US" sz="1950" dirty="0"/>
          </a:p>
        </p:txBody>
      </p:sp>
      <p:sp>
        <p:nvSpPr>
          <p:cNvPr id="12" name="Shape 10"/>
          <p:cNvSpPr/>
          <p:nvPr/>
        </p:nvSpPr>
        <p:spPr>
          <a:xfrm>
            <a:off x="12115759" y="4196953"/>
            <a:ext cx="5029173" cy="17318"/>
          </a:xfrm>
          <a:prstGeom prst="rect">
            <a:avLst/>
          </a:prstGeom>
          <a:solidFill>
            <a:srgbClr val="102825">
              <a:alpha val="32000"/>
            </a:srgbClr>
          </a:solidFill>
          <a:ln/>
        </p:spPr>
      </p:sp>
      <p:sp>
        <p:nvSpPr>
          <p:cNvPr id="13" name="Text 11"/>
          <p:cNvSpPr/>
          <p:nvPr/>
        </p:nvSpPr>
        <p:spPr>
          <a:xfrm>
            <a:off x="12115759" y="4404771"/>
            <a:ext cx="5532090" cy="1257273"/>
          </a:xfrm>
          <a:prstGeom prst="rect">
            <a:avLst/>
          </a:prstGeom>
          <a:noFill/>
          <a:ln/>
        </p:spPr>
        <p:txBody>
          <a:bodyPr wrap="square" lIns="25400" tIns="25400" rIns="25400" bIns="25400" rtlCol="0" anchor="t">
            <a:normAutofit/>
          </a:bodyPr>
          <a:lstStyle/>
          <a:p>
            <a:pPr algn="l" indent="0" marL="0">
              <a:lnSpc>
                <a:spcPct val="86914"/>
              </a:lnSpc>
              <a:buNone/>
            </a:pPr>
            <a:r>
              <a:rPr lang="en-US" sz="9600" b="1" spc="-192" kern="0" dirty="0">
                <a:solidFill>
                  <a:srgbClr val="12796B"/>
                </a:solidFill>
                <a:latin typeface="Arial" pitchFamily="34" charset="0"/>
                <a:ea typeface="Arial" pitchFamily="34" charset="-122"/>
                <a:cs typeface="Arial" pitchFamily="34" charset="-120"/>
              </a:rPr>
              <a:t>93</a:t>
            </a:r>
            <a:endParaRPr lang="en-US" sz="9600" dirty="0"/>
          </a:p>
        </p:txBody>
      </p:sp>
      <p:sp>
        <p:nvSpPr>
          <p:cNvPr id="14" name="Text 12"/>
          <p:cNvSpPr/>
          <p:nvPr/>
        </p:nvSpPr>
        <p:spPr>
          <a:xfrm>
            <a:off x="12115759" y="5757281"/>
            <a:ext cx="4966831" cy="756263"/>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2726"/>
                </a:solidFill>
                <a:latin typeface="Arial" pitchFamily="34" charset="0"/>
                <a:ea typeface="Arial" pitchFamily="34" charset="-122"/>
                <a:cs typeface="Arial" pitchFamily="34" charset="-120"/>
              </a:rPr>
              <a:t>instruments Testahil covers — a full ground-up study behind every one</a:t>
            </a:r>
            <a:endParaRPr lang="en-US" sz="1950" dirty="0"/>
          </a:p>
        </p:txBody>
      </p:sp>
      <p:sp>
        <p:nvSpPr>
          <p:cNvPr id="15" name="Shape 13"/>
          <p:cNvSpPr/>
          <p:nvPr/>
        </p:nvSpPr>
        <p:spPr>
          <a:xfrm>
            <a:off x="1143000" y="6856444"/>
            <a:ext cx="12954000" cy="17318"/>
          </a:xfrm>
          <a:prstGeom prst="rect">
            <a:avLst/>
          </a:prstGeom>
          <a:solidFill>
            <a:srgbClr val="102825">
              <a:alpha val="32000"/>
            </a:srgbClr>
          </a:solidFill>
          <a:ln/>
        </p:spPr>
      </p:sp>
      <p:sp>
        <p:nvSpPr>
          <p:cNvPr id="16" name="Text 14"/>
          <p:cNvSpPr/>
          <p:nvPr/>
        </p:nvSpPr>
        <p:spPr>
          <a:xfrm>
            <a:off x="1143000" y="7064262"/>
            <a:ext cx="13342620" cy="880061"/>
          </a:xfrm>
          <a:prstGeom prst="rect">
            <a:avLst/>
          </a:prstGeom>
          <a:noFill/>
          <a:ln/>
        </p:spPr>
        <p:txBody>
          <a:bodyPr wrap="square" lIns="25400" tIns="25400" rIns="25400" bIns="25400" rtlCol="0" anchor="t">
            <a:normAutofit/>
          </a:bodyPr>
          <a:lstStyle/>
          <a:p>
            <a:pPr algn="l" indent="0" marL="0">
              <a:lnSpc>
                <a:spcPct val="113070"/>
              </a:lnSpc>
              <a:buNone/>
            </a:pPr>
            <a:r>
              <a:rPr lang="en-US" sz="2550" b="1" dirty="0">
                <a:solidFill>
                  <a:srgbClr val="0E2726"/>
                </a:solidFill>
                <a:latin typeface="Arial" pitchFamily="34" charset="0"/>
                <a:ea typeface="Arial" pitchFamily="34" charset="-122"/>
                <a:cs typeface="Arial" pitchFamily="34" charset="-120"/>
              </a:rPr>
              <a:t>276,000 registered investors in Egypt, up ~20% in a year — market cap +42% in 2025. A record wave of first-timers, walking into this vacuum.</a:t>
            </a:r>
            <a:endParaRPr lang="en-US" sz="2550" dirty="0"/>
          </a:p>
        </p:txBody>
      </p:sp>
      <p:sp>
        <p:nvSpPr>
          <p:cNvPr id="17" name="Text 15"/>
          <p:cNvSpPr/>
          <p:nvPr/>
        </p:nvSpPr>
        <p:spPr>
          <a:xfrm>
            <a:off x="1143000" y="8020483"/>
            <a:ext cx="14249400"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spc="108" kern="0" dirty="0">
                <a:solidFill>
                  <a:srgbClr val="5B7270"/>
                </a:solidFill>
                <a:latin typeface="Arial" pitchFamily="34" charset="0"/>
                <a:ea typeface="Arial" pitchFamily="34" charset="-122"/>
                <a:cs typeface="Arial" pitchFamily="34" charset="-120"/>
              </a:rPr>
              <a:t>EGX CHAIRMAN · AL ARABIYA · 29 DEC 2025</a:t>
            </a:r>
            <a:endParaRPr lang="en-US" sz="1800" dirty="0"/>
          </a:p>
        </p:txBody>
      </p:sp>
      <p:sp>
        <p:nvSpPr>
          <p:cNvPr id="18" name="Shape 16"/>
          <p:cNvSpPr/>
          <p:nvPr/>
        </p:nvSpPr>
        <p:spPr>
          <a:xfrm>
            <a:off x="1143000" y="8622357"/>
            <a:ext cx="12954000" cy="17318"/>
          </a:xfrm>
          <a:prstGeom prst="rect">
            <a:avLst/>
          </a:prstGeom>
          <a:solidFill>
            <a:srgbClr val="102825">
              <a:alpha val="32000"/>
            </a:srgbClr>
          </a:solidFill>
          <a:ln/>
        </p:spPr>
      </p:sp>
      <p:sp>
        <p:nvSpPr>
          <p:cNvPr id="19" name="Text 17"/>
          <p:cNvSpPr/>
          <p:nvPr/>
        </p:nvSpPr>
        <p:spPr>
          <a:xfrm>
            <a:off x="1143000" y="8811125"/>
            <a:ext cx="13342620" cy="397155"/>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5C51"/>
                </a:solidFill>
                <a:latin typeface="Arial" pitchFamily="34" charset="0"/>
                <a:ea typeface="Arial" pitchFamily="34" charset="-122"/>
                <a:cs typeface="Arial" pitchFamily="34" charset="-120"/>
              </a:rPr>
              <a:t>They trade blind, lose, and churn — and the most expensive client a platform can acquire is the one who leaves burned.</a:t>
            </a:r>
            <a:endParaRPr lang="en-US" sz="1950" dirty="0"/>
          </a:p>
        </p:txBody>
      </p:sp>
      <p:sp>
        <p:nvSpPr>
          <p:cNvPr id="20" name="Text 18"/>
          <p:cNvSpPr/>
          <p:nvPr/>
        </p:nvSpPr>
        <p:spPr>
          <a:xfrm>
            <a:off x="13285217" y="9570798"/>
            <a:ext cx="3859783"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03 · THE SOLUTION</a:t>
            </a:r>
            <a:endParaRPr lang="en-US" sz="1800" dirty="0"/>
          </a:p>
        </p:txBody>
      </p:sp>
      <p:sp>
        <p:nvSpPr>
          <p:cNvPr id="3" name="Text 1"/>
          <p:cNvSpPr/>
          <p:nvPr/>
        </p:nvSpPr>
        <p:spPr>
          <a:xfrm>
            <a:off x="16082773" y="133336"/>
            <a:ext cx="1138427" cy="1028686"/>
          </a:xfrm>
          <a:prstGeom prst="rect">
            <a:avLst/>
          </a:prstGeom>
          <a:noFill/>
          <a:ln/>
        </p:spPr>
        <p:txBody>
          <a:bodyPr wrap="square" lIns="25400" tIns="25400" rIns="25400" bIns="25400" rtlCol="0" anchor="t">
            <a:normAutofit/>
          </a:bodyPr>
          <a:lstStyle/>
          <a:p>
            <a:pPr algn="l" indent="0" marL="0">
              <a:lnSpc>
                <a:spcPct val="87328"/>
              </a:lnSpc>
              <a:buNone/>
            </a:pPr>
            <a:r>
              <a:rPr lang="en-US" sz="7800" b="1" spc="-156" kern="0" dirty="0">
                <a:solidFill>
                  <a:srgbClr val="12796B"/>
                </a:solidFill>
                <a:latin typeface="Arial" pitchFamily="34" charset="0"/>
                <a:ea typeface="Arial" pitchFamily="34" charset="-122"/>
                <a:cs typeface="Arial" pitchFamily="34" charset="-120"/>
              </a:rPr>
              <a:t>03</a:t>
            </a:r>
            <a:endParaRPr lang="en-US" sz="7800" dirty="0"/>
          </a:p>
        </p:txBody>
      </p:sp>
      <p:sp>
        <p:nvSpPr>
          <p:cNvPr id="4" name="Text 2"/>
          <p:cNvSpPr/>
          <p:nvPr/>
        </p:nvSpPr>
        <p:spPr>
          <a:xfrm>
            <a:off x="1143000" y="1790673"/>
            <a:ext cx="16482060" cy="1574277"/>
          </a:xfrm>
          <a:prstGeom prst="rect">
            <a:avLst/>
          </a:prstGeom>
          <a:noFill/>
          <a:ln/>
        </p:spPr>
        <p:txBody>
          <a:bodyPr wrap="square" lIns="25400" tIns="25400" rIns="25400" bIns="25400" rtlCol="0" anchor="t">
            <a:normAutofit/>
          </a:bodyPr>
          <a:lstStyle/>
          <a:p>
            <a:pPr algn="l" indent="0" marL="0">
              <a:lnSpc>
                <a:spcPct val="97477"/>
              </a:lnSpc>
              <a:buNone/>
            </a:pPr>
            <a:r>
              <a:rPr lang="en-US" sz="5400" b="1" spc="-81" kern="0" dirty="0">
                <a:solidFill>
                  <a:srgbClr val="0E2726"/>
                </a:solidFill>
                <a:latin typeface="Arial" pitchFamily="34" charset="0"/>
                <a:ea typeface="Arial" pitchFamily="34" charset="-122"/>
                <a:cs typeface="Arial" pitchFamily="34" charset="-120"/>
              </a:rPr>
              <a:t>Machines write. Machines audit. A human signs.</a:t>
            </a:r>
            <a:endParaRPr lang="en-US" sz="5400" dirty="0"/>
          </a:p>
        </p:txBody>
      </p:sp>
      <p:sp>
        <p:nvSpPr>
          <p:cNvPr id="5" name="Shape 3"/>
          <p:cNvSpPr/>
          <p:nvPr/>
        </p:nvSpPr>
        <p:spPr>
          <a:xfrm>
            <a:off x="1143000" y="3784023"/>
            <a:ext cx="5029173" cy="17318"/>
          </a:xfrm>
          <a:prstGeom prst="rect">
            <a:avLst/>
          </a:prstGeom>
          <a:solidFill>
            <a:srgbClr val="102825">
              <a:alpha val="32000"/>
            </a:srgbClr>
          </a:solidFill>
          <a:ln/>
        </p:spPr>
      </p:sp>
      <p:sp>
        <p:nvSpPr>
          <p:cNvPr id="6" name="Text 4"/>
          <p:cNvSpPr/>
          <p:nvPr/>
        </p:nvSpPr>
        <p:spPr>
          <a:xfrm>
            <a:off x="1143000" y="4106100"/>
            <a:ext cx="5532090" cy="409561"/>
          </a:xfrm>
          <a:prstGeom prst="rect">
            <a:avLst/>
          </a:prstGeom>
          <a:noFill/>
          <a:ln/>
        </p:spPr>
        <p:txBody>
          <a:bodyPr wrap="square" lIns="25400" tIns="25400" rIns="25400" bIns="25400" rtlCol="0" anchor="t">
            <a:normAutofit/>
          </a:bodyPr>
          <a:lstStyle/>
          <a:p>
            <a:pPr algn="l" indent="0" marL="0">
              <a:lnSpc>
                <a:spcPct val="130000"/>
              </a:lnSpc>
              <a:buNone/>
            </a:pPr>
            <a:r>
              <a:rPr lang="en-US" sz="1950" spc="156" kern="0" dirty="0">
                <a:solidFill>
                  <a:srgbClr val="12796B"/>
                </a:solidFill>
                <a:latin typeface="Arial" pitchFamily="34" charset="0"/>
                <a:ea typeface="Arial" pitchFamily="34" charset="-122"/>
                <a:cs typeface="Arial" pitchFamily="34" charset="-120"/>
              </a:rPr>
              <a:t>STEP 1 · MACHINES WRITE</a:t>
            </a:r>
            <a:endParaRPr lang="en-US" sz="1950" dirty="0"/>
          </a:p>
        </p:txBody>
      </p:sp>
      <p:sp>
        <p:nvSpPr>
          <p:cNvPr id="7" name="Text 5"/>
          <p:cNvSpPr/>
          <p:nvPr/>
        </p:nvSpPr>
        <p:spPr>
          <a:xfrm>
            <a:off x="1143000" y="4591821"/>
            <a:ext cx="5180048" cy="815253"/>
          </a:xfrm>
          <a:prstGeom prst="rect">
            <a:avLst/>
          </a:prstGeom>
          <a:noFill/>
          <a:ln/>
        </p:spPr>
        <p:txBody>
          <a:bodyPr wrap="square" lIns="25400" tIns="25400" rIns="25400" bIns="25400" rtlCol="0" anchor="t">
            <a:normAutofit/>
          </a:bodyPr>
          <a:lstStyle/>
          <a:p>
            <a:pPr algn="l" indent="0" marL="0">
              <a:lnSpc>
                <a:spcPct val="104372"/>
              </a:lnSpc>
              <a:buNone/>
            </a:pPr>
            <a:r>
              <a:rPr lang="en-US" sz="2550" b="1" spc="-38" kern="0" dirty="0">
                <a:solidFill>
                  <a:srgbClr val="0E2726"/>
                </a:solidFill>
                <a:latin typeface="Arial" pitchFamily="34" charset="0"/>
                <a:ea typeface="Arial" pitchFamily="34" charset="-122"/>
                <a:cs typeface="Arial" pitchFamily="34" charset="-120"/>
              </a:rPr>
              <a:t>A multi-model AI system writes the research</a:t>
            </a:r>
            <a:endParaRPr lang="en-US" sz="2550" dirty="0"/>
          </a:p>
        </p:txBody>
      </p:sp>
      <p:sp>
        <p:nvSpPr>
          <p:cNvPr id="8" name="Text 6"/>
          <p:cNvSpPr/>
          <p:nvPr/>
        </p:nvSpPr>
        <p:spPr>
          <a:xfrm>
            <a:off x="1143000" y="5483234"/>
            <a:ext cx="5180048" cy="1523946"/>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Every study built ground-up — fundamental, technical and simulation — for every covered name. Adding a stock costs compute and a review pass, not an analyst-month.</a:t>
            </a:r>
            <a:endParaRPr lang="en-US" sz="1950" dirty="0"/>
          </a:p>
        </p:txBody>
      </p:sp>
      <p:sp>
        <p:nvSpPr>
          <p:cNvPr id="9" name="Shape 7"/>
          <p:cNvSpPr/>
          <p:nvPr/>
        </p:nvSpPr>
        <p:spPr>
          <a:xfrm>
            <a:off x="6629346" y="3784023"/>
            <a:ext cx="5029241" cy="17318"/>
          </a:xfrm>
          <a:prstGeom prst="rect">
            <a:avLst/>
          </a:prstGeom>
          <a:solidFill>
            <a:srgbClr val="102825">
              <a:alpha val="32000"/>
            </a:srgbClr>
          </a:solidFill>
          <a:ln/>
        </p:spPr>
      </p:sp>
      <p:sp>
        <p:nvSpPr>
          <p:cNvPr id="10" name="Text 8"/>
          <p:cNvSpPr/>
          <p:nvPr/>
        </p:nvSpPr>
        <p:spPr>
          <a:xfrm>
            <a:off x="6629346" y="4106100"/>
            <a:ext cx="5532165" cy="409561"/>
          </a:xfrm>
          <a:prstGeom prst="rect">
            <a:avLst/>
          </a:prstGeom>
          <a:noFill/>
          <a:ln/>
        </p:spPr>
        <p:txBody>
          <a:bodyPr wrap="square" lIns="25400" tIns="25400" rIns="25400" bIns="25400" rtlCol="0" anchor="t">
            <a:normAutofit/>
          </a:bodyPr>
          <a:lstStyle/>
          <a:p>
            <a:pPr algn="l" indent="0" marL="0">
              <a:lnSpc>
                <a:spcPct val="130000"/>
              </a:lnSpc>
              <a:buNone/>
            </a:pPr>
            <a:r>
              <a:rPr lang="en-US" sz="1950" spc="156" kern="0" dirty="0">
                <a:solidFill>
                  <a:srgbClr val="12796B"/>
                </a:solidFill>
                <a:latin typeface="Arial" pitchFamily="34" charset="0"/>
                <a:ea typeface="Arial" pitchFamily="34" charset="-122"/>
                <a:cs typeface="Arial" pitchFamily="34" charset="-120"/>
              </a:rPr>
              <a:t>STEP 2 · MACHINES AUDIT</a:t>
            </a:r>
            <a:endParaRPr lang="en-US" sz="1950" dirty="0"/>
          </a:p>
        </p:txBody>
      </p:sp>
      <p:sp>
        <p:nvSpPr>
          <p:cNvPr id="11" name="Text 9"/>
          <p:cNvSpPr/>
          <p:nvPr/>
        </p:nvSpPr>
        <p:spPr>
          <a:xfrm>
            <a:off x="6629346" y="4591821"/>
            <a:ext cx="5532165" cy="426677"/>
          </a:xfrm>
          <a:prstGeom prst="rect">
            <a:avLst/>
          </a:prstGeom>
          <a:noFill/>
          <a:ln/>
        </p:spPr>
        <p:txBody>
          <a:bodyPr wrap="square" lIns="25400" tIns="25400" rIns="25400" bIns="25400" rtlCol="0" anchor="t">
            <a:normAutofit/>
          </a:bodyPr>
          <a:lstStyle/>
          <a:p>
            <a:pPr algn="l" indent="0" marL="0">
              <a:lnSpc>
                <a:spcPct val="104372"/>
              </a:lnSpc>
              <a:buNone/>
            </a:pPr>
            <a:r>
              <a:rPr lang="en-US" sz="2550" b="1" spc="-38" kern="0" dirty="0">
                <a:solidFill>
                  <a:srgbClr val="0E2726"/>
                </a:solidFill>
                <a:latin typeface="Arial" pitchFamily="34" charset="0"/>
                <a:ea typeface="Arial" pitchFamily="34" charset="-122"/>
                <a:cs typeface="Arial" pitchFamily="34" charset="-120"/>
              </a:rPr>
              <a:t>The system examines itself</a:t>
            </a:r>
            <a:endParaRPr lang="en-US" sz="2550" dirty="0"/>
          </a:p>
        </p:txBody>
      </p:sp>
      <p:sp>
        <p:nvSpPr>
          <p:cNvPr id="12" name="Text 10"/>
          <p:cNvSpPr/>
          <p:nvPr/>
        </p:nvSpPr>
        <p:spPr>
          <a:xfrm>
            <a:off x="6629346" y="5094657"/>
            <a:ext cx="5180118" cy="1523946"/>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Nothing ships unless it survives the out-of-sample exam: walk-forward backtests against a stated 90% band. What fails is rejected — and named.</a:t>
            </a:r>
            <a:endParaRPr lang="en-US" sz="1950" dirty="0"/>
          </a:p>
        </p:txBody>
      </p:sp>
      <p:sp>
        <p:nvSpPr>
          <p:cNvPr id="13" name="Shape 11"/>
          <p:cNvSpPr/>
          <p:nvPr/>
        </p:nvSpPr>
        <p:spPr>
          <a:xfrm>
            <a:off x="12115759" y="3784023"/>
            <a:ext cx="5029173" cy="17318"/>
          </a:xfrm>
          <a:prstGeom prst="rect">
            <a:avLst/>
          </a:prstGeom>
          <a:solidFill>
            <a:srgbClr val="102825">
              <a:alpha val="32000"/>
            </a:srgbClr>
          </a:solidFill>
          <a:ln/>
        </p:spPr>
      </p:sp>
      <p:sp>
        <p:nvSpPr>
          <p:cNvPr id="14" name="Text 12"/>
          <p:cNvSpPr/>
          <p:nvPr/>
        </p:nvSpPr>
        <p:spPr>
          <a:xfrm>
            <a:off x="12115759" y="4106100"/>
            <a:ext cx="5532090" cy="409561"/>
          </a:xfrm>
          <a:prstGeom prst="rect">
            <a:avLst/>
          </a:prstGeom>
          <a:noFill/>
          <a:ln/>
        </p:spPr>
        <p:txBody>
          <a:bodyPr wrap="square" lIns="25400" tIns="25400" rIns="25400" bIns="25400" rtlCol="0" anchor="t">
            <a:normAutofit/>
          </a:bodyPr>
          <a:lstStyle/>
          <a:p>
            <a:pPr algn="l" indent="0" marL="0">
              <a:lnSpc>
                <a:spcPct val="130000"/>
              </a:lnSpc>
              <a:buNone/>
            </a:pPr>
            <a:r>
              <a:rPr lang="en-US" sz="1950" spc="156" kern="0" dirty="0">
                <a:solidFill>
                  <a:srgbClr val="12796B"/>
                </a:solidFill>
                <a:latin typeface="Arial" pitchFamily="34" charset="0"/>
                <a:ea typeface="Arial" pitchFamily="34" charset="-122"/>
                <a:cs typeface="Arial" pitchFamily="34" charset="-120"/>
              </a:rPr>
              <a:t>STEP 3 · A HUMAN SIGNS</a:t>
            </a:r>
            <a:endParaRPr lang="en-US" sz="1950" dirty="0"/>
          </a:p>
        </p:txBody>
      </p:sp>
      <p:sp>
        <p:nvSpPr>
          <p:cNvPr id="15" name="Text 13"/>
          <p:cNvSpPr/>
          <p:nvPr/>
        </p:nvSpPr>
        <p:spPr>
          <a:xfrm>
            <a:off x="12115759" y="4591821"/>
            <a:ext cx="5180048" cy="815253"/>
          </a:xfrm>
          <a:prstGeom prst="rect">
            <a:avLst/>
          </a:prstGeom>
          <a:noFill/>
          <a:ln/>
        </p:spPr>
        <p:txBody>
          <a:bodyPr wrap="square" lIns="25400" tIns="25400" rIns="25400" bIns="25400" rtlCol="0" anchor="t">
            <a:normAutofit/>
          </a:bodyPr>
          <a:lstStyle/>
          <a:p>
            <a:pPr algn="l" indent="0" marL="0">
              <a:lnSpc>
                <a:spcPct val="104372"/>
              </a:lnSpc>
              <a:buNone/>
            </a:pPr>
            <a:r>
              <a:rPr lang="en-US" sz="2550" b="1" spc="-38" kern="0" dirty="0">
                <a:solidFill>
                  <a:srgbClr val="0E2726"/>
                </a:solidFill>
                <a:latin typeface="Arial" pitchFamily="34" charset="0"/>
                <a:ea typeface="Arial" pitchFamily="34" charset="-122"/>
                <a:cs typeface="Arial" pitchFamily="34" charset="-120"/>
              </a:rPr>
              <a:t>Final review and approval by a human analyst</a:t>
            </a:r>
            <a:endParaRPr lang="en-US" sz="2550" dirty="0"/>
          </a:p>
        </p:txBody>
      </p:sp>
      <p:sp>
        <p:nvSpPr>
          <p:cNvPr id="16" name="Text 14"/>
          <p:cNvSpPr/>
          <p:nvPr/>
        </p:nvSpPr>
        <p:spPr>
          <a:xfrm>
            <a:off x="12115759" y="5483234"/>
            <a:ext cx="5180048" cy="1523946"/>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A named reviewer approves every number before it publishes — then it goes on the public ledger, time-stamped, graded, never edited.</a:t>
            </a:r>
            <a:endParaRPr lang="en-US" sz="1950" dirty="0"/>
          </a:p>
        </p:txBody>
      </p:sp>
      <p:sp>
        <p:nvSpPr>
          <p:cNvPr id="17" name="Shape 15"/>
          <p:cNvSpPr/>
          <p:nvPr/>
        </p:nvSpPr>
        <p:spPr>
          <a:xfrm>
            <a:off x="1143000" y="7216676"/>
            <a:ext cx="12954000" cy="17318"/>
          </a:xfrm>
          <a:prstGeom prst="rect">
            <a:avLst/>
          </a:prstGeom>
          <a:solidFill>
            <a:srgbClr val="102825">
              <a:alpha val="32000"/>
            </a:srgbClr>
          </a:solidFill>
          <a:ln/>
        </p:spPr>
      </p:sp>
      <p:sp>
        <p:nvSpPr>
          <p:cNvPr id="18" name="Text 16"/>
          <p:cNvSpPr/>
          <p:nvPr/>
        </p:nvSpPr>
        <p:spPr>
          <a:xfrm>
            <a:off x="1143000" y="7405444"/>
            <a:ext cx="13342620" cy="397155"/>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5C51"/>
                </a:solidFill>
                <a:latin typeface="Arial" pitchFamily="34" charset="0"/>
                <a:ea typeface="Arial" pitchFamily="34" charset="-122"/>
                <a:cs typeface="Arial" pitchFamily="34" charset="-120"/>
              </a:rPr>
              <a:t>That is how the gap closes: machine scale, exam discipline, human accountability.</a:t>
            </a:r>
            <a:endParaRPr lang="en-US" sz="1950" dirty="0"/>
          </a:p>
        </p:txBody>
      </p:sp>
      <p:sp>
        <p:nvSpPr>
          <p:cNvPr id="19" name="Text 17"/>
          <p:cNvSpPr/>
          <p:nvPr/>
        </p:nvSpPr>
        <p:spPr>
          <a:xfrm>
            <a:off x="13285217" y="9570798"/>
            <a:ext cx="3859783"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04 · THE PRODUCT</a:t>
            </a:r>
            <a:endParaRPr lang="en-US" sz="1800" dirty="0"/>
          </a:p>
        </p:txBody>
      </p:sp>
      <p:sp>
        <p:nvSpPr>
          <p:cNvPr id="3" name="Text 1"/>
          <p:cNvSpPr/>
          <p:nvPr/>
        </p:nvSpPr>
        <p:spPr>
          <a:xfrm>
            <a:off x="16082773" y="133336"/>
            <a:ext cx="1138427" cy="1028686"/>
          </a:xfrm>
          <a:prstGeom prst="rect">
            <a:avLst/>
          </a:prstGeom>
          <a:noFill/>
          <a:ln/>
        </p:spPr>
        <p:txBody>
          <a:bodyPr wrap="square" lIns="25400" tIns="25400" rIns="25400" bIns="25400" rtlCol="0" anchor="t">
            <a:normAutofit/>
          </a:bodyPr>
          <a:lstStyle/>
          <a:p>
            <a:pPr algn="l" indent="0" marL="0">
              <a:lnSpc>
                <a:spcPct val="87328"/>
              </a:lnSpc>
              <a:buNone/>
            </a:pPr>
            <a:r>
              <a:rPr lang="en-US" sz="7800" b="1" spc="-156" kern="0" dirty="0">
                <a:solidFill>
                  <a:srgbClr val="12796B"/>
                </a:solidFill>
                <a:latin typeface="Arial" pitchFamily="34" charset="0"/>
                <a:ea typeface="Arial" pitchFamily="34" charset="-122"/>
                <a:cs typeface="Arial" pitchFamily="34" charset="-120"/>
              </a:rPr>
              <a:t>04</a:t>
            </a:r>
            <a:endParaRPr lang="en-US" sz="7800" dirty="0"/>
          </a:p>
        </p:txBody>
      </p:sp>
      <p:sp>
        <p:nvSpPr>
          <p:cNvPr id="4" name="Text 2"/>
          <p:cNvSpPr/>
          <p:nvPr/>
        </p:nvSpPr>
        <p:spPr>
          <a:xfrm>
            <a:off x="1143000" y="1790673"/>
            <a:ext cx="17602200" cy="806188"/>
          </a:xfrm>
          <a:prstGeom prst="rect">
            <a:avLst/>
          </a:prstGeom>
          <a:noFill/>
          <a:ln/>
        </p:spPr>
        <p:txBody>
          <a:bodyPr wrap="square" lIns="25400" tIns="25400" rIns="25400" bIns="25400" rtlCol="0" anchor="t">
            <a:normAutofit/>
          </a:bodyPr>
          <a:lstStyle/>
          <a:p>
            <a:pPr algn="l" indent="0" marL="0">
              <a:lnSpc>
                <a:spcPct val="97477"/>
              </a:lnSpc>
              <a:buNone/>
            </a:pPr>
            <a:r>
              <a:rPr lang="en-US" sz="5400" b="1" spc="-81" kern="0" dirty="0">
                <a:solidFill>
                  <a:srgbClr val="0E2726"/>
                </a:solidFill>
                <a:latin typeface="Arial" pitchFamily="34" charset="0"/>
                <a:ea typeface="Arial" pitchFamily="34" charset="-122"/>
                <a:cs typeface="Arial" pitchFamily="34" charset="-120"/>
              </a:rPr>
              <a:t>Odds, not orders.</a:t>
            </a:r>
            <a:endParaRPr lang="en-US" sz="5400" dirty="0"/>
          </a:p>
        </p:txBody>
      </p:sp>
      <p:sp>
        <p:nvSpPr>
          <p:cNvPr id="5" name="Text 3"/>
          <p:cNvSpPr/>
          <p:nvPr/>
        </p:nvSpPr>
        <p:spPr>
          <a:xfrm>
            <a:off x="1143000" y="2673021"/>
            <a:ext cx="17602200" cy="434321"/>
          </a:xfrm>
          <a:prstGeom prst="rect">
            <a:avLst/>
          </a:prstGeom>
          <a:noFill/>
          <a:ln/>
        </p:spPr>
        <p:txBody>
          <a:bodyPr wrap="square" lIns="25400" tIns="25400" rIns="25400" bIns="25400" rtlCol="0" anchor="t">
            <a:normAutofit/>
          </a:bodyPr>
          <a:lstStyle/>
          <a:p>
            <a:pPr algn="l" indent="0" marL="0">
              <a:lnSpc>
                <a:spcPct val="112988"/>
              </a:lnSpc>
              <a:buNone/>
            </a:pPr>
            <a:r>
              <a:rPr lang="en-US" sz="2400" dirty="0">
                <a:solidFill>
                  <a:srgbClr val="0E2626">
                    <a:alpha val="78000"/>
                  </a:srgbClr>
                </a:solidFill>
                <a:latin typeface="Arial" pitchFamily="34" charset="0"/>
                <a:ea typeface="Arial" pitchFamily="34" charset="-122"/>
                <a:cs typeface="Arial" pitchFamily="34" charset="-120"/>
              </a:rPr>
              <a:t>Three reads on every stock, in order: the destination, the starting point, and the odds of the journey.</a:t>
            </a:r>
            <a:endParaRPr lang="en-US" sz="2400" dirty="0"/>
          </a:p>
        </p:txBody>
      </p:sp>
      <p:sp>
        <p:nvSpPr>
          <p:cNvPr id="6" name="Shape 4"/>
          <p:cNvSpPr/>
          <p:nvPr/>
        </p:nvSpPr>
        <p:spPr>
          <a:xfrm>
            <a:off x="1143000" y="3278751"/>
            <a:ext cx="7353327" cy="17318"/>
          </a:xfrm>
          <a:prstGeom prst="rect">
            <a:avLst/>
          </a:prstGeom>
          <a:solidFill>
            <a:srgbClr val="102825">
              <a:alpha val="32000"/>
            </a:srgbClr>
          </a:solidFill>
          <a:ln/>
        </p:spPr>
      </p:sp>
      <p:sp>
        <p:nvSpPr>
          <p:cNvPr id="7" name="Text 5"/>
          <p:cNvSpPr/>
          <p:nvPr/>
        </p:nvSpPr>
        <p:spPr>
          <a:xfrm>
            <a:off x="1143000" y="3391319"/>
            <a:ext cx="7573927"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spc="144" kern="0" dirty="0">
                <a:solidFill>
                  <a:srgbClr val="12796B"/>
                </a:solidFill>
                <a:latin typeface="Arial" pitchFamily="34" charset="0"/>
                <a:ea typeface="Arial" pitchFamily="34" charset="-122"/>
                <a:cs typeface="Arial" pitchFamily="34" charset="-120"/>
              </a:rPr>
              <a:t>READ 1 · FUNDAMENTAL — WHERE IS IT WORTH IN A YEAR?</a:t>
            </a:r>
            <a:endParaRPr lang="en-US" sz="1800" dirty="0"/>
          </a:p>
        </p:txBody>
      </p:sp>
      <p:sp>
        <p:nvSpPr>
          <p:cNvPr id="8" name="Text 6"/>
          <p:cNvSpPr/>
          <p:nvPr/>
        </p:nvSpPr>
        <p:spPr>
          <a:xfrm>
            <a:off x="1143000" y="4122674"/>
            <a:ext cx="7573927" cy="1152484"/>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A fair-value range built from official filings only — product by product, volume × price — checked by an analyst before it publishes.</a:t>
            </a:r>
            <a:endParaRPr lang="en-US" sz="1950" dirty="0"/>
          </a:p>
        </p:txBody>
      </p:sp>
      <p:sp>
        <p:nvSpPr>
          <p:cNvPr id="9" name="Shape 7"/>
          <p:cNvSpPr/>
          <p:nvPr/>
        </p:nvSpPr>
        <p:spPr>
          <a:xfrm>
            <a:off x="1143000" y="5332309"/>
            <a:ext cx="7353327" cy="17318"/>
          </a:xfrm>
          <a:prstGeom prst="rect">
            <a:avLst/>
          </a:prstGeom>
          <a:solidFill>
            <a:srgbClr val="102825">
              <a:alpha val="32000"/>
            </a:srgbClr>
          </a:solidFill>
          <a:ln/>
        </p:spPr>
      </p:sp>
      <p:sp>
        <p:nvSpPr>
          <p:cNvPr id="10" name="Text 8"/>
          <p:cNvSpPr/>
          <p:nvPr/>
        </p:nvSpPr>
        <p:spPr>
          <a:xfrm>
            <a:off x="1143000" y="5444877"/>
            <a:ext cx="8088659" cy="346648"/>
          </a:xfrm>
          <a:prstGeom prst="rect">
            <a:avLst/>
          </a:prstGeom>
          <a:noFill/>
          <a:ln/>
        </p:spPr>
        <p:txBody>
          <a:bodyPr wrap="square" lIns="25400" tIns="25400" rIns="25400" bIns="25400" rtlCol="0" anchor="t">
            <a:normAutofit/>
          </a:bodyPr>
          <a:lstStyle/>
          <a:p>
            <a:pPr algn="l" indent="0" marL="0">
              <a:lnSpc>
                <a:spcPct val="116852"/>
              </a:lnSpc>
              <a:buNone/>
            </a:pPr>
            <a:r>
              <a:rPr lang="en-US" sz="1800" spc="144" kern="0" dirty="0">
                <a:solidFill>
                  <a:srgbClr val="12796B"/>
                </a:solidFill>
                <a:latin typeface="Arial" pitchFamily="34" charset="0"/>
                <a:ea typeface="Arial" pitchFamily="34" charset="-122"/>
                <a:cs typeface="Arial" pitchFamily="34" charset="-120"/>
              </a:rPr>
              <a:t>READ 2 · TECHNICAL — WHERE DOES IT STAND TODAY?</a:t>
            </a:r>
            <a:endParaRPr lang="en-US" sz="1800" dirty="0"/>
          </a:p>
        </p:txBody>
      </p:sp>
      <p:sp>
        <p:nvSpPr>
          <p:cNvPr id="11" name="Text 9"/>
          <p:cNvSpPr/>
          <p:nvPr/>
        </p:nvSpPr>
        <p:spPr>
          <a:xfrm>
            <a:off x="1143000" y="5867684"/>
            <a:ext cx="7573927" cy="1152484"/>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Support, resistance, trend — the levels traders actually watch, computed from the same cleaned series, refreshed with every update.</a:t>
            </a:r>
            <a:endParaRPr lang="en-US" sz="1950" dirty="0"/>
          </a:p>
        </p:txBody>
      </p:sp>
      <p:sp>
        <p:nvSpPr>
          <p:cNvPr id="12" name="Shape 10"/>
          <p:cNvSpPr/>
          <p:nvPr/>
        </p:nvSpPr>
        <p:spPr>
          <a:xfrm>
            <a:off x="1143000" y="7077318"/>
            <a:ext cx="7353327" cy="17318"/>
          </a:xfrm>
          <a:prstGeom prst="rect">
            <a:avLst/>
          </a:prstGeom>
          <a:solidFill>
            <a:srgbClr val="102825">
              <a:alpha val="32000"/>
            </a:srgbClr>
          </a:solidFill>
          <a:ln/>
        </p:spPr>
      </p:sp>
      <p:sp>
        <p:nvSpPr>
          <p:cNvPr id="13" name="Text 11"/>
          <p:cNvSpPr/>
          <p:nvPr/>
        </p:nvSpPr>
        <p:spPr>
          <a:xfrm>
            <a:off x="1143000" y="7189887"/>
            <a:ext cx="8088659" cy="346648"/>
          </a:xfrm>
          <a:prstGeom prst="rect">
            <a:avLst/>
          </a:prstGeom>
          <a:noFill/>
          <a:ln/>
        </p:spPr>
        <p:txBody>
          <a:bodyPr wrap="square" lIns="25400" tIns="25400" rIns="25400" bIns="25400" rtlCol="0" anchor="t">
            <a:normAutofit/>
          </a:bodyPr>
          <a:lstStyle/>
          <a:p>
            <a:pPr algn="l" indent="0" marL="0">
              <a:lnSpc>
                <a:spcPct val="116852"/>
              </a:lnSpc>
              <a:buNone/>
            </a:pPr>
            <a:r>
              <a:rPr lang="en-US" sz="1800" spc="144" kern="0" dirty="0">
                <a:solidFill>
                  <a:srgbClr val="12796B"/>
                </a:solidFill>
                <a:latin typeface="Arial" pitchFamily="34" charset="0"/>
                <a:ea typeface="Arial" pitchFamily="34" charset="-122"/>
                <a:cs typeface="Arial" pitchFamily="34" charset="-120"/>
              </a:rPr>
              <a:t>READ 3 · SIMULATION — THE ODDS OF THE JOURNEY</a:t>
            </a:r>
            <a:endParaRPr lang="en-US" sz="1800" dirty="0"/>
          </a:p>
        </p:txBody>
      </p:sp>
      <p:sp>
        <p:nvSpPr>
          <p:cNvPr id="14" name="Text 12"/>
          <p:cNvSpPr/>
          <p:nvPr/>
        </p:nvSpPr>
        <p:spPr>
          <a:xfrm>
            <a:off x="1143000" y="7612693"/>
            <a:ext cx="7573927" cy="1152484"/>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50,000 Monte-Carlo paths per name, calibrated on up to 15 years of that stock’s own market — the odds of every price bracket on the road to fair value, over the next 1–3 months.</a:t>
            </a:r>
            <a:endParaRPr lang="en-US" sz="1950" dirty="0"/>
          </a:p>
        </p:txBody>
      </p:sp>
      <p:sp>
        <p:nvSpPr>
          <p:cNvPr id="15" name="Shape 13"/>
          <p:cNvSpPr/>
          <p:nvPr/>
        </p:nvSpPr>
        <p:spPr>
          <a:xfrm>
            <a:off x="9334499" y="3278751"/>
            <a:ext cx="7810500" cy="3782128"/>
          </a:xfrm>
          <a:prstGeom prst="rect">
            <a:avLst/>
          </a:prstGeom>
          <a:solidFill>
            <a:srgbClr val="FFFFFF"/>
          </a:solidFill>
          <a:ln w="17318">
            <a:solidFill>
              <a:srgbClr val="102825">
                <a:alpha val="32000"/>
              </a:srgbClr>
            </a:solidFill>
            <a:prstDash val="solid"/>
          </a:ln>
        </p:spPr>
      </p:sp>
      <p:sp>
        <p:nvSpPr>
          <p:cNvPr id="16" name="Shape 14"/>
          <p:cNvSpPr/>
          <p:nvPr/>
        </p:nvSpPr>
        <p:spPr>
          <a:xfrm>
            <a:off x="9351818" y="3296069"/>
            <a:ext cx="7775863" cy="975230"/>
          </a:xfrm>
          <a:prstGeom prst="rect">
            <a:avLst/>
          </a:prstGeom>
          <a:solidFill>
            <a:srgbClr val="12796B"/>
          </a:solidFill>
          <a:ln/>
        </p:spPr>
      </p:sp>
      <p:sp>
        <p:nvSpPr>
          <p:cNvPr id="17" name="Text 15"/>
          <p:cNvSpPr/>
          <p:nvPr/>
        </p:nvSpPr>
        <p:spPr>
          <a:xfrm>
            <a:off x="9580418" y="3429419"/>
            <a:ext cx="7551939" cy="746630"/>
          </a:xfrm>
          <a:prstGeom prst="rect">
            <a:avLst/>
          </a:prstGeom>
          <a:noFill/>
          <a:ln/>
        </p:spPr>
        <p:txBody>
          <a:bodyPr wrap="square" lIns="25400" tIns="25400" rIns="25400" bIns="25400" rtlCol="0" anchor="t">
            <a:normAutofit/>
          </a:bodyPr>
          <a:lstStyle/>
          <a:p>
            <a:pPr algn="l" indent="0" marL="0">
              <a:lnSpc>
                <a:spcPct val="134164"/>
              </a:lnSpc>
              <a:buNone/>
            </a:pPr>
            <a:r>
              <a:rPr lang="en-US" sz="1800" spc="144" kern="0" dirty="0">
                <a:solidFill>
                  <a:srgbClr val="FFFFFF"/>
                </a:solidFill>
                <a:latin typeface="Arial" pitchFamily="34" charset="0"/>
                <a:ea typeface="Arial" pitchFamily="34" charset="-122"/>
                <a:cs typeface="Arial" pitchFamily="34" charset="-120"/>
              </a:rPr>
              <a:t>THE LIVE READ — ADNOC LOGISTICS &amp; SERVICES · 3 MONTHS</a:t>
            </a:r>
            <a:endParaRPr lang="en-US" sz="1800" dirty="0"/>
          </a:p>
        </p:txBody>
      </p:sp>
      <p:sp>
        <p:nvSpPr>
          <p:cNvPr id="18" name="Shape 16"/>
          <p:cNvSpPr/>
          <p:nvPr/>
        </p:nvSpPr>
        <p:spPr>
          <a:xfrm>
            <a:off x="9351818" y="4271299"/>
            <a:ext cx="7775863" cy="9525"/>
          </a:xfrm>
          <a:prstGeom prst="rect">
            <a:avLst/>
          </a:prstGeom>
          <a:solidFill>
            <a:srgbClr val="102825">
              <a:alpha val="32000"/>
            </a:srgbClr>
          </a:solidFill>
          <a:ln/>
        </p:spPr>
      </p:sp>
      <p:sp>
        <p:nvSpPr>
          <p:cNvPr id="19" name="Text 17"/>
          <p:cNvSpPr/>
          <p:nvPr/>
        </p:nvSpPr>
        <p:spPr>
          <a:xfrm>
            <a:off x="9580404" y="4457470"/>
            <a:ext cx="1249236"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Latest price</a:t>
            </a:r>
            <a:endParaRPr lang="en-US" sz="1800" dirty="0"/>
          </a:p>
        </p:txBody>
      </p:sp>
      <p:sp>
        <p:nvSpPr>
          <p:cNvPr id="20" name="Text 18"/>
          <p:cNvSpPr/>
          <p:nvPr/>
        </p:nvSpPr>
        <p:spPr>
          <a:xfrm>
            <a:off x="13266200" y="4422834"/>
            <a:ext cx="3632894" cy="436756"/>
          </a:xfrm>
          <a:prstGeom prst="rect">
            <a:avLst/>
          </a:prstGeom>
          <a:noFill/>
          <a:ln/>
        </p:spPr>
        <p:txBody>
          <a:bodyPr wrap="square" lIns="25400" tIns="25400" rIns="25400" bIns="25400" rtlCol="0" anchor="t">
            <a:normAutofit/>
          </a:bodyPr>
          <a:lstStyle/>
          <a:p>
            <a:pPr algn="r" indent="0" marL="0">
              <a:lnSpc>
                <a:spcPct val="133435"/>
              </a:lnSpc>
              <a:buNone/>
            </a:pPr>
            <a:r>
              <a:rPr lang="en-US" sz="2025" b="1" dirty="0">
                <a:solidFill>
                  <a:srgbClr val="0E2726"/>
                </a:solidFill>
                <a:latin typeface="Arial" pitchFamily="34" charset="0"/>
                <a:ea typeface="Arial" pitchFamily="34" charset="-122"/>
                <a:cs typeface="Arial" pitchFamily="34" charset="-120"/>
              </a:rPr>
              <a:t>AED 6.16 · close 7 Aug 2026</a:t>
            </a:r>
            <a:endParaRPr lang="en-US" sz="2025" dirty="0"/>
          </a:p>
        </p:txBody>
      </p:sp>
      <p:sp>
        <p:nvSpPr>
          <p:cNvPr id="21" name="Shape 19"/>
          <p:cNvSpPr/>
          <p:nvPr/>
        </p:nvSpPr>
        <p:spPr>
          <a:xfrm>
            <a:off x="9351818" y="4964365"/>
            <a:ext cx="7775863" cy="9525"/>
          </a:xfrm>
          <a:prstGeom prst="rect">
            <a:avLst/>
          </a:prstGeom>
          <a:solidFill>
            <a:srgbClr val="102825">
              <a:alpha val="32000"/>
            </a:srgbClr>
          </a:solidFill>
          <a:ln/>
        </p:spPr>
      </p:sp>
      <p:sp>
        <p:nvSpPr>
          <p:cNvPr id="22" name="Text 20"/>
          <p:cNvSpPr/>
          <p:nvPr/>
        </p:nvSpPr>
        <p:spPr>
          <a:xfrm>
            <a:off x="9580404" y="5150536"/>
            <a:ext cx="2843584"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Chance higher than today</a:t>
            </a:r>
            <a:endParaRPr lang="en-US" sz="1800" dirty="0"/>
          </a:p>
        </p:txBody>
      </p:sp>
      <p:sp>
        <p:nvSpPr>
          <p:cNvPr id="23" name="Text 21"/>
          <p:cNvSpPr/>
          <p:nvPr/>
        </p:nvSpPr>
        <p:spPr>
          <a:xfrm>
            <a:off x="16308152" y="5115899"/>
            <a:ext cx="590942" cy="436756"/>
          </a:xfrm>
          <a:prstGeom prst="rect">
            <a:avLst/>
          </a:prstGeom>
          <a:noFill/>
          <a:ln/>
        </p:spPr>
        <p:txBody>
          <a:bodyPr wrap="square" lIns="25400" tIns="25400" rIns="25400" bIns="25400" rtlCol="0" anchor="t">
            <a:normAutofit/>
          </a:bodyPr>
          <a:lstStyle/>
          <a:p>
            <a:pPr algn="r" indent="0" marL="0">
              <a:lnSpc>
                <a:spcPct val="133435"/>
              </a:lnSpc>
              <a:buNone/>
            </a:pPr>
            <a:r>
              <a:rPr lang="en-US" sz="2025" b="1" dirty="0">
                <a:solidFill>
                  <a:srgbClr val="0E2726"/>
                </a:solidFill>
                <a:latin typeface="Arial" pitchFamily="34" charset="0"/>
                <a:ea typeface="Arial" pitchFamily="34" charset="-122"/>
                <a:cs typeface="Arial" pitchFamily="34" charset="-120"/>
              </a:rPr>
              <a:t>51%</a:t>
            </a:r>
            <a:endParaRPr lang="en-US" sz="2025" dirty="0"/>
          </a:p>
        </p:txBody>
      </p:sp>
      <p:sp>
        <p:nvSpPr>
          <p:cNvPr id="24" name="Shape 22"/>
          <p:cNvSpPr/>
          <p:nvPr/>
        </p:nvSpPr>
        <p:spPr>
          <a:xfrm>
            <a:off x="9351818" y="5657430"/>
            <a:ext cx="7775863" cy="9525"/>
          </a:xfrm>
          <a:prstGeom prst="rect">
            <a:avLst/>
          </a:prstGeom>
          <a:solidFill>
            <a:srgbClr val="102825">
              <a:alpha val="32000"/>
            </a:srgbClr>
          </a:solidFill>
          <a:ln/>
        </p:spPr>
      </p:sp>
      <p:sp>
        <p:nvSpPr>
          <p:cNvPr id="25" name="Text 23"/>
          <p:cNvSpPr/>
          <p:nvPr/>
        </p:nvSpPr>
        <p:spPr>
          <a:xfrm>
            <a:off x="9580404" y="5843601"/>
            <a:ext cx="3675162"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+10% or better vs −10% or worse</a:t>
            </a:r>
            <a:endParaRPr lang="en-US" sz="1800" dirty="0"/>
          </a:p>
        </p:txBody>
      </p:sp>
      <p:sp>
        <p:nvSpPr>
          <p:cNvPr id="26" name="Text 24"/>
          <p:cNvSpPr/>
          <p:nvPr/>
        </p:nvSpPr>
        <p:spPr>
          <a:xfrm>
            <a:off x="13818874" y="5808965"/>
            <a:ext cx="3080221" cy="436756"/>
          </a:xfrm>
          <a:prstGeom prst="rect">
            <a:avLst/>
          </a:prstGeom>
          <a:noFill/>
          <a:ln/>
        </p:spPr>
        <p:txBody>
          <a:bodyPr wrap="none" lIns="25400" tIns="25400" rIns="25400" bIns="25400" rtlCol="0" anchor="t">
            <a:normAutofit/>
          </a:bodyPr>
          <a:lstStyle/>
          <a:p>
            <a:pPr algn="r" indent="0" marL="0">
              <a:lnSpc>
                <a:spcPct val="133435"/>
              </a:lnSpc>
              <a:buNone/>
            </a:pPr>
            <a:r>
              <a:rPr lang="en-US" sz="2025" b="1" dirty="0">
                <a:solidFill>
                  <a:srgbClr val="0E5C51"/>
                </a:solidFill>
                <a:latin typeface="Arial" pitchFamily="34" charset="0"/>
                <a:ea typeface="Arial" pitchFamily="34" charset="-122"/>
                <a:cs typeface="Arial" pitchFamily="34" charset="-120"/>
              </a:rPr>
              <a:t>24% vs 22% </a:t>
            </a:r>
            <a:pPr algn="r" indent="0" marL="0">
              <a:lnSpc>
                <a:spcPct val="133435"/>
              </a:lnSpc>
              <a:buNone/>
            </a:pPr>
            <a:r>
              <a:rPr lang="en-US" sz="2025" b="1" dirty="0">
                <a:solidFill>
                  <a:srgbClr val="0E2726"/>
                </a:solidFill>
                <a:latin typeface="Arial" pitchFamily="34" charset="0"/>
                <a:ea typeface="Arial" pitchFamily="34" charset="-122"/>
                <a:cs typeface="Arial" pitchFamily="34" charset="-120"/>
              </a:rPr>
              <a:t>· ≈ 1.1:1 up</a:t>
            </a:r>
            <a:endParaRPr lang="en-US" sz="2025" dirty="0"/>
          </a:p>
        </p:txBody>
      </p:sp>
      <p:sp>
        <p:nvSpPr>
          <p:cNvPr id="27" name="Shape 25"/>
          <p:cNvSpPr/>
          <p:nvPr/>
        </p:nvSpPr>
        <p:spPr>
          <a:xfrm>
            <a:off x="9351818" y="6350496"/>
            <a:ext cx="7775863" cy="9525"/>
          </a:xfrm>
          <a:prstGeom prst="rect">
            <a:avLst/>
          </a:prstGeom>
          <a:solidFill>
            <a:srgbClr val="102825">
              <a:alpha val="32000"/>
            </a:srgbClr>
          </a:solidFill>
          <a:ln/>
        </p:spPr>
      </p:sp>
      <p:sp>
        <p:nvSpPr>
          <p:cNvPr id="28" name="Text 26"/>
          <p:cNvSpPr/>
          <p:nvPr/>
        </p:nvSpPr>
        <p:spPr>
          <a:xfrm>
            <a:off x="9580404" y="6536666"/>
            <a:ext cx="3419177"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Bad case · good case (1-in-20)</a:t>
            </a:r>
            <a:endParaRPr lang="en-US" sz="1800" dirty="0"/>
          </a:p>
        </p:txBody>
      </p:sp>
      <p:sp>
        <p:nvSpPr>
          <p:cNvPr id="29" name="Text 27"/>
          <p:cNvSpPr/>
          <p:nvPr/>
        </p:nvSpPr>
        <p:spPr>
          <a:xfrm>
            <a:off x="13580897" y="6502030"/>
            <a:ext cx="3318197" cy="436756"/>
          </a:xfrm>
          <a:prstGeom prst="rect">
            <a:avLst/>
          </a:prstGeom>
          <a:noFill/>
          <a:ln/>
        </p:spPr>
        <p:txBody>
          <a:bodyPr wrap="square" lIns="25400" tIns="25400" rIns="25400" bIns="25400" rtlCol="0" anchor="t">
            <a:normAutofit/>
          </a:bodyPr>
          <a:lstStyle/>
          <a:p>
            <a:pPr algn="r" indent="0" marL="0">
              <a:lnSpc>
                <a:spcPct val="133435"/>
              </a:lnSpc>
              <a:buNone/>
            </a:pPr>
            <a:r>
              <a:rPr lang="en-US" sz="2025" b="1" dirty="0">
                <a:solidFill>
                  <a:srgbClr val="0E2726"/>
                </a:solidFill>
                <a:latin typeface="Arial" pitchFamily="34" charset="0"/>
                <a:ea typeface="Arial" pitchFamily="34" charset="-122"/>
                <a:cs typeface="Arial" pitchFamily="34" charset="-120"/>
              </a:rPr>
              <a:t>4.95 · 7.73 (−20% / +25%)</a:t>
            </a:r>
            <a:endParaRPr lang="en-US" sz="2025" dirty="0"/>
          </a:p>
        </p:txBody>
      </p:sp>
      <p:sp>
        <p:nvSpPr>
          <p:cNvPr id="30" name="Text 28"/>
          <p:cNvSpPr/>
          <p:nvPr/>
        </p:nvSpPr>
        <p:spPr>
          <a:xfrm>
            <a:off x="9334499" y="7175139"/>
            <a:ext cx="8044815" cy="78102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B7270"/>
                </a:solidFill>
                <a:latin typeface="Arial" pitchFamily="34" charset="0"/>
                <a:ea typeface="Arial" pitchFamily="34" charset="-122"/>
                <a:cs typeface="Arial" pitchFamily="34" charset="-120"/>
              </a:rPr>
              <a:t>Live read as computed by testahil.com on the 7-Aug close (simulation run 10 Aug 2026) — the same numbers the public sees.</a:t>
            </a:r>
            <a:endParaRPr lang="en-US" sz="1950" dirty="0"/>
          </a:p>
        </p:txBody>
      </p:sp>
      <p:sp>
        <p:nvSpPr>
          <p:cNvPr id="31" name="Shape 29"/>
          <p:cNvSpPr/>
          <p:nvPr/>
        </p:nvSpPr>
        <p:spPr>
          <a:xfrm>
            <a:off x="1143000" y="8974674"/>
            <a:ext cx="12954000" cy="17318"/>
          </a:xfrm>
          <a:prstGeom prst="rect">
            <a:avLst/>
          </a:prstGeom>
          <a:solidFill>
            <a:srgbClr val="102825">
              <a:alpha val="32000"/>
            </a:srgbClr>
          </a:solidFill>
          <a:ln/>
        </p:spPr>
      </p:sp>
      <p:sp>
        <p:nvSpPr>
          <p:cNvPr id="32" name="Text 30"/>
          <p:cNvSpPr/>
          <p:nvPr/>
        </p:nvSpPr>
        <p:spPr>
          <a:xfrm>
            <a:off x="1143000" y="9163442"/>
            <a:ext cx="13342620" cy="397155"/>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5C51"/>
                </a:solidFill>
                <a:latin typeface="Arial" pitchFamily="34" charset="0"/>
                <a:ea typeface="Arial" pitchFamily="34" charset="-122"/>
                <a:cs typeface="Arial" pitchFamily="34" charset="-120"/>
              </a:rPr>
              <a:t>It never says buy. It says 24% vs 22% — how likely, and by when.</a:t>
            </a:r>
            <a:endParaRPr lang="en-US" sz="1950" dirty="0"/>
          </a:p>
        </p:txBody>
      </p:sp>
      <p:sp>
        <p:nvSpPr>
          <p:cNvPr id="33" name="Text 31"/>
          <p:cNvSpPr/>
          <p:nvPr/>
        </p:nvSpPr>
        <p:spPr>
          <a:xfrm>
            <a:off x="13285217" y="9570798"/>
            <a:ext cx="3859783"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05 · HOW IT’S BUILT</a:t>
            </a:r>
            <a:endParaRPr lang="en-US" sz="1800" dirty="0"/>
          </a:p>
        </p:txBody>
      </p:sp>
      <p:sp>
        <p:nvSpPr>
          <p:cNvPr id="3" name="Text 1"/>
          <p:cNvSpPr/>
          <p:nvPr/>
        </p:nvSpPr>
        <p:spPr>
          <a:xfrm>
            <a:off x="16082773" y="133336"/>
            <a:ext cx="1138427" cy="1028686"/>
          </a:xfrm>
          <a:prstGeom prst="rect">
            <a:avLst/>
          </a:prstGeom>
          <a:noFill/>
          <a:ln/>
        </p:spPr>
        <p:txBody>
          <a:bodyPr wrap="square" lIns="25400" tIns="25400" rIns="25400" bIns="25400" rtlCol="0" anchor="t">
            <a:normAutofit/>
          </a:bodyPr>
          <a:lstStyle/>
          <a:p>
            <a:pPr algn="l" indent="0" marL="0">
              <a:lnSpc>
                <a:spcPct val="87328"/>
              </a:lnSpc>
              <a:buNone/>
            </a:pPr>
            <a:r>
              <a:rPr lang="en-US" sz="7800" b="1" spc="-156" kern="0" dirty="0">
                <a:solidFill>
                  <a:srgbClr val="12796B"/>
                </a:solidFill>
                <a:latin typeface="Arial" pitchFamily="34" charset="0"/>
                <a:ea typeface="Arial" pitchFamily="34" charset="-122"/>
                <a:cs typeface="Arial" pitchFamily="34" charset="-120"/>
              </a:rPr>
              <a:t>05</a:t>
            </a:r>
            <a:endParaRPr lang="en-US" sz="7800" dirty="0"/>
          </a:p>
        </p:txBody>
      </p:sp>
      <p:sp>
        <p:nvSpPr>
          <p:cNvPr id="4" name="Text 2"/>
          <p:cNvSpPr/>
          <p:nvPr/>
        </p:nvSpPr>
        <p:spPr>
          <a:xfrm>
            <a:off x="1143000" y="1790673"/>
            <a:ext cx="17602200" cy="699506"/>
          </a:xfrm>
          <a:prstGeom prst="rect">
            <a:avLst/>
          </a:prstGeom>
          <a:noFill/>
          <a:ln/>
        </p:spPr>
        <p:txBody>
          <a:bodyPr wrap="square" lIns="25400" tIns="25400" rIns="25400" bIns="25400" rtlCol="0" anchor="t">
            <a:normAutofit/>
          </a:bodyPr>
          <a:lstStyle/>
          <a:p>
            <a:pPr algn="l" indent="0" marL="0">
              <a:lnSpc>
                <a:spcPct val="97928"/>
              </a:lnSpc>
              <a:buNone/>
            </a:pPr>
            <a:r>
              <a:rPr lang="en-US" sz="4650" b="1" spc="-70" kern="0" dirty="0">
                <a:solidFill>
                  <a:srgbClr val="0E2726"/>
                </a:solidFill>
                <a:latin typeface="Arial" pitchFamily="34" charset="0"/>
                <a:ea typeface="Arial" pitchFamily="34" charset="-122"/>
                <a:cs typeface="Arial" pitchFamily="34" charset="-120"/>
              </a:rPr>
              <a:t>What we built — and what we rejected.</a:t>
            </a:r>
            <a:endParaRPr lang="en-US" sz="4650" dirty="0"/>
          </a:p>
        </p:txBody>
      </p:sp>
      <p:sp>
        <p:nvSpPr>
          <p:cNvPr id="5" name="Text 3"/>
          <p:cNvSpPr/>
          <p:nvPr/>
        </p:nvSpPr>
        <p:spPr>
          <a:xfrm>
            <a:off x="1143000" y="2680665"/>
            <a:ext cx="14228490" cy="346648"/>
          </a:xfrm>
          <a:prstGeom prst="rect">
            <a:avLst/>
          </a:prstGeom>
          <a:noFill/>
          <a:ln/>
        </p:spPr>
        <p:txBody>
          <a:bodyPr wrap="square" lIns="25400" tIns="25400" rIns="25400" bIns="25400" rtlCol="0" anchor="t">
            <a:normAutofit/>
          </a:bodyPr>
          <a:lstStyle/>
          <a:p>
            <a:pPr algn="l" indent="0" marL="0">
              <a:lnSpc>
                <a:spcPct val="116852"/>
              </a:lnSpc>
              <a:buNone/>
            </a:pPr>
            <a:r>
              <a:rPr lang="en-US" sz="1800" spc="144" kern="0" dirty="0">
                <a:solidFill>
                  <a:srgbClr val="12796B"/>
                </a:solidFill>
                <a:latin typeface="Arial" pitchFamily="34" charset="0"/>
                <a:ea typeface="Arial" pitchFamily="34" charset="-122"/>
                <a:cs typeface="Arial" pitchFamily="34" charset="-120"/>
              </a:rPr>
              <a:t>FILINGS — THE FUNDAMENTAL READ</a:t>
            </a:r>
            <a:endParaRPr lang="en-US" sz="1800" dirty="0"/>
          </a:p>
        </p:txBody>
      </p:sp>
      <p:sp>
        <p:nvSpPr>
          <p:cNvPr id="6" name="Shape 4"/>
          <p:cNvSpPr/>
          <p:nvPr/>
        </p:nvSpPr>
        <p:spPr>
          <a:xfrm>
            <a:off x="1143000" y="3065386"/>
            <a:ext cx="2833688" cy="1626962"/>
          </a:xfrm>
          <a:prstGeom prst="rect">
            <a:avLst/>
          </a:prstGeom>
          <a:solidFill>
            <a:srgbClr val="FFFFFF"/>
          </a:solidFill>
          <a:ln w="17318">
            <a:solidFill>
              <a:srgbClr val="102825">
                <a:alpha val="32000"/>
              </a:srgbClr>
            </a:solidFill>
            <a:prstDash val="solid"/>
          </a:ln>
        </p:spPr>
        <p:txBody>
          <a:bodyPr/>
          <a:p/>
        </p:txBody>
      </p:sp>
      <p:sp>
        <p:nvSpPr>
          <p:cNvPr id="7" name="Text 5"/>
          <p:cNvSpPr/>
          <p:nvPr/>
        </p:nvSpPr>
        <p:spPr>
          <a:xfrm>
            <a:off x="1369828" y="3235050"/>
            <a:ext cx="2618035"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OFFICIAL FILINGS</a:t>
            </a:r>
            <a:endParaRPr lang="en-US" sz="1950" dirty="0"/>
          </a:p>
        </p:txBody>
      </p:sp>
      <p:sp>
        <p:nvSpPr>
          <p:cNvPr id="8" name="Text 6"/>
          <p:cNvSpPr/>
          <p:nvPr/>
        </p:nvSpPr>
        <p:spPr>
          <a:xfrm>
            <a:off x="1369828" y="3608405"/>
            <a:ext cx="2456232"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audited accounts — never vendor feeds</a:t>
            </a:r>
            <a:endParaRPr lang="en-US" sz="1800" dirty="0"/>
          </a:p>
        </p:txBody>
      </p:sp>
      <p:sp>
        <p:nvSpPr>
          <p:cNvPr id="9" name="Text 7"/>
          <p:cNvSpPr/>
          <p:nvPr/>
        </p:nvSpPr>
        <p:spPr>
          <a:xfrm>
            <a:off x="4071938" y="3065386"/>
            <a:ext cx="419114" cy="1665062"/>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10" name="Shape 8"/>
          <p:cNvSpPr/>
          <p:nvPr/>
        </p:nvSpPr>
        <p:spPr>
          <a:xfrm>
            <a:off x="4510101" y="3065386"/>
            <a:ext cx="2833688" cy="1626962"/>
          </a:xfrm>
          <a:prstGeom prst="rect">
            <a:avLst/>
          </a:prstGeom>
          <a:solidFill>
            <a:srgbClr val="FFFFFF"/>
          </a:solidFill>
          <a:ln w="17318">
            <a:solidFill>
              <a:srgbClr val="102825">
                <a:alpha val="32000"/>
              </a:srgbClr>
            </a:solidFill>
            <a:prstDash val="solid"/>
          </a:ln>
        </p:spPr>
        <p:txBody>
          <a:bodyPr/>
          <a:p/>
        </p:txBody>
      </p:sp>
      <p:sp>
        <p:nvSpPr>
          <p:cNvPr id="11" name="Text 9"/>
          <p:cNvSpPr/>
          <p:nvPr/>
        </p:nvSpPr>
        <p:spPr>
          <a:xfrm>
            <a:off x="4736929" y="3235050"/>
            <a:ext cx="2456232" cy="632465"/>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GROUND-UP MODEL</a:t>
            </a:r>
            <a:endParaRPr lang="en-US" sz="1950" dirty="0"/>
          </a:p>
        </p:txBody>
      </p:sp>
      <p:sp>
        <p:nvSpPr>
          <p:cNvPr id="12" name="Text 10"/>
          <p:cNvSpPr/>
          <p:nvPr/>
        </p:nvSpPr>
        <p:spPr>
          <a:xfrm>
            <a:off x="4736929" y="3905588"/>
            <a:ext cx="2456232"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volume × price · cost per unit</a:t>
            </a:r>
            <a:endParaRPr lang="en-US" sz="1800" dirty="0"/>
          </a:p>
        </p:txBody>
      </p:sp>
      <p:sp>
        <p:nvSpPr>
          <p:cNvPr id="13" name="Text 11"/>
          <p:cNvSpPr/>
          <p:nvPr/>
        </p:nvSpPr>
        <p:spPr>
          <a:xfrm>
            <a:off x="7439038" y="3065386"/>
            <a:ext cx="419114" cy="1665062"/>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14" name="Shape 12"/>
          <p:cNvSpPr/>
          <p:nvPr/>
        </p:nvSpPr>
        <p:spPr>
          <a:xfrm>
            <a:off x="7877202" y="3065386"/>
            <a:ext cx="2833688" cy="1626962"/>
          </a:xfrm>
          <a:prstGeom prst="rect">
            <a:avLst/>
          </a:prstGeom>
          <a:solidFill>
            <a:srgbClr val="FFFFFF"/>
          </a:solidFill>
          <a:ln w="17318">
            <a:solidFill>
              <a:srgbClr val="102825">
                <a:alpha val="32000"/>
              </a:srgbClr>
            </a:solidFill>
            <a:prstDash val="solid"/>
          </a:ln>
        </p:spPr>
        <p:txBody>
          <a:bodyPr/>
          <a:p/>
        </p:txBody>
      </p:sp>
      <p:sp>
        <p:nvSpPr>
          <p:cNvPr id="15" name="Text 13"/>
          <p:cNvSpPr/>
          <p:nvPr/>
        </p:nvSpPr>
        <p:spPr>
          <a:xfrm>
            <a:off x="8104029" y="3235050"/>
            <a:ext cx="2618035"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LIVE DCF CHAIN</a:t>
            </a:r>
            <a:endParaRPr lang="en-US" sz="1950" dirty="0"/>
          </a:p>
        </p:txBody>
      </p:sp>
      <p:sp>
        <p:nvSpPr>
          <p:cNvPr id="16" name="Text 14"/>
          <p:cNvSpPr/>
          <p:nvPr/>
        </p:nvSpPr>
        <p:spPr>
          <a:xfrm>
            <a:off x="8104029" y="3608405"/>
            <a:ext cx="2456232"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drivers → IS → BS → CF → DCF</a:t>
            </a:r>
            <a:endParaRPr lang="en-US" sz="1800" dirty="0"/>
          </a:p>
        </p:txBody>
      </p:sp>
      <p:sp>
        <p:nvSpPr>
          <p:cNvPr id="17" name="Text 15"/>
          <p:cNvSpPr/>
          <p:nvPr/>
        </p:nvSpPr>
        <p:spPr>
          <a:xfrm>
            <a:off x="10806139" y="3065386"/>
            <a:ext cx="419114" cy="1665062"/>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18" name="Shape 16"/>
          <p:cNvSpPr/>
          <p:nvPr/>
        </p:nvSpPr>
        <p:spPr>
          <a:xfrm>
            <a:off x="11244303" y="3065386"/>
            <a:ext cx="2833688" cy="1626962"/>
          </a:xfrm>
          <a:prstGeom prst="rect">
            <a:avLst/>
          </a:prstGeom>
          <a:solidFill>
            <a:srgbClr val="FFFFFF"/>
          </a:solidFill>
          <a:ln w="17318">
            <a:solidFill>
              <a:srgbClr val="102825">
                <a:alpha val="32000"/>
              </a:srgbClr>
            </a:solidFill>
            <a:prstDash val="solid"/>
          </a:ln>
        </p:spPr>
        <p:txBody>
          <a:bodyPr/>
          <a:p/>
        </p:txBody>
      </p:sp>
      <p:sp>
        <p:nvSpPr>
          <p:cNvPr id="19" name="Text 17"/>
          <p:cNvSpPr/>
          <p:nvPr/>
        </p:nvSpPr>
        <p:spPr>
          <a:xfrm>
            <a:off x="11471130" y="3235050"/>
            <a:ext cx="2456232" cy="632465"/>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FAIR-VALUE RANGE</a:t>
            </a:r>
            <a:endParaRPr lang="en-US" sz="1950" dirty="0"/>
          </a:p>
        </p:txBody>
      </p:sp>
      <p:sp>
        <p:nvSpPr>
          <p:cNvPr id="20" name="Text 18"/>
          <p:cNvSpPr/>
          <p:nvPr/>
        </p:nvSpPr>
        <p:spPr>
          <a:xfrm>
            <a:off x="11471130" y="3905588"/>
            <a:ext cx="2456232"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never a point · never a target</a:t>
            </a:r>
            <a:endParaRPr lang="en-US" sz="1800" dirty="0"/>
          </a:p>
        </p:txBody>
      </p:sp>
      <p:sp>
        <p:nvSpPr>
          <p:cNvPr id="21" name="Text 19"/>
          <p:cNvSpPr/>
          <p:nvPr/>
        </p:nvSpPr>
        <p:spPr>
          <a:xfrm>
            <a:off x="1143000" y="4844694"/>
            <a:ext cx="14228490" cy="346648"/>
          </a:xfrm>
          <a:prstGeom prst="rect">
            <a:avLst/>
          </a:prstGeom>
          <a:noFill/>
          <a:ln/>
        </p:spPr>
        <p:txBody>
          <a:bodyPr wrap="square" lIns="25400" tIns="25400" rIns="25400" bIns="25400" rtlCol="0" anchor="t">
            <a:normAutofit/>
          </a:bodyPr>
          <a:lstStyle/>
          <a:p>
            <a:pPr algn="l" indent="0" marL="0">
              <a:lnSpc>
                <a:spcPct val="116852"/>
              </a:lnSpc>
              <a:buNone/>
            </a:pPr>
            <a:r>
              <a:rPr lang="en-US" sz="1800" spc="144" kern="0" dirty="0">
                <a:solidFill>
                  <a:srgbClr val="12796B"/>
                </a:solidFill>
                <a:latin typeface="Arial" pitchFamily="34" charset="0"/>
                <a:ea typeface="Arial" pitchFamily="34" charset="-122"/>
                <a:cs typeface="Arial" pitchFamily="34" charset="-120"/>
              </a:rPr>
              <a:t>PRICES — THE TECHNICAL &amp; SIMULATION READS</a:t>
            </a:r>
            <a:endParaRPr lang="en-US" sz="1800" dirty="0"/>
          </a:p>
        </p:txBody>
      </p:sp>
      <p:sp>
        <p:nvSpPr>
          <p:cNvPr id="22" name="Shape 20"/>
          <p:cNvSpPr/>
          <p:nvPr/>
        </p:nvSpPr>
        <p:spPr>
          <a:xfrm>
            <a:off x="1143000" y="5229414"/>
            <a:ext cx="2160240" cy="1638327"/>
          </a:xfrm>
          <a:prstGeom prst="rect">
            <a:avLst/>
          </a:prstGeom>
          <a:solidFill>
            <a:srgbClr val="FFFFFF"/>
          </a:solidFill>
          <a:ln w="17318">
            <a:solidFill>
              <a:srgbClr val="102825">
                <a:alpha val="32000"/>
              </a:srgbClr>
            </a:solidFill>
            <a:prstDash val="solid"/>
          </a:ln>
        </p:spPr>
        <p:txBody>
          <a:bodyPr/>
          <a:p/>
        </p:txBody>
      </p:sp>
      <p:sp>
        <p:nvSpPr>
          <p:cNvPr id="23" name="Text 21"/>
          <p:cNvSpPr/>
          <p:nvPr/>
        </p:nvSpPr>
        <p:spPr>
          <a:xfrm>
            <a:off x="1369828" y="5399078"/>
            <a:ext cx="1877243"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RAW PRICES</a:t>
            </a:r>
            <a:endParaRPr lang="en-US" sz="1950" dirty="0"/>
          </a:p>
        </p:txBody>
      </p:sp>
      <p:sp>
        <p:nvSpPr>
          <p:cNvPr id="24" name="Text 22"/>
          <p:cNvSpPr/>
          <p:nvPr/>
        </p:nvSpPr>
        <p:spPr>
          <a:xfrm>
            <a:off x="1369828" y="5772434"/>
            <a:ext cx="1782785"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every session — up to 15 years</a:t>
            </a:r>
            <a:endParaRPr lang="en-US" sz="1800" dirty="0"/>
          </a:p>
        </p:txBody>
      </p:sp>
      <p:sp>
        <p:nvSpPr>
          <p:cNvPr id="25" name="Text 23"/>
          <p:cNvSpPr/>
          <p:nvPr/>
        </p:nvSpPr>
        <p:spPr>
          <a:xfrm>
            <a:off x="3398490" y="5229414"/>
            <a:ext cx="419114" cy="1676427"/>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26" name="Shape 24"/>
          <p:cNvSpPr/>
          <p:nvPr/>
        </p:nvSpPr>
        <p:spPr>
          <a:xfrm>
            <a:off x="3836654" y="5229414"/>
            <a:ext cx="2160308" cy="1638327"/>
          </a:xfrm>
          <a:prstGeom prst="rect">
            <a:avLst/>
          </a:prstGeom>
          <a:solidFill>
            <a:srgbClr val="FFFFFF"/>
          </a:solidFill>
          <a:ln w="17318">
            <a:solidFill>
              <a:srgbClr val="102825">
                <a:alpha val="32000"/>
              </a:srgbClr>
            </a:solidFill>
            <a:prstDash val="solid"/>
          </a:ln>
        </p:spPr>
        <p:txBody>
          <a:bodyPr/>
          <a:p/>
        </p:txBody>
      </p:sp>
      <p:sp>
        <p:nvSpPr>
          <p:cNvPr id="27" name="Text 25"/>
          <p:cNvSpPr/>
          <p:nvPr/>
        </p:nvSpPr>
        <p:spPr>
          <a:xfrm>
            <a:off x="4063481" y="5399078"/>
            <a:ext cx="1877318"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STEP-0 GATE</a:t>
            </a:r>
            <a:endParaRPr lang="en-US" sz="1950" dirty="0"/>
          </a:p>
        </p:txBody>
      </p:sp>
      <p:sp>
        <p:nvSpPr>
          <p:cNvPr id="28" name="Text 26"/>
          <p:cNvSpPr/>
          <p:nvPr/>
        </p:nvSpPr>
        <p:spPr>
          <a:xfrm>
            <a:off x="4063481" y="5772434"/>
            <a:ext cx="1782853" cy="963743"/>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exchange limits catch impossible moves</a:t>
            </a:r>
            <a:endParaRPr lang="en-US" sz="1800" dirty="0"/>
          </a:p>
        </p:txBody>
      </p:sp>
      <p:sp>
        <p:nvSpPr>
          <p:cNvPr id="29" name="Text 27"/>
          <p:cNvSpPr/>
          <p:nvPr/>
        </p:nvSpPr>
        <p:spPr>
          <a:xfrm>
            <a:off x="6092211" y="5229414"/>
            <a:ext cx="419114" cy="1676427"/>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30" name="Shape 28"/>
          <p:cNvSpPr/>
          <p:nvPr/>
        </p:nvSpPr>
        <p:spPr>
          <a:xfrm>
            <a:off x="6530375" y="5229414"/>
            <a:ext cx="2160240" cy="1638327"/>
          </a:xfrm>
          <a:prstGeom prst="rect">
            <a:avLst/>
          </a:prstGeom>
          <a:solidFill>
            <a:srgbClr val="FFFFFF"/>
          </a:solidFill>
          <a:ln w="17318">
            <a:solidFill>
              <a:srgbClr val="102825">
                <a:alpha val="32000"/>
              </a:srgbClr>
            </a:solidFill>
            <a:prstDash val="solid"/>
          </a:ln>
        </p:spPr>
        <p:txBody>
          <a:bodyPr/>
          <a:p/>
        </p:txBody>
      </p:sp>
      <p:sp>
        <p:nvSpPr>
          <p:cNvPr id="31" name="Text 29"/>
          <p:cNvSpPr/>
          <p:nvPr/>
        </p:nvSpPr>
        <p:spPr>
          <a:xfrm>
            <a:off x="6757203" y="5399078"/>
            <a:ext cx="1877243"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50,000 PATHS</a:t>
            </a:r>
            <a:endParaRPr lang="en-US" sz="1950" dirty="0"/>
          </a:p>
        </p:txBody>
      </p:sp>
      <p:sp>
        <p:nvSpPr>
          <p:cNvPr id="32" name="Text 30"/>
          <p:cNvSpPr/>
          <p:nvPr/>
        </p:nvSpPr>
        <p:spPr>
          <a:xfrm>
            <a:off x="6757203" y="5772434"/>
            <a:ext cx="1782785" cy="963743"/>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carry-anchored YZ-HAR-t · fixed seed</a:t>
            </a:r>
            <a:endParaRPr lang="en-US" sz="1800" dirty="0"/>
          </a:p>
        </p:txBody>
      </p:sp>
      <p:sp>
        <p:nvSpPr>
          <p:cNvPr id="33" name="Text 31"/>
          <p:cNvSpPr/>
          <p:nvPr/>
        </p:nvSpPr>
        <p:spPr>
          <a:xfrm>
            <a:off x="8785865" y="5229414"/>
            <a:ext cx="419114" cy="1676427"/>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34" name="Shape 32"/>
          <p:cNvSpPr/>
          <p:nvPr/>
        </p:nvSpPr>
        <p:spPr>
          <a:xfrm>
            <a:off x="9224029" y="5229414"/>
            <a:ext cx="2160308" cy="1638327"/>
          </a:xfrm>
          <a:prstGeom prst="rect">
            <a:avLst/>
          </a:prstGeom>
          <a:solidFill>
            <a:srgbClr val="FFFFFF"/>
          </a:solidFill>
          <a:ln w="17318">
            <a:solidFill>
              <a:srgbClr val="102825">
                <a:alpha val="32000"/>
              </a:srgbClr>
            </a:solidFill>
            <a:prstDash val="solid"/>
          </a:ln>
        </p:spPr>
        <p:txBody>
          <a:bodyPr/>
          <a:p/>
        </p:txBody>
      </p:sp>
      <p:sp>
        <p:nvSpPr>
          <p:cNvPr id="35" name="Text 33"/>
          <p:cNvSpPr/>
          <p:nvPr/>
        </p:nvSpPr>
        <p:spPr>
          <a:xfrm>
            <a:off x="9450856" y="5399078"/>
            <a:ext cx="1877318"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THE EXAM</a:t>
            </a:r>
            <a:endParaRPr lang="en-US" sz="1950" dirty="0"/>
          </a:p>
        </p:txBody>
      </p:sp>
      <p:sp>
        <p:nvSpPr>
          <p:cNvPr id="36" name="Text 34"/>
          <p:cNvSpPr/>
          <p:nvPr/>
        </p:nvSpPr>
        <p:spPr>
          <a:xfrm>
            <a:off x="9450856" y="5772434"/>
            <a:ext cx="1782853"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walk-forward vs a random walk</a:t>
            </a:r>
            <a:endParaRPr lang="en-US" sz="1800" dirty="0"/>
          </a:p>
        </p:txBody>
      </p:sp>
      <p:sp>
        <p:nvSpPr>
          <p:cNvPr id="37" name="Text 35"/>
          <p:cNvSpPr/>
          <p:nvPr/>
        </p:nvSpPr>
        <p:spPr>
          <a:xfrm>
            <a:off x="11479587" y="5229414"/>
            <a:ext cx="419114" cy="1676427"/>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38" name="Shape 36"/>
          <p:cNvSpPr/>
          <p:nvPr/>
        </p:nvSpPr>
        <p:spPr>
          <a:xfrm>
            <a:off x="11917750" y="5229414"/>
            <a:ext cx="2160240" cy="1638327"/>
          </a:xfrm>
          <a:prstGeom prst="rect">
            <a:avLst/>
          </a:prstGeom>
          <a:solidFill>
            <a:srgbClr val="FFFFFF"/>
          </a:solidFill>
          <a:ln w="17318">
            <a:solidFill>
              <a:srgbClr val="102825">
                <a:alpha val="32000"/>
              </a:srgbClr>
            </a:solidFill>
            <a:prstDash val="solid"/>
          </a:ln>
        </p:spPr>
        <p:txBody>
          <a:bodyPr/>
          <a:p/>
        </p:txBody>
      </p:sp>
      <p:sp>
        <p:nvSpPr>
          <p:cNvPr id="39" name="Text 37"/>
          <p:cNvSpPr/>
          <p:nvPr/>
        </p:nvSpPr>
        <p:spPr>
          <a:xfrm>
            <a:off x="12144577" y="5399078"/>
            <a:ext cx="1877243"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VERDICTS</a:t>
            </a:r>
            <a:endParaRPr lang="en-US" sz="1950" dirty="0"/>
          </a:p>
        </p:txBody>
      </p:sp>
      <p:sp>
        <p:nvSpPr>
          <p:cNvPr id="40" name="Text 38"/>
          <p:cNvSpPr/>
          <p:nvPr/>
        </p:nvSpPr>
        <p:spPr>
          <a:xfrm>
            <a:off x="12144577" y="5772434"/>
            <a:ext cx="1782785" cy="963743"/>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PASS · PARITY · FAIL per name, per market</a:t>
            </a:r>
            <a:endParaRPr lang="en-US" sz="1800" dirty="0"/>
          </a:p>
        </p:txBody>
      </p:sp>
      <p:sp>
        <p:nvSpPr>
          <p:cNvPr id="41" name="Shape 39"/>
          <p:cNvSpPr/>
          <p:nvPr/>
        </p:nvSpPr>
        <p:spPr>
          <a:xfrm>
            <a:off x="14287500" y="2680665"/>
            <a:ext cx="2857500" cy="4187076"/>
          </a:xfrm>
          <a:prstGeom prst="rect">
            <a:avLst/>
          </a:prstGeom>
          <a:solidFill>
            <a:srgbClr val="12796B"/>
          </a:solidFill>
          <a:ln w="17318">
            <a:solidFill>
              <a:srgbClr val="12796B"/>
            </a:solidFill>
            <a:prstDash val="solid"/>
          </a:ln>
        </p:spPr>
        <p:txBody>
          <a:bodyPr/>
          <a:p/>
        </p:txBody>
      </p:sp>
      <p:sp>
        <p:nvSpPr>
          <p:cNvPr id="42" name="Text 40"/>
          <p:cNvSpPr/>
          <p:nvPr/>
        </p:nvSpPr>
        <p:spPr>
          <a:xfrm>
            <a:off x="14514327" y="4278944"/>
            <a:ext cx="2644229"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FFFFFF"/>
                </a:solidFill>
                <a:latin typeface="Arial" pitchFamily="34" charset="0"/>
                <a:ea typeface="Arial" pitchFamily="34" charset="-122"/>
                <a:cs typeface="Arial" pitchFamily="34" charset="-120"/>
              </a:rPr>
              <a:t>THE SITE</a:t>
            </a:r>
            <a:endParaRPr lang="en-US" sz="1950" dirty="0"/>
          </a:p>
        </p:txBody>
      </p:sp>
      <p:sp>
        <p:nvSpPr>
          <p:cNvPr id="43" name="Text 41"/>
          <p:cNvSpPr/>
          <p:nvPr/>
        </p:nvSpPr>
        <p:spPr>
          <a:xfrm>
            <a:off x="14514327" y="4652299"/>
            <a:ext cx="2480045"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FFFFFF"/>
                </a:solidFill>
                <a:latin typeface="Arial" pitchFamily="34" charset="0"/>
                <a:ea typeface="Arial" pitchFamily="34" charset="-122"/>
                <a:cs typeface="Arial" pitchFamily="34" charset="-120"/>
              </a:rPr>
              <a:t>cones · fair values · the Picker · the ledger</a:t>
            </a:r>
            <a:endParaRPr lang="en-US" sz="1800" dirty="0"/>
          </a:p>
        </p:txBody>
      </p:sp>
      <p:sp>
        <p:nvSpPr>
          <p:cNvPr id="44" name="Shape 42"/>
          <p:cNvSpPr/>
          <p:nvPr/>
        </p:nvSpPr>
        <p:spPr>
          <a:xfrm>
            <a:off x="1143000" y="6962991"/>
            <a:ext cx="16002000" cy="1374698"/>
          </a:xfrm>
          <a:prstGeom prst="rect">
            <a:avLst/>
          </a:prstGeom>
          <a:solidFill>
            <a:srgbClr val="FAF8F2"/>
          </a:solidFill>
          <a:ln w="17318">
            <a:solidFill>
              <a:srgbClr val="8A6A2E"/>
            </a:solidFill>
            <a:prstDash val="dash"/>
          </a:ln>
        </p:spPr>
        <p:txBody>
          <a:bodyPr/>
          <a:p/>
        </p:txBody>
      </p:sp>
      <p:sp>
        <p:nvSpPr>
          <p:cNvPr id="45" name="Text 43"/>
          <p:cNvSpPr/>
          <p:nvPr/>
        </p:nvSpPr>
        <p:spPr>
          <a:xfrm>
            <a:off x="1388905" y="7075559"/>
            <a:ext cx="15975496" cy="776287"/>
          </a:xfrm>
          <a:prstGeom prst="rect">
            <a:avLst/>
          </a:prstGeom>
          <a:noFill/>
          <a:ln/>
        </p:spPr>
        <p:txBody>
          <a:bodyPr wrap="square" lIns="25400" tIns="25400" rIns="25400" bIns="25400" rtlCol="0" anchor="t">
            <a:normAutofit/>
          </a:bodyPr>
          <a:lstStyle/>
          <a:p>
            <a:pPr algn="l" indent="0" marL="0">
              <a:lnSpc>
                <a:spcPct val="133203"/>
              </a:lnSpc>
              <a:buNone/>
            </a:pPr>
            <a:r>
              <a:rPr lang="en-US" sz="1875" b="1" dirty="0">
                <a:solidFill>
                  <a:srgbClr val="8A6A2E"/>
                </a:solidFill>
                <a:latin typeface="Arial" pitchFamily="34" charset="0"/>
                <a:ea typeface="Arial" pitchFamily="34" charset="-122"/>
                <a:cs typeface="Arial" pitchFamily="34" charset="-120"/>
              </a:rPr>
              <a:t>8 MC simulation candidate techniques tested and rejected — each failed the exam above. Naming them is the proof the 90.9% wasn’t cherry-picked.</a:t>
            </a:r>
            <a:endParaRPr lang="en-US" sz="1875" dirty="0"/>
          </a:p>
        </p:txBody>
      </p:sp>
      <p:sp>
        <p:nvSpPr>
          <p:cNvPr id="46" name="Text 44"/>
          <p:cNvSpPr/>
          <p:nvPr/>
        </p:nvSpPr>
        <p:spPr>
          <a:xfrm>
            <a:off x="1388905" y="7870843"/>
            <a:ext cx="17061210"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CRPS-tuned selection · raw &amp; trend drift · fair-value pull · dynamic tail thickness · HARQ · skew-t · per-stock drift &amp; width · ratio reversion</a:t>
            </a:r>
            <a:endParaRPr lang="en-US" sz="1800" dirty="0"/>
          </a:p>
        </p:txBody>
      </p:sp>
      <p:sp>
        <p:nvSpPr>
          <p:cNvPr id="47" name="Shape 45"/>
          <p:cNvSpPr/>
          <p:nvPr/>
        </p:nvSpPr>
        <p:spPr>
          <a:xfrm>
            <a:off x="1143000" y="8413863"/>
            <a:ext cx="11906250" cy="17318"/>
          </a:xfrm>
          <a:prstGeom prst="rect">
            <a:avLst/>
          </a:prstGeom>
          <a:solidFill>
            <a:srgbClr val="102825">
              <a:alpha val="32000"/>
            </a:srgbClr>
          </a:solidFill>
          <a:ln/>
        </p:spPr>
      </p:sp>
      <p:sp>
        <p:nvSpPr>
          <p:cNvPr id="48" name="Text 46"/>
          <p:cNvSpPr/>
          <p:nvPr/>
        </p:nvSpPr>
        <p:spPr>
          <a:xfrm>
            <a:off x="1143000" y="8602631"/>
            <a:ext cx="12263438" cy="700899"/>
          </a:xfrm>
          <a:prstGeom prst="rect">
            <a:avLst/>
          </a:prstGeom>
          <a:noFill/>
          <a:ln/>
        </p:spPr>
        <p:txBody>
          <a:bodyPr wrap="square" lIns="25400" tIns="25400" rIns="25400" bIns="25400" rtlCol="0" anchor="t">
            <a:normAutofit/>
          </a:bodyPr>
          <a:lstStyle/>
          <a:p>
            <a:pPr algn="l" indent="0" marL="0">
              <a:lnSpc>
                <a:spcPct val="125508"/>
              </a:lnSpc>
              <a:buNone/>
            </a:pPr>
            <a:r>
              <a:rPr lang="en-US" sz="1800" dirty="0">
                <a:solidFill>
                  <a:srgbClr val="0E5C51"/>
                </a:solidFill>
                <a:latin typeface="Arial" pitchFamily="34" charset="0"/>
                <a:ea typeface="Arial" pitchFamily="34" charset="-122"/>
                <a:cs typeface="Arial" pitchFamily="34" charset="-120"/>
              </a:rPr>
              <a:t>Testahil publishes fair-value ranges and probability distributions. It does not publish ratings, price targets, or recommendations, and nothing it publishes is investment advice.</a:t>
            </a:r>
            <a:endParaRPr lang="en-US" sz="1800" dirty="0"/>
          </a:p>
        </p:txBody>
      </p:sp>
      <p:sp>
        <p:nvSpPr>
          <p:cNvPr id="49" name="Text 47"/>
          <p:cNvSpPr/>
          <p:nvPr/>
        </p:nvSpPr>
        <p:spPr>
          <a:xfrm>
            <a:off x="13285217" y="9570798"/>
            <a:ext cx="3859783"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06 · THE EVIDENCE</a:t>
            </a:r>
            <a:endParaRPr lang="en-US" sz="1800" dirty="0"/>
          </a:p>
        </p:txBody>
      </p:sp>
      <p:sp>
        <p:nvSpPr>
          <p:cNvPr id="3" name="Text 1"/>
          <p:cNvSpPr/>
          <p:nvPr/>
        </p:nvSpPr>
        <p:spPr>
          <a:xfrm>
            <a:off x="16082773" y="133336"/>
            <a:ext cx="1138427" cy="1028686"/>
          </a:xfrm>
          <a:prstGeom prst="rect">
            <a:avLst/>
          </a:prstGeom>
          <a:noFill/>
          <a:ln/>
        </p:spPr>
        <p:txBody>
          <a:bodyPr wrap="square" lIns="25400" tIns="25400" rIns="25400" bIns="25400" rtlCol="0" anchor="t">
            <a:normAutofit/>
          </a:bodyPr>
          <a:lstStyle/>
          <a:p>
            <a:pPr algn="l" indent="0" marL="0">
              <a:lnSpc>
                <a:spcPct val="87328"/>
              </a:lnSpc>
              <a:buNone/>
            </a:pPr>
            <a:r>
              <a:rPr lang="en-US" sz="7800" b="1" spc="-156" kern="0" dirty="0">
                <a:solidFill>
                  <a:srgbClr val="12796B"/>
                </a:solidFill>
                <a:latin typeface="Arial" pitchFamily="34" charset="0"/>
                <a:ea typeface="Arial" pitchFamily="34" charset="-122"/>
                <a:cs typeface="Arial" pitchFamily="34" charset="-120"/>
              </a:rPr>
              <a:t>06</a:t>
            </a:r>
            <a:endParaRPr lang="en-US" sz="7800" dirty="0"/>
          </a:p>
        </p:txBody>
      </p:sp>
      <p:sp>
        <p:nvSpPr>
          <p:cNvPr id="4" name="Text 2"/>
          <p:cNvSpPr/>
          <p:nvPr/>
        </p:nvSpPr>
        <p:spPr>
          <a:xfrm>
            <a:off x="1143000" y="1790673"/>
            <a:ext cx="17602200" cy="699506"/>
          </a:xfrm>
          <a:prstGeom prst="rect">
            <a:avLst/>
          </a:prstGeom>
          <a:noFill/>
          <a:ln/>
        </p:spPr>
        <p:txBody>
          <a:bodyPr wrap="square" lIns="25400" tIns="25400" rIns="25400" bIns="25400" rtlCol="0" anchor="t">
            <a:normAutofit/>
          </a:bodyPr>
          <a:lstStyle/>
          <a:p>
            <a:pPr algn="l" indent="0" marL="0">
              <a:lnSpc>
                <a:spcPct val="97928"/>
              </a:lnSpc>
              <a:buNone/>
            </a:pPr>
            <a:r>
              <a:rPr lang="en-US" sz="4650" b="1" spc="-70" kern="0" dirty="0">
                <a:solidFill>
                  <a:srgbClr val="0E2726"/>
                </a:solidFill>
                <a:latin typeface="Arial" pitchFamily="34" charset="0"/>
                <a:ea typeface="Arial" pitchFamily="34" charset="-122"/>
                <a:cs typeface="Arial" pitchFamily="34" charset="-120"/>
              </a:rPr>
              <a:t>The simulation sat the exam 4,081 times.</a:t>
            </a:r>
            <a:endParaRPr lang="en-US" sz="4650" dirty="0"/>
          </a:p>
        </p:txBody>
      </p:sp>
      <p:sp>
        <p:nvSpPr>
          <p:cNvPr id="5" name="Text 3"/>
          <p:cNvSpPr/>
          <p:nvPr/>
        </p:nvSpPr>
        <p:spPr>
          <a:xfrm>
            <a:off x="1143000" y="2566338"/>
            <a:ext cx="17602200" cy="434321"/>
          </a:xfrm>
          <a:prstGeom prst="rect">
            <a:avLst/>
          </a:prstGeom>
          <a:noFill/>
          <a:ln/>
        </p:spPr>
        <p:txBody>
          <a:bodyPr wrap="square" lIns="25400" tIns="25400" rIns="25400" bIns="25400" rtlCol="0" anchor="t">
            <a:normAutofit/>
          </a:bodyPr>
          <a:lstStyle/>
          <a:p>
            <a:pPr algn="l" indent="0" marL="0">
              <a:lnSpc>
                <a:spcPct val="112988"/>
              </a:lnSpc>
              <a:buNone/>
            </a:pPr>
            <a:r>
              <a:rPr lang="en-US" sz="2400" dirty="0">
                <a:solidFill>
                  <a:srgbClr val="0E2626">
                    <a:alpha val="78000"/>
                  </a:srgbClr>
                </a:solidFill>
                <a:latin typeface="Arial" pitchFamily="34" charset="0"/>
                <a:ea typeface="Arial" pitchFamily="34" charset="-122"/>
                <a:cs typeface="Arial" pitchFamily="34" charset="-120"/>
              </a:rPr>
              <a:t>Through a revolution, a currency float, a pandemic and three devaluations — graded blind, market by market.</a:t>
            </a:r>
            <a:endParaRPr lang="en-US" sz="2400" dirty="0"/>
          </a:p>
        </p:txBody>
      </p:sp>
      <p:sp>
        <p:nvSpPr>
          <p:cNvPr id="6" name="Text 4"/>
          <p:cNvSpPr/>
          <p:nvPr/>
        </p:nvSpPr>
        <p:spPr>
          <a:xfrm>
            <a:off x="1143000" y="3267318"/>
            <a:ext cx="8884964" cy="1924091"/>
          </a:xfrm>
          <a:prstGeom prst="rect">
            <a:avLst/>
          </a:prstGeom>
          <a:noFill/>
          <a:ln/>
        </p:spPr>
        <p:txBody>
          <a:bodyPr wrap="square" lIns="25400" tIns="25400" rIns="25400" bIns="25400" rtlCol="0" anchor="t">
            <a:normAutofit/>
          </a:bodyPr>
          <a:lstStyle/>
          <a:p>
            <a:pPr algn="l" indent="0" marL="0">
              <a:lnSpc>
                <a:spcPct val="130030"/>
              </a:lnSpc>
              <a:buNone/>
            </a:pPr>
            <a:r>
              <a:rPr lang="en-US" sz="9900" b="1" spc="-198" kern="0" dirty="0">
                <a:solidFill>
                  <a:srgbClr val="0E5C51"/>
                </a:solidFill>
                <a:latin typeface="Arial" pitchFamily="34" charset="0"/>
                <a:ea typeface="Arial" pitchFamily="34" charset="-122"/>
                <a:cs typeface="Arial" pitchFamily="34" charset="-120"/>
              </a:rPr>
              <a:t>90.9%</a:t>
            </a:r>
            <a:endParaRPr lang="en-US" sz="9900" dirty="0"/>
          </a:p>
        </p:txBody>
      </p:sp>
      <p:sp>
        <p:nvSpPr>
          <p:cNvPr id="7" name="Text 5"/>
          <p:cNvSpPr/>
          <p:nvPr/>
        </p:nvSpPr>
        <p:spPr>
          <a:xfrm>
            <a:off x="1143000" y="5267569"/>
            <a:ext cx="5843388" cy="1904066"/>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of walk-forward windows landed inside the stated 90% band — every market between 86–94%. </a:t>
            </a:r>
            <a:pPr algn="l" indent="0" marL="0">
              <a:lnSpc>
                <a:spcPct val="130000"/>
              </a:lnSpc>
              <a:buNone/>
            </a:pPr>
            <a:r>
              <a:rPr lang="en-US" sz="1950" b="1" dirty="0">
                <a:solidFill>
                  <a:srgbClr val="0E2726"/>
                </a:solidFill>
                <a:latin typeface="Arial" pitchFamily="34" charset="0"/>
                <a:ea typeface="Arial" pitchFamily="34" charset="-122"/>
                <a:cs typeface="Arial" pitchFamily="34" charset="-120"/>
              </a:rPr>
              <a:t>The design target, not a discovery </a:t>
            </a:r>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 running above target means slightly too cautious, flagged for tightening, not celebrated.</a:t>
            </a:r>
            <a:endParaRPr lang="en-US" sz="1950" dirty="0"/>
          </a:p>
        </p:txBody>
      </p:sp>
      <p:sp>
        <p:nvSpPr>
          <p:cNvPr id="8" name="Shape 6"/>
          <p:cNvSpPr/>
          <p:nvPr/>
        </p:nvSpPr>
        <p:spPr>
          <a:xfrm>
            <a:off x="1143000" y="7266871"/>
            <a:ext cx="209509" cy="209509"/>
          </a:xfrm>
          <a:prstGeom prst="rect">
            <a:avLst/>
          </a:prstGeom>
          <a:solidFill>
            <a:srgbClr val="12796B"/>
          </a:solidFill>
          <a:ln/>
        </p:spPr>
      </p:sp>
      <p:sp>
        <p:nvSpPr>
          <p:cNvPr id="9" name="Shape 7"/>
          <p:cNvSpPr/>
          <p:nvPr/>
        </p:nvSpPr>
        <p:spPr>
          <a:xfrm>
            <a:off x="1400134" y="7266871"/>
            <a:ext cx="209509" cy="209509"/>
          </a:xfrm>
          <a:prstGeom prst="rect">
            <a:avLst/>
          </a:prstGeom>
          <a:solidFill>
            <a:srgbClr val="C0A45F"/>
          </a:solidFill>
          <a:ln/>
        </p:spPr>
      </p:sp>
      <p:sp>
        <p:nvSpPr>
          <p:cNvPr id="10" name="Shape 8"/>
          <p:cNvSpPr/>
          <p:nvPr/>
        </p:nvSpPr>
        <p:spPr>
          <a:xfrm>
            <a:off x="1657269" y="7266871"/>
            <a:ext cx="209509" cy="209509"/>
          </a:xfrm>
          <a:prstGeom prst="rect">
            <a:avLst/>
          </a:prstGeom>
          <a:solidFill>
            <a:srgbClr val="12796B"/>
          </a:solidFill>
          <a:ln/>
        </p:spPr>
      </p:sp>
      <p:sp>
        <p:nvSpPr>
          <p:cNvPr id="11" name="Shape 9"/>
          <p:cNvSpPr/>
          <p:nvPr/>
        </p:nvSpPr>
        <p:spPr>
          <a:xfrm>
            <a:off x="1914403" y="7266871"/>
            <a:ext cx="209509" cy="209509"/>
          </a:xfrm>
          <a:prstGeom prst="rect">
            <a:avLst/>
          </a:prstGeom>
          <a:solidFill>
            <a:srgbClr val="12796B"/>
          </a:solidFill>
          <a:ln/>
        </p:spPr>
      </p:sp>
      <p:sp>
        <p:nvSpPr>
          <p:cNvPr id="12" name="Shape 10"/>
          <p:cNvSpPr/>
          <p:nvPr/>
        </p:nvSpPr>
        <p:spPr>
          <a:xfrm>
            <a:off x="2171538" y="7266871"/>
            <a:ext cx="209509" cy="209509"/>
          </a:xfrm>
          <a:prstGeom prst="rect">
            <a:avLst/>
          </a:prstGeom>
          <a:solidFill>
            <a:srgbClr val="12796B"/>
          </a:solidFill>
          <a:ln/>
        </p:spPr>
      </p:sp>
      <p:sp>
        <p:nvSpPr>
          <p:cNvPr id="13" name="Shape 11"/>
          <p:cNvSpPr/>
          <p:nvPr/>
        </p:nvSpPr>
        <p:spPr>
          <a:xfrm>
            <a:off x="2428672" y="7266871"/>
            <a:ext cx="209509" cy="209509"/>
          </a:xfrm>
          <a:prstGeom prst="rect">
            <a:avLst/>
          </a:prstGeom>
          <a:solidFill>
            <a:srgbClr val="12796B"/>
          </a:solidFill>
          <a:ln/>
        </p:spPr>
      </p:sp>
      <p:sp>
        <p:nvSpPr>
          <p:cNvPr id="14" name="Shape 12"/>
          <p:cNvSpPr/>
          <p:nvPr/>
        </p:nvSpPr>
        <p:spPr>
          <a:xfrm>
            <a:off x="2685806" y="7266871"/>
            <a:ext cx="209509" cy="209509"/>
          </a:xfrm>
          <a:prstGeom prst="rect">
            <a:avLst/>
          </a:prstGeom>
          <a:solidFill>
            <a:srgbClr val="12796B"/>
          </a:solidFill>
          <a:ln/>
        </p:spPr>
      </p:sp>
      <p:sp>
        <p:nvSpPr>
          <p:cNvPr id="15" name="Shape 13"/>
          <p:cNvSpPr/>
          <p:nvPr/>
        </p:nvSpPr>
        <p:spPr>
          <a:xfrm>
            <a:off x="2942941" y="7266871"/>
            <a:ext cx="209509" cy="209509"/>
          </a:xfrm>
          <a:prstGeom prst="rect">
            <a:avLst/>
          </a:prstGeom>
          <a:solidFill>
            <a:srgbClr val="12796B"/>
          </a:solidFill>
          <a:ln/>
        </p:spPr>
      </p:sp>
      <p:sp>
        <p:nvSpPr>
          <p:cNvPr id="16" name="Shape 14"/>
          <p:cNvSpPr/>
          <p:nvPr/>
        </p:nvSpPr>
        <p:spPr>
          <a:xfrm>
            <a:off x="3200075" y="7266871"/>
            <a:ext cx="209509" cy="209509"/>
          </a:xfrm>
          <a:prstGeom prst="rect">
            <a:avLst/>
          </a:prstGeom>
          <a:solidFill>
            <a:srgbClr val="12796B"/>
          </a:solidFill>
          <a:ln/>
        </p:spPr>
      </p:sp>
      <p:sp>
        <p:nvSpPr>
          <p:cNvPr id="17" name="Shape 15"/>
          <p:cNvSpPr/>
          <p:nvPr/>
        </p:nvSpPr>
        <p:spPr>
          <a:xfrm>
            <a:off x="3457210" y="7266871"/>
            <a:ext cx="209509" cy="209509"/>
          </a:xfrm>
          <a:prstGeom prst="rect">
            <a:avLst/>
          </a:prstGeom>
          <a:solidFill>
            <a:srgbClr val="12796B"/>
          </a:solidFill>
          <a:ln/>
        </p:spPr>
      </p:sp>
      <p:sp>
        <p:nvSpPr>
          <p:cNvPr id="18" name="Shape 16"/>
          <p:cNvSpPr/>
          <p:nvPr/>
        </p:nvSpPr>
        <p:spPr>
          <a:xfrm>
            <a:off x="3714344" y="7266871"/>
            <a:ext cx="209509" cy="209509"/>
          </a:xfrm>
          <a:prstGeom prst="rect">
            <a:avLst/>
          </a:prstGeom>
          <a:solidFill>
            <a:srgbClr val="12796B"/>
          </a:solidFill>
          <a:ln/>
        </p:spPr>
      </p:sp>
      <p:sp>
        <p:nvSpPr>
          <p:cNvPr id="19" name="Shape 17"/>
          <p:cNvSpPr/>
          <p:nvPr/>
        </p:nvSpPr>
        <p:spPr>
          <a:xfrm>
            <a:off x="3971479" y="7266871"/>
            <a:ext cx="209509" cy="209509"/>
          </a:xfrm>
          <a:prstGeom prst="rect">
            <a:avLst/>
          </a:prstGeom>
          <a:solidFill>
            <a:srgbClr val="12796B"/>
          </a:solidFill>
          <a:ln/>
        </p:spPr>
      </p:sp>
      <p:sp>
        <p:nvSpPr>
          <p:cNvPr id="20" name="Shape 18"/>
          <p:cNvSpPr/>
          <p:nvPr/>
        </p:nvSpPr>
        <p:spPr>
          <a:xfrm>
            <a:off x="4228613" y="7266871"/>
            <a:ext cx="209509" cy="209509"/>
          </a:xfrm>
          <a:prstGeom prst="rect">
            <a:avLst/>
          </a:prstGeom>
          <a:solidFill>
            <a:srgbClr val="12796B"/>
          </a:solidFill>
          <a:ln/>
        </p:spPr>
      </p:sp>
      <p:sp>
        <p:nvSpPr>
          <p:cNvPr id="21" name="Shape 19"/>
          <p:cNvSpPr/>
          <p:nvPr/>
        </p:nvSpPr>
        <p:spPr>
          <a:xfrm>
            <a:off x="4485747" y="7266871"/>
            <a:ext cx="209509" cy="209509"/>
          </a:xfrm>
          <a:prstGeom prst="rect">
            <a:avLst/>
          </a:prstGeom>
          <a:solidFill>
            <a:srgbClr val="12796B"/>
          </a:solidFill>
          <a:ln/>
        </p:spPr>
      </p:sp>
      <p:sp>
        <p:nvSpPr>
          <p:cNvPr id="22" name="Shape 20"/>
          <p:cNvSpPr/>
          <p:nvPr/>
        </p:nvSpPr>
        <p:spPr>
          <a:xfrm>
            <a:off x="4742882" y="7266871"/>
            <a:ext cx="209509" cy="209509"/>
          </a:xfrm>
          <a:prstGeom prst="rect">
            <a:avLst/>
          </a:prstGeom>
          <a:solidFill>
            <a:srgbClr val="12796B"/>
          </a:solidFill>
          <a:ln/>
        </p:spPr>
      </p:sp>
      <p:sp>
        <p:nvSpPr>
          <p:cNvPr id="23" name="Shape 21"/>
          <p:cNvSpPr/>
          <p:nvPr/>
        </p:nvSpPr>
        <p:spPr>
          <a:xfrm>
            <a:off x="5000016" y="7266871"/>
            <a:ext cx="209509" cy="209509"/>
          </a:xfrm>
          <a:prstGeom prst="rect">
            <a:avLst/>
          </a:prstGeom>
          <a:solidFill>
            <a:srgbClr val="12796B"/>
          </a:solidFill>
          <a:ln/>
        </p:spPr>
      </p:sp>
      <p:sp>
        <p:nvSpPr>
          <p:cNvPr id="24" name="Shape 22"/>
          <p:cNvSpPr/>
          <p:nvPr/>
        </p:nvSpPr>
        <p:spPr>
          <a:xfrm>
            <a:off x="5257151" y="7266871"/>
            <a:ext cx="209509" cy="209509"/>
          </a:xfrm>
          <a:prstGeom prst="rect">
            <a:avLst/>
          </a:prstGeom>
          <a:solidFill>
            <a:srgbClr val="12796B"/>
          </a:solidFill>
          <a:ln/>
        </p:spPr>
      </p:sp>
      <p:sp>
        <p:nvSpPr>
          <p:cNvPr id="25" name="Shape 23"/>
          <p:cNvSpPr/>
          <p:nvPr/>
        </p:nvSpPr>
        <p:spPr>
          <a:xfrm>
            <a:off x="5514285" y="7266871"/>
            <a:ext cx="209509" cy="209509"/>
          </a:xfrm>
          <a:prstGeom prst="rect">
            <a:avLst/>
          </a:prstGeom>
          <a:solidFill>
            <a:srgbClr val="12796B"/>
          </a:solidFill>
          <a:ln/>
        </p:spPr>
      </p:sp>
      <p:sp>
        <p:nvSpPr>
          <p:cNvPr id="26" name="Shape 24"/>
          <p:cNvSpPr/>
          <p:nvPr/>
        </p:nvSpPr>
        <p:spPr>
          <a:xfrm>
            <a:off x="5771419" y="7266871"/>
            <a:ext cx="209509" cy="209509"/>
          </a:xfrm>
          <a:prstGeom prst="rect">
            <a:avLst/>
          </a:prstGeom>
          <a:solidFill>
            <a:srgbClr val="12796B"/>
          </a:solidFill>
          <a:ln/>
        </p:spPr>
      </p:sp>
      <p:sp>
        <p:nvSpPr>
          <p:cNvPr id="27" name="Shape 25"/>
          <p:cNvSpPr/>
          <p:nvPr/>
        </p:nvSpPr>
        <p:spPr>
          <a:xfrm>
            <a:off x="6028554" y="7266871"/>
            <a:ext cx="209509" cy="209509"/>
          </a:xfrm>
          <a:prstGeom prst="rect">
            <a:avLst/>
          </a:prstGeom>
          <a:solidFill>
            <a:srgbClr val="12796B"/>
          </a:solidFill>
          <a:ln/>
        </p:spPr>
      </p:sp>
      <p:sp>
        <p:nvSpPr>
          <p:cNvPr id="28" name="Shape 26"/>
          <p:cNvSpPr/>
          <p:nvPr/>
        </p:nvSpPr>
        <p:spPr>
          <a:xfrm>
            <a:off x="6285688" y="7266871"/>
            <a:ext cx="209509" cy="209509"/>
          </a:xfrm>
          <a:prstGeom prst="rect">
            <a:avLst/>
          </a:prstGeom>
          <a:solidFill>
            <a:srgbClr val="12796B"/>
          </a:solidFill>
          <a:ln/>
        </p:spPr>
      </p:sp>
      <p:sp>
        <p:nvSpPr>
          <p:cNvPr id="29" name="Shape 27"/>
          <p:cNvSpPr/>
          <p:nvPr/>
        </p:nvSpPr>
        <p:spPr>
          <a:xfrm>
            <a:off x="6542822" y="7266871"/>
            <a:ext cx="209509" cy="209509"/>
          </a:xfrm>
          <a:prstGeom prst="rect">
            <a:avLst/>
          </a:prstGeom>
          <a:solidFill>
            <a:srgbClr val="12796B"/>
          </a:solidFill>
          <a:ln/>
        </p:spPr>
      </p:sp>
      <p:sp>
        <p:nvSpPr>
          <p:cNvPr id="30" name="Shape 28"/>
          <p:cNvSpPr/>
          <p:nvPr/>
        </p:nvSpPr>
        <p:spPr>
          <a:xfrm>
            <a:off x="6799957" y="7266871"/>
            <a:ext cx="209509" cy="209509"/>
          </a:xfrm>
          <a:prstGeom prst="rect">
            <a:avLst/>
          </a:prstGeom>
          <a:solidFill>
            <a:srgbClr val="12796B"/>
          </a:solidFill>
          <a:ln/>
        </p:spPr>
      </p:sp>
      <p:sp>
        <p:nvSpPr>
          <p:cNvPr id="31" name="Shape 29"/>
          <p:cNvSpPr/>
          <p:nvPr/>
        </p:nvSpPr>
        <p:spPr>
          <a:xfrm>
            <a:off x="7057091" y="7266871"/>
            <a:ext cx="209509" cy="209509"/>
          </a:xfrm>
          <a:prstGeom prst="rect">
            <a:avLst/>
          </a:prstGeom>
          <a:solidFill>
            <a:srgbClr val="12796B"/>
          </a:solidFill>
          <a:ln/>
        </p:spPr>
      </p:sp>
      <p:sp>
        <p:nvSpPr>
          <p:cNvPr id="32" name="Shape 30"/>
          <p:cNvSpPr/>
          <p:nvPr/>
        </p:nvSpPr>
        <p:spPr>
          <a:xfrm>
            <a:off x="7314226" y="7266871"/>
            <a:ext cx="209509" cy="209509"/>
          </a:xfrm>
          <a:prstGeom prst="rect">
            <a:avLst/>
          </a:prstGeom>
          <a:solidFill>
            <a:srgbClr val="12796B"/>
          </a:solidFill>
          <a:ln/>
        </p:spPr>
      </p:sp>
      <p:sp>
        <p:nvSpPr>
          <p:cNvPr id="33" name="Shape 31"/>
          <p:cNvSpPr/>
          <p:nvPr/>
        </p:nvSpPr>
        <p:spPr>
          <a:xfrm>
            <a:off x="7571360" y="7266871"/>
            <a:ext cx="209509" cy="209509"/>
          </a:xfrm>
          <a:prstGeom prst="rect">
            <a:avLst/>
          </a:prstGeom>
          <a:solidFill>
            <a:srgbClr val="12796B"/>
          </a:solidFill>
          <a:ln/>
        </p:spPr>
      </p:sp>
      <p:sp>
        <p:nvSpPr>
          <p:cNvPr id="34" name="Shape 32"/>
          <p:cNvSpPr/>
          <p:nvPr/>
        </p:nvSpPr>
        <p:spPr>
          <a:xfrm>
            <a:off x="1143000" y="7524006"/>
            <a:ext cx="209509" cy="209509"/>
          </a:xfrm>
          <a:prstGeom prst="rect">
            <a:avLst/>
          </a:prstGeom>
          <a:solidFill>
            <a:srgbClr val="12796B"/>
          </a:solidFill>
          <a:ln/>
        </p:spPr>
      </p:sp>
      <p:sp>
        <p:nvSpPr>
          <p:cNvPr id="35" name="Shape 33"/>
          <p:cNvSpPr/>
          <p:nvPr/>
        </p:nvSpPr>
        <p:spPr>
          <a:xfrm>
            <a:off x="1400134" y="7524006"/>
            <a:ext cx="209509" cy="209509"/>
          </a:xfrm>
          <a:prstGeom prst="rect">
            <a:avLst/>
          </a:prstGeom>
          <a:solidFill>
            <a:srgbClr val="12796B"/>
          </a:solidFill>
          <a:ln/>
        </p:spPr>
      </p:sp>
      <p:sp>
        <p:nvSpPr>
          <p:cNvPr id="36" name="Shape 34"/>
          <p:cNvSpPr/>
          <p:nvPr/>
        </p:nvSpPr>
        <p:spPr>
          <a:xfrm>
            <a:off x="1657269" y="7524006"/>
            <a:ext cx="209509" cy="209509"/>
          </a:xfrm>
          <a:prstGeom prst="rect">
            <a:avLst/>
          </a:prstGeom>
          <a:solidFill>
            <a:srgbClr val="12796B"/>
          </a:solidFill>
          <a:ln/>
        </p:spPr>
      </p:sp>
      <p:sp>
        <p:nvSpPr>
          <p:cNvPr id="37" name="Shape 35"/>
          <p:cNvSpPr/>
          <p:nvPr/>
        </p:nvSpPr>
        <p:spPr>
          <a:xfrm>
            <a:off x="1914403" y="7524006"/>
            <a:ext cx="209509" cy="209509"/>
          </a:xfrm>
          <a:prstGeom prst="rect">
            <a:avLst/>
          </a:prstGeom>
          <a:solidFill>
            <a:srgbClr val="12796B"/>
          </a:solidFill>
          <a:ln/>
        </p:spPr>
      </p:sp>
      <p:sp>
        <p:nvSpPr>
          <p:cNvPr id="38" name="Shape 36"/>
          <p:cNvSpPr/>
          <p:nvPr/>
        </p:nvSpPr>
        <p:spPr>
          <a:xfrm>
            <a:off x="2171538" y="7524006"/>
            <a:ext cx="209509" cy="209509"/>
          </a:xfrm>
          <a:prstGeom prst="rect">
            <a:avLst/>
          </a:prstGeom>
          <a:solidFill>
            <a:srgbClr val="12796B"/>
          </a:solidFill>
          <a:ln/>
        </p:spPr>
      </p:sp>
      <p:sp>
        <p:nvSpPr>
          <p:cNvPr id="39" name="Shape 37"/>
          <p:cNvSpPr/>
          <p:nvPr/>
        </p:nvSpPr>
        <p:spPr>
          <a:xfrm>
            <a:off x="2428672" y="7524006"/>
            <a:ext cx="209509" cy="209509"/>
          </a:xfrm>
          <a:prstGeom prst="rect">
            <a:avLst/>
          </a:prstGeom>
          <a:solidFill>
            <a:srgbClr val="12796B"/>
          </a:solidFill>
          <a:ln/>
        </p:spPr>
      </p:sp>
      <p:sp>
        <p:nvSpPr>
          <p:cNvPr id="40" name="Shape 38"/>
          <p:cNvSpPr/>
          <p:nvPr/>
        </p:nvSpPr>
        <p:spPr>
          <a:xfrm>
            <a:off x="2685806" y="7524006"/>
            <a:ext cx="209509" cy="209509"/>
          </a:xfrm>
          <a:prstGeom prst="rect">
            <a:avLst/>
          </a:prstGeom>
          <a:solidFill>
            <a:srgbClr val="12796B"/>
          </a:solidFill>
          <a:ln/>
        </p:spPr>
      </p:sp>
      <p:sp>
        <p:nvSpPr>
          <p:cNvPr id="41" name="Shape 39"/>
          <p:cNvSpPr/>
          <p:nvPr/>
        </p:nvSpPr>
        <p:spPr>
          <a:xfrm>
            <a:off x="2942941" y="7524006"/>
            <a:ext cx="209509" cy="209509"/>
          </a:xfrm>
          <a:prstGeom prst="rect">
            <a:avLst/>
          </a:prstGeom>
          <a:solidFill>
            <a:srgbClr val="12796B"/>
          </a:solidFill>
          <a:ln/>
        </p:spPr>
      </p:sp>
      <p:sp>
        <p:nvSpPr>
          <p:cNvPr id="42" name="Shape 40"/>
          <p:cNvSpPr/>
          <p:nvPr/>
        </p:nvSpPr>
        <p:spPr>
          <a:xfrm>
            <a:off x="3200075" y="7524006"/>
            <a:ext cx="209509" cy="209509"/>
          </a:xfrm>
          <a:prstGeom prst="rect">
            <a:avLst/>
          </a:prstGeom>
          <a:solidFill>
            <a:srgbClr val="12796B"/>
          </a:solidFill>
          <a:ln/>
        </p:spPr>
      </p:sp>
      <p:sp>
        <p:nvSpPr>
          <p:cNvPr id="43" name="Shape 41"/>
          <p:cNvSpPr/>
          <p:nvPr/>
        </p:nvSpPr>
        <p:spPr>
          <a:xfrm>
            <a:off x="3457210" y="7524006"/>
            <a:ext cx="209509" cy="209509"/>
          </a:xfrm>
          <a:prstGeom prst="rect">
            <a:avLst/>
          </a:prstGeom>
          <a:solidFill>
            <a:srgbClr val="12796B"/>
          </a:solidFill>
          <a:ln/>
        </p:spPr>
      </p:sp>
      <p:sp>
        <p:nvSpPr>
          <p:cNvPr id="44" name="Shape 42"/>
          <p:cNvSpPr/>
          <p:nvPr/>
        </p:nvSpPr>
        <p:spPr>
          <a:xfrm>
            <a:off x="3714344" y="7524006"/>
            <a:ext cx="209509" cy="209509"/>
          </a:xfrm>
          <a:prstGeom prst="rect">
            <a:avLst/>
          </a:prstGeom>
          <a:solidFill>
            <a:srgbClr val="12796B"/>
          </a:solidFill>
          <a:ln/>
        </p:spPr>
      </p:sp>
      <p:sp>
        <p:nvSpPr>
          <p:cNvPr id="45" name="Shape 43"/>
          <p:cNvSpPr/>
          <p:nvPr/>
        </p:nvSpPr>
        <p:spPr>
          <a:xfrm>
            <a:off x="3971479" y="7524006"/>
            <a:ext cx="209509" cy="209509"/>
          </a:xfrm>
          <a:prstGeom prst="rect">
            <a:avLst/>
          </a:prstGeom>
          <a:solidFill>
            <a:srgbClr val="12796B"/>
          </a:solidFill>
          <a:ln/>
        </p:spPr>
      </p:sp>
      <p:sp>
        <p:nvSpPr>
          <p:cNvPr id="46" name="Shape 44"/>
          <p:cNvSpPr/>
          <p:nvPr/>
        </p:nvSpPr>
        <p:spPr>
          <a:xfrm>
            <a:off x="4228613" y="7524006"/>
            <a:ext cx="209509" cy="209509"/>
          </a:xfrm>
          <a:prstGeom prst="rect">
            <a:avLst/>
          </a:prstGeom>
          <a:solidFill>
            <a:srgbClr val="12796B"/>
          </a:solidFill>
          <a:ln/>
        </p:spPr>
      </p:sp>
      <p:sp>
        <p:nvSpPr>
          <p:cNvPr id="47" name="Shape 45"/>
          <p:cNvSpPr/>
          <p:nvPr/>
        </p:nvSpPr>
        <p:spPr>
          <a:xfrm>
            <a:off x="4485747" y="7524006"/>
            <a:ext cx="209509" cy="209509"/>
          </a:xfrm>
          <a:prstGeom prst="rect">
            <a:avLst/>
          </a:prstGeom>
          <a:solidFill>
            <a:srgbClr val="12796B"/>
          </a:solidFill>
          <a:ln/>
        </p:spPr>
      </p:sp>
      <p:sp>
        <p:nvSpPr>
          <p:cNvPr id="48" name="Shape 46"/>
          <p:cNvSpPr/>
          <p:nvPr/>
        </p:nvSpPr>
        <p:spPr>
          <a:xfrm>
            <a:off x="4742882" y="7524006"/>
            <a:ext cx="209509" cy="209509"/>
          </a:xfrm>
          <a:prstGeom prst="rect">
            <a:avLst/>
          </a:prstGeom>
          <a:solidFill>
            <a:srgbClr val="12796B"/>
          </a:solidFill>
          <a:ln/>
        </p:spPr>
      </p:sp>
      <p:sp>
        <p:nvSpPr>
          <p:cNvPr id="49" name="Shape 47"/>
          <p:cNvSpPr/>
          <p:nvPr/>
        </p:nvSpPr>
        <p:spPr>
          <a:xfrm>
            <a:off x="5000016" y="7524006"/>
            <a:ext cx="209509" cy="209509"/>
          </a:xfrm>
          <a:prstGeom prst="rect">
            <a:avLst/>
          </a:prstGeom>
          <a:solidFill>
            <a:srgbClr val="C0A45F"/>
          </a:solidFill>
          <a:ln/>
        </p:spPr>
      </p:sp>
      <p:sp>
        <p:nvSpPr>
          <p:cNvPr id="50" name="Shape 48"/>
          <p:cNvSpPr/>
          <p:nvPr/>
        </p:nvSpPr>
        <p:spPr>
          <a:xfrm>
            <a:off x="5257151" y="7524006"/>
            <a:ext cx="209509" cy="209509"/>
          </a:xfrm>
          <a:prstGeom prst="rect">
            <a:avLst/>
          </a:prstGeom>
          <a:solidFill>
            <a:srgbClr val="12796B"/>
          </a:solidFill>
          <a:ln/>
        </p:spPr>
      </p:sp>
      <p:sp>
        <p:nvSpPr>
          <p:cNvPr id="51" name="Shape 49"/>
          <p:cNvSpPr/>
          <p:nvPr/>
        </p:nvSpPr>
        <p:spPr>
          <a:xfrm>
            <a:off x="5514285" y="7524006"/>
            <a:ext cx="209509" cy="209509"/>
          </a:xfrm>
          <a:prstGeom prst="rect">
            <a:avLst/>
          </a:prstGeom>
          <a:solidFill>
            <a:srgbClr val="12796B"/>
          </a:solidFill>
          <a:ln/>
        </p:spPr>
      </p:sp>
      <p:sp>
        <p:nvSpPr>
          <p:cNvPr id="52" name="Shape 50"/>
          <p:cNvSpPr/>
          <p:nvPr/>
        </p:nvSpPr>
        <p:spPr>
          <a:xfrm>
            <a:off x="5771419" y="7524006"/>
            <a:ext cx="209509" cy="209509"/>
          </a:xfrm>
          <a:prstGeom prst="rect">
            <a:avLst/>
          </a:prstGeom>
          <a:solidFill>
            <a:srgbClr val="C0A45F"/>
          </a:solidFill>
          <a:ln/>
        </p:spPr>
      </p:sp>
      <p:sp>
        <p:nvSpPr>
          <p:cNvPr id="53" name="Shape 51"/>
          <p:cNvSpPr/>
          <p:nvPr/>
        </p:nvSpPr>
        <p:spPr>
          <a:xfrm>
            <a:off x="6028554" y="7524006"/>
            <a:ext cx="209509" cy="209509"/>
          </a:xfrm>
          <a:prstGeom prst="rect">
            <a:avLst/>
          </a:prstGeom>
          <a:solidFill>
            <a:srgbClr val="12796B"/>
          </a:solidFill>
          <a:ln/>
        </p:spPr>
      </p:sp>
      <p:sp>
        <p:nvSpPr>
          <p:cNvPr id="54" name="Shape 52"/>
          <p:cNvSpPr/>
          <p:nvPr/>
        </p:nvSpPr>
        <p:spPr>
          <a:xfrm>
            <a:off x="6285688" y="7524006"/>
            <a:ext cx="209509" cy="209509"/>
          </a:xfrm>
          <a:prstGeom prst="rect">
            <a:avLst/>
          </a:prstGeom>
          <a:solidFill>
            <a:srgbClr val="12796B"/>
          </a:solidFill>
          <a:ln/>
        </p:spPr>
      </p:sp>
      <p:sp>
        <p:nvSpPr>
          <p:cNvPr id="55" name="Shape 53"/>
          <p:cNvSpPr/>
          <p:nvPr/>
        </p:nvSpPr>
        <p:spPr>
          <a:xfrm>
            <a:off x="6542822" y="7524006"/>
            <a:ext cx="209509" cy="209509"/>
          </a:xfrm>
          <a:prstGeom prst="rect">
            <a:avLst/>
          </a:prstGeom>
          <a:solidFill>
            <a:srgbClr val="12796B"/>
          </a:solidFill>
          <a:ln/>
        </p:spPr>
      </p:sp>
      <p:sp>
        <p:nvSpPr>
          <p:cNvPr id="56" name="Shape 54"/>
          <p:cNvSpPr/>
          <p:nvPr/>
        </p:nvSpPr>
        <p:spPr>
          <a:xfrm>
            <a:off x="6799957" y="7524006"/>
            <a:ext cx="209509" cy="209509"/>
          </a:xfrm>
          <a:prstGeom prst="rect">
            <a:avLst/>
          </a:prstGeom>
          <a:solidFill>
            <a:srgbClr val="12796B"/>
          </a:solidFill>
          <a:ln/>
        </p:spPr>
      </p:sp>
      <p:sp>
        <p:nvSpPr>
          <p:cNvPr id="57" name="Shape 55"/>
          <p:cNvSpPr/>
          <p:nvPr/>
        </p:nvSpPr>
        <p:spPr>
          <a:xfrm>
            <a:off x="7057091" y="7524006"/>
            <a:ext cx="209509" cy="209509"/>
          </a:xfrm>
          <a:prstGeom prst="rect">
            <a:avLst/>
          </a:prstGeom>
          <a:solidFill>
            <a:srgbClr val="12796B"/>
          </a:solidFill>
          <a:ln/>
        </p:spPr>
      </p:sp>
      <p:sp>
        <p:nvSpPr>
          <p:cNvPr id="58" name="Text 56"/>
          <p:cNvSpPr/>
          <p:nvPr/>
        </p:nvSpPr>
        <p:spPr>
          <a:xfrm>
            <a:off x="1143000" y="7809688"/>
            <a:ext cx="8319557" cy="78102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B7270"/>
                </a:solidFill>
                <a:latin typeface="Arial" pitchFamily="34" charset="0"/>
                <a:ea typeface="Arial" pitchFamily="34" charset="-122"/>
                <a:cs typeface="Arial" pitchFamily="34" charset="-120"/>
              </a:rPr>
              <a:t>The live ledger: 47 of 50 matured inside — 94% on a 90% claim. The misses are the next slide.</a:t>
            </a:r>
            <a:endParaRPr lang="en-US" sz="1950" dirty="0"/>
          </a:p>
        </p:txBody>
      </p:sp>
      <p:pic>
        <p:nvPicPr>
          <p:cNvPr id="5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906000" y="3153059"/>
            <a:ext cx="7239000" cy="3780302"/>
          </a:xfrm>
          <a:prstGeom prst="rect">
            <a:avLst/>
          </a:prstGeom>
        </p:spPr>
      </p:pic>
      <p:sp>
        <p:nvSpPr>
          <p:cNvPr id="60" name="Text 57"/>
          <p:cNvSpPr/>
          <p:nvPr/>
        </p:nvSpPr>
        <p:spPr>
          <a:xfrm>
            <a:off x="9906000" y="7009534"/>
            <a:ext cx="7456170" cy="78102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B7270"/>
                </a:solidFill>
                <a:latin typeface="Arial" pitchFamily="34" charset="0"/>
                <a:ea typeface="Arial" pitchFamily="34" charset="-122"/>
                <a:cs typeface="Arial" pitchFamily="34" charset="-120"/>
              </a:rPr>
              <a:t>Calibrated at two depths: the 90% band and the 50% band both land where they claim — slightly cautious, never overconfident.</a:t>
            </a:r>
            <a:endParaRPr lang="en-US" sz="1950" dirty="0"/>
          </a:p>
        </p:txBody>
      </p:sp>
      <p:sp>
        <p:nvSpPr>
          <p:cNvPr id="61" name="Shape 58"/>
          <p:cNvSpPr/>
          <p:nvPr/>
        </p:nvSpPr>
        <p:spPr>
          <a:xfrm>
            <a:off x="1143000" y="8647861"/>
            <a:ext cx="11906250" cy="17318"/>
          </a:xfrm>
          <a:prstGeom prst="rect">
            <a:avLst/>
          </a:prstGeom>
          <a:solidFill>
            <a:srgbClr val="102825">
              <a:alpha val="32000"/>
            </a:srgbClr>
          </a:solidFill>
          <a:ln/>
        </p:spPr>
      </p:sp>
      <p:sp>
        <p:nvSpPr>
          <p:cNvPr id="62" name="Text 59"/>
          <p:cNvSpPr/>
          <p:nvPr/>
        </p:nvSpPr>
        <p:spPr>
          <a:xfrm>
            <a:off x="1143000" y="8836629"/>
            <a:ext cx="12263438" cy="700899"/>
          </a:xfrm>
          <a:prstGeom prst="rect">
            <a:avLst/>
          </a:prstGeom>
          <a:noFill/>
          <a:ln/>
        </p:spPr>
        <p:txBody>
          <a:bodyPr wrap="square" lIns="25400" tIns="25400" rIns="25400" bIns="25400" rtlCol="0" anchor="t">
            <a:normAutofit/>
          </a:bodyPr>
          <a:lstStyle/>
          <a:p>
            <a:pPr algn="l" indent="0" marL="0">
              <a:lnSpc>
                <a:spcPct val="125508"/>
              </a:lnSpc>
              <a:buNone/>
            </a:pPr>
            <a:r>
              <a:rPr lang="en-US" sz="1800" dirty="0">
                <a:solidFill>
                  <a:srgbClr val="0E5C51"/>
                </a:solidFill>
                <a:latin typeface="Arial" pitchFamily="34" charset="0"/>
                <a:ea typeface="Arial" pitchFamily="34" charset="-122"/>
                <a:cs typeface="Arial" pitchFamily="34" charset="-120"/>
              </a:rPr>
              <a:t>Backtest panels as maintained by the unattended pipeline (engine/panels), read live 24 Aug 2026 · per-market table and verdicts: appendix.</a:t>
            </a:r>
            <a:endParaRPr lang="en-US" sz="1800" dirty="0"/>
          </a:p>
        </p:txBody>
      </p:sp>
      <p:sp>
        <p:nvSpPr>
          <p:cNvPr id="63" name="Text 60"/>
          <p:cNvSpPr/>
          <p:nvPr/>
        </p:nvSpPr>
        <p:spPr>
          <a:xfrm>
            <a:off x="13285217" y="9570798"/>
            <a:ext cx="3859783"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726"/>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6EC4B4"/>
                </a:solidFill>
                <a:latin typeface="Arial" pitchFamily="34" charset="0"/>
                <a:ea typeface="Arial" pitchFamily="34" charset="-122"/>
                <a:cs typeface="Arial" pitchFamily="34" charset="-120"/>
              </a:rPr>
              <a:t>07 · THE MISS</a:t>
            </a:r>
            <a:endParaRPr lang="en-US" sz="1800" dirty="0"/>
          </a:p>
        </p:txBody>
      </p:sp>
      <p:sp>
        <p:nvSpPr>
          <p:cNvPr id="3" name="Text 1"/>
          <p:cNvSpPr/>
          <p:nvPr/>
        </p:nvSpPr>
        <p:spPr>
          <a:xfrm>
            <a:off x="1143000" y="1790673"/>
            <a:ext cx="16482060" cy="1360911"/>
          </a:xfrm>
          <a:prstGeom prst="rect">
            <a:avLst/>
          </a:prstGeom>
          <a:noFill/>
          <a:ln/>
        </p:spPr>
        <p:txBody>
          <a:bodyPr wrap="square" lIns="25400" tIns="25400" rIns="25400" bIns="25400" rtlCol="0" anchor="t">
            <a:normAutofit/>
          </a:bodyPr>
          <a:lstStyle/>
          <a:p>
            <a:pPr algn="l" indent="0" marL="0">
              <a:lnSpc>
                <a:spcPct val="97928"/>
              </a:lnSpc>
              <a:buNone/>
            </a:pPr>
            <a:r>
              <a:rPr lang="en-US" sz="4650" b="1" spc="-70" kern="0" dirty="0">
                <a:solidFill>
                  <a:srgbClr val="F6F8F7"/>
                </a:solidFill>
                <a:latin typeface="Arial" pitchFamily="34" charset="0"/>
                <a:ea typeface="Arial" pitchFamily="34" charset="-122"/>
                <a:cs typeface="Arial" pitchFamily="34" charset="-120"/>
              </a:rPr>
              <a:t>1 in 10 is designed to miss. Our record: </a:t>
            </a:r>
            <a:pPr algn="l" indent="0" marL="0">
              <a:lnSpc>
                <a:spcPct val="97928"/>
              </a:lnSpc>
              <a:buNone/>
            </a:pPr>
            <a:r>
              <a:rPr lang="en-US" sz="4650" b="1" spc="-70" kern="0" dirty="0">
                <a:solidFill>
                  <a:srgbClr val="C0A45F"/>
                </a:solidFill>
                <a:latin typeface="Arial" pitchFamily="34" charset="0"/>
                <a:ea typeface="Arial" pitchFamily="34" charset="-122"/>
                <a:cs typeface="Arial" pitchFamily="34" charset="-120"/>
              </a:rPr>
              <a:t>3 of 50.</a:t>
            </a:r>
            <a:endParaRPr lang="en-US" sz="4650" dirty="0"/>
          </a:p>
        </p:txBody>
      </p:sp>
      <p:sp>
        <p:nvSpPr>
          <p:cNvPr id="4" name="Text 2"/>
          <p:cNvSpPr/>
          <p:nvPr/>
        </p:nvSpPr>
        <p:spPr>
          <a:xfrm>
            <a:off x="1143000" y="3532503"/>
            <a:ext cx="6985282" cy="1152484"/>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6F8F7"/>
                </a:solidFill>
                <a:latin typeface="Arial" pitchFamily="34" charset="0"/>
                <a:ea typeface="Arial" pitchFamily="34" charset="-122"/>
                <a:cs typeface="Arial" pitchFamily="34" charset="-120"/>
              </a:rPr>
              <a:t>A 90% band that never missed would be too wide to be useful. Calibration means the misses arrive on schedule — about one in ten, not never.</a:t>
            </a:r>
            <a:endParaRPr lang="en-US" sz="1950" dirty="0"/>
          </a:p>
        </p:txBody>
      </p:sp>
      <p:sp>
        <p:nvSpPr>
          <p:cNvPr id="5" name="Shape 3"/>
          <p:cNvSpPr/>
          <p:nvPr/>
        </p:nvSpPr>
        <p:spPr>
          <a:xfrm>
            <a:off x="1143000" y="4742138"/>
            <a:ext cx="6781827" cy="17318"/>
          </a:xfrm>
          <a:prstGeom prst="rect">
            <a:avLst/>
          </a:prstGeom>
          <a:solidFill>
            <a:srgbClr val="F4F8F8">
              <a:alpha val="28000"/>
            </a:srgbClr>
          </a:solidFill>
          <a:ln/>
        </p:spPr>
      </p:sp>
      <p:sp>
        <p:nvSpPr>
          <p:cNvPr id="6" name="Text 4"/>
          <p:cNvSpPr/>
          <p:nvPr/>
        </p:nvSpPr>
        <p:spPr>
          <a:xfrm>
            <a:off x="1143000" y="4854706"/>
            <a:ext cx="7460009" cy="346648"/>
          </a:xfrm>
          <a:prstGeom prst="rect">
            <a:avLst/>
          </a:prstGeom>
          <a:noFill/>
          <a:ln/>
        </p:spPr>
        <p:txBody>
          <a:bodyPr wrap="square" lIns="25400" tIns="25400" rIns="25400" bIns="25400" rtlCol="0" anchor="t">
            <a:normAutofit/>
          </a:bodyPr>
          <a:lstStyle/>
          <a:p>
            <a:pPr algn="l" indent="0" marL="0">
              <a:lnSpc>
                <a:spcPct val="116852"/>
              </a:lnSpc>
              <a:buNone/>
            </a:pPr>
            <a:r>
              <a:rPr lang="en-US" sz="1800" spc="144" kern="0" dirty="0">
                <a:solidFill>
                  <a:srgbClr val="6EC4B4"/>
                </a:solidFill>
                <a:latin typeface="Arial" pitchFamily="34" charset="0"/>
                <a:ea typeface="Arial" pitchFamily="34" charset="-122"/>
                <a:cs typeface="Arial" pitchFamily="34" charset="-120"/>
              </a:rPr>
              <a:t>THE FIRST MISS — SAMSUNG ELECTRONICS</a:t>
            </a:r>
            <a:endParaRPr lang="en-US" sz="1800" dirty="0"/>
          </a:p>
        </p:txBody>
      </p:sp>
      <p:sp>
        <p:nvSpPr>
          <p:cNvPr id="7" name="Text 5"/>
          <p:cNvSpPr/>
          <p:nvPr/>
        </p:nvSpPr>
        <p:spPr>
          <a:xfrm>
            <a:off x="1143000" y="5277513"/>
            <a:ext cx="6985282" cy="2266869"/>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6F8F7"/>
                </a:solidFill>
                <a:latin typeface="Arial" pitchFamily="34" charset="0"/>
                <a:ea typeface="Arial" pitchFamily="34" charset="-122"/>
                <a:cs typeface="Arial" pitchFamily="34" charset="-120"/>
              </a:rPr>
              <a:t>1-month cone · anchored 26 Jun 2026 at ₩339,500 Published band ₩277,676 – ₩430,413 Realized ₩254,000 — below the band. Two more arrived in the 23-Aug Egypt grading — OIH and RMDA, both above their bands in a sharply upward month, struck before the momentum tilt.</a:t>
            </a:r>
            <a:endParaRPr lang="en-US" sz="1950" dirty="0"/>
          </a:p>
        </p:txBody>
      </p:sp>
      <p:sp>
        <p:nvSpPr>
          <p:cNvPr id="8" name="Shape 6"/>
          <p:cNvSpPr/>
          <p:nvPr/>
        </p:nvSpPr>
        <p:spPr>
          <a:xfrm>
            <a:off x="1143000" y="7601531"/>
            <a:ext cx="6781827" cy="17318"/>
          </a:xfrm>
          <a:prstGeom prst="rect">
            <a:avLst/>
          </a:prstGeom>
          <a:solidFill>
            <a:srgbClr val="F4F8F8">
              <a:alpha val="28000"/>
            </a:srgbClr>
          </a:solidFill>
          <a:ln/>
        </p:spPr>
      </p:sp>
      <p:sp>
        <p:nvSpPr>
          <p:cNvPr id="9" name="Text 7"/>
          <p:cNvSpPr/>
          <p:nvPr/>
        </p:nvSpPr>
        <p:spPr>
          <a:xfrm>
            <a:off x="1143000" y="7828359"/>
            <a:ext cx="6985282" cy="895350"/>
          </a:xfrm>
          <a:prstGeom prst="rect">
            <a:avLst/>
          </a:prstGeom>
          <a:noFill/>
          <a:ln/>
        </p:spPr>
        <p:txBody>
          <a:bodyPr wrap="square" lIns="25400" tIns="25400" rIns="25400" bIns="25400" rtlCol="0" anchor="t">
            <a:normAutofit/>
          </a:bodyPr>
          <a:lstStyle/>
          <a:p>
            <a:pPr algn="l" indent="0" marL="0">
              <a:lnSpc>
                <a:spcPct val="130263"/>
              </a:lnSpc>
              <a:buNone/>
            </a:pPr>
            <a:r>
              <a:rPr lang="en-US" sz="2250" b="1" dirty="0">
                <a:solidFill>
                  <a:srgbClr val="6EC4B4"/>
                </a:solidFill>
                <a:latin typeface="Arial" pitchFamily="34" charset="0"/>
                <a:ea typeface="Arial" pitchFamily="34" charset="-122"/>
                <a:cs typeface="Arial" pitchFamily="34" charset="-120"/>
              </a:rPr>
              <a:t>47 of 50 matured forecasts inside their band. Every miss is named, plotted, and permanent.</a:t>
            </a:r>
            <a:endParaRPr lang="en-US" sz="2250" dirty="0"/>
          </a:p>
        </p:txBody>
      </p:sp>
      <p:pic>
        <p:nvPicPr>
          <p:cNvPr id="10" name="Image 0" descr="preencoded.png">    </p:cNvPr>
          <p:cNvPicPr>
            <a:picLocks noChangeAspect="1"/>
          </p:cNvPicPr>
          <p:nvPr/>
        </p:nvPicPr>
        <p:blipFill>
          <a:blip r:embed="rId1"/>
          <a:stretch>
            <a:fillRect/>
          </a:stretch>
        </p:blipFill>
        <p:spPr>
          <a:xfrm>
            <a:off x="8762999" y="3418244"/>
            <a:ext cx="8381999" cy="4298427"/>
          </a:xfrm>
          <a:prstGeom prst="rect">
            <a:avLst/>
          </a:prstGeom>
        </p:spPr>
      </p:pic>
      <p:sp>
        <p:nvSpPr>
          <p:cNvPr id="11" name="Shape 8"/>
          <p:cNvSpPr/>
          <p:nvPr/>
        </p:nvSpPr>
        <p:spPr>
          <a:xfrm>
            <a:off x="1143000" y="8933205"/>
            <a:ext cx="12954000" cy="17318"/>
          </a:xfrm>
          <a:prstGeom prst="rect">
            <a:avLst/>
          </a:prstGeom>
          <a:solidFill>
            <a:srgbClr val="F4F8F8">
              <a:alpha val="28000"/>
            </a:srgbClr>
          </a:solidFill>
          <a:ln/>
        </p:spPr>
      </p:sp>
      <p:sp>
        <p:nvSpPr>
          <p:cNvPr id="12" name="Text 9"/>
          <p:cNvSpPr/>
          <p:nvPr/>
        </p:nvSpPr>
        <p:spPr>
          <a:xfrm>
            <a:off x="1143000" y="9121973"/>
            <a:ext cx="13342620" cy="397155"/>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6EC4B4"/>
                </a:solidFill>
                <a:latin typeface="Arial" pitchFamily="34" charset="0"/>
                <a:ea typeface="Arial" pitchFamily="34" charset="-122"/>
                <a:cs typeface="Arial" pitchFamily="34" charset="-120"/>
              </a:rPr>
              <a:t>No competitor can show you this slide. A public miss record cannot be backdated — only started. Ours started in June.</a:t>
            </a:r>
            <a:endParaRPr lang="en-US" sz="1950" dirty="0"/>
          </a:p>
        </p:txBody>
      </p:sp>
      <p:sp>
        <p:nvSpPr>
          <p:cNvPr id="13" name="Text 10"/>
          <p:cNvSpPr/>
          <p:nvPr/>
        </p:nvSpPr>
        <p:spPr>
          <a:xfrm>
            <a:off x="13285217" y="9570798"/>
            <a:ext cx="3859783"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F6F8F8">
                    <a:alpha val="55000"/>
                  </a:srgbClr>
                </a:solidFill>
                <a:latin typeface="Arial" pitchFamily="34" charset="0"/>
                <a:ea typeface="Arial" pitchFamily="34" charset="-122"/>
                <a:cs typeface="Arial" pitchFamily="34" charset="-120"/>
              </a:rPr>
              <a:t>Testahil — distributions, not tips · 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08 · BOTH READS TOGETHER</a:t>
            </a:r>
            <a:endParaRPr lang="en-US" sz="1800" dirty="0"/>
          </a:p>
        </p:txBody>
      </p:sp>
      <p:sp>
        <p:nvSpPr>
          <p:cNvPr id="3" name="Text 1"/>
          <p:cNvSpPr/>
          <p:nvPr/>
        </p:nvSpPr>
        <p:spPr>
          <a:xfrm>
            <a:off x="16082773" y="133336"/>
            <a:ext cx="1138427" cy="1028686"/>
          </a:xfrm>
          <a:prstGeom prst="rect">
            <a:avLst/>
          </a:prstGeom>
          <a:noFill/>
          <a:ln/>
        </p:spPr>
        <p:txBody>
          <a:bodyPr wrap="square" lIns="25400" tIns="25400" rIns="25400" bIns="25400" rtlCol="0" anchor="t">
            <a:normAutofit/>
          </a:bodyPr>
          <a:lstStyle/>
          <a:p>
            <a:pPr algn="l" indent="0" marL="0">
              <a:lnSpc>
                <a:spcPct val="87328"/>
              </a:lnSpc>
              <a:buNone/>
            </a:pPr>
            <a:r>
              <a:rPr lang="en-US" sz="7800" b="1" spc="-156" kern="0" dirty="0">
                <a:solidFill>
                  <a:srgbClr val="12796B"/>
                </a:solidFill>
                <a:latin typeface="Arial" pitchFamily="34" charset="0"/>
                <a:ea typeface="Arial" pitchFamily="34" charset="-122"/>
                <a:cs typeface="Arial" pitchFamily="34" charset="-120"/>
              </a:rPr>
              <a:t>08</a:t>
            </a:r>
            <a:endParaRPr lang="en-US" sz="7800" dirty="0"/>
          </a:p>
        </p:txBody>
      </p:sp>
      <p:sp>
        <p:nvSpPr>
          <p:cNvPr id="4" name="Text 2"/>
          <p:cNvSpPr/>
          <p:nvPr/>
        </p:nvSpPr>
        <p:spPr>
          <a:xfrm>
            <a:off x="1143000" y="1790673"/>
            <a:ext cx="17602200" cy="699506"/>
          </a:xfrm>
          <a:prstGeom prst="rect">
            <a:avLst/>
          </a:prstGeom>
          <a:noFill/>
          <a:ln/>
        </p:spPr>
        <p:txBody>
          <a:bodyPr wrap="square" lIns="25400" tIns="25400" rIns="25400" bIns="25400" rtlCol="0" anchor="t">
            <a:normAutofit/>
          </a:bodyPr>
          <a:lstStyle/>
          <a:p>
            <a:pPr algn="l" indent="0" marL="0">
              <a:lnSpc>
                <a:spcPct val="97928"/>
              </a:lnSpc>
              <a:buNone/>
            </a:pPr>
            <a:r>
              <a:rPr lang="en-US" sz="4650" b="1" spc="-70" kern="0" dirty="0">
                <a:solidFill>
                  <a:srgbClr val="0E2726"/>
                </a:solidFill>
                <a:latin typeface="Arial" pitchFamily="34" charset="0"/>
                <a:ea typeface="Arial" pitchFamily="34" charset="-122"/>
                <a:cs typeface="Arial" pitchFamily="34" charset="-120"/>
              </a:rPr>
              <a:t>Ticker Picker: can it get there in time?</a:t>
            </a:r>
            <a:endParaRPr lang="en-US" sz="4650" dirty="0"/>
          </a:p>
        </p:txBody>
      </p:sp>
      <p:sp>
        <p:nvSpPr>
          <p:cNvPr id="5" name="Text 3"/>
          <p:cNvSpPr/>
          <p:nvPr/>
        </p:nvSpPr>
        <p:spPr>
          <a:xfrm>
            <a:off x="1143000" y="2566338"/>
            <a:ext cx="17602200" cy="434321"/>
          </a:xfrm>
          <a:prstGeom prst="rect">
            <a:avLst/>
          </a:prstGeom>
          <a:noFill/>
          <a:ln/>
        </p:spPr>
        <p:txBody>
          <a:bodyPr wrap="square" lIns="25400" tIns="25400" rIns="25400" bIns="25400" rtlCol="0" anchor="t">
            <a:normAutofit/>
          </a:bodyPr>
          <a:lstStyle/>
          <a:p>
            <a:pPr algn="l" indent="0" marL="0">
              <a:lnSpc>
                <a:spcPct val="112988"/>
              </a:lnSpc>
              <a:buNone/>
            </a:pPr>
            <a:r>
              <a:rPr lang="en-US" sz="2400" dirty="0">
                <a:solidFill>
                  <a:srgbClr val="0E2626">
                    <a:alpha val="78000"/>
                  </a:srgbClr>
                </a:solidFill>
                <a:latin typeface="Arial" pitchFamily="34" charset="0"/>
                <a:ea typeface="Arial" pitchFamily="34" charset="-122"/>
                <a:cs typeface="Arial" pitchFamily="34" charset="-120"/>
              </a:rPr>
              <a:t>Where the fundamental read meets the simulation read — one page, one question.</a:t>
            </a:r>
            <a:endParaRPr lang="en-US" sz="2400" dirty="0"/>
          </a:p>
        </p:txBody>
      </p:sp>
      <p:sp>
        <p:nvSpPr>
          <p:cNvPr id="6" name="Text 4"/>
          <p:cNvSpPr/>
          <p:nvPr/>
        </p:nvSpPr>
        <p:spPr>
          <a:xfrm>
            <a:off x="1143000" y="3267318"/>
            <a:ext cx="7966357" cy="1895407"/>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Every covered stock publishes two objects: a fair value from its study, and a simulated price range from its calibrated Monte Carlo. The new Ticker Picker reads them together and asks the one question neither answers alone: is the fair value even reachable in the time given, at the speed this stock actually moves?</a:t>
            </a:r>
            <a:endParaRPr lang="en-US" sz="1950" dirty="0"/>
          </a:p>
        </p:txBody>
      </p:sp>
      <p:sp>
        <p:nvSpPr>
          <p:cNvPr id="7" name="Shape 5"/>
          <p:cNvSpPr/>
          <p:nvPr/>
        </p:nvSpPr>
        <p:spPr>
          <a:xfrm>
            <a:off x="1143000" y="5219876"/>
            <a:ext cx="7734327" cy="17318"/>
          </a:xfrm>
          <a:prstGeom prst="rect">
            <a:avLst/>
          </a:prstGeom>
          <a:solidFill>
            <a:srgbClr val="102825">
              <a:alpha val="32000"/>
            </a:srgbClr>
          </a:solidFill>
          <a:ln/>
        </p:spPr>
      </p:sp>
      <p:sp>
        <p:nvSpPr>
          <p:cNvPr id="8" name="Text 6"/>
          <p:cNvSpPr/>
          <p:nvPr/>
        </p:nvSpPr>
        <p:spPr>
          <a:xfrm>
            <a:off x="1143000" y="5446703"/>
            <a:ext cx="7966357" cy="895350"/>
          </a:xfrm>
          <a:prstGeom prst="rect">
            <a:avLst/>
          </a:prstGeom>
          <a:noFill/>
          <a:ln/>
        </p:spPr>
        <p:txBody>
          <a:bodyPr wrap="square" lIns="25400" tIns="25400" rIns="25400" bIns="25400" rtlCol="0" anchor="t">
            <a:normAutofit/>
          </a:bodyPr>
          <a:lstStyle/>
          <a:p>
            <a:pPr algn="l" indent="0" marL="0">
              <a:lnSpc>
                <a:spcPct val="130263"/>
              </a:lnSpc>
              <a:buNone/>
            </a:pPr>
            <a:r>
              <a:rPr lang="en-US" sz="2250" b="1" dirty="0">
                <a:solidFill>
                  <a:srgbClr val="0E2726"/>
                </a:solidFill>
                <a:latin typeface="Arial" pitchFamily="34" charset="0"/>
                <a:ea typeface="Arial" pitchFamily="34" charset="-122"/>
                <a:cs typeface="Arial" pitchFamily="34" charset="-120"/>
              </a:rPr>
              <a:t>At short horizons, the upside ranking and the reachability ranking are nearly opposite.</a:t>
            </a:r>
            <a:endParaRPr lang="en-US" sz="2250" dirty="0"/>
          </a:p>
        </p:txBody>
      </p:sp>
      <p:sp>
        <p:nvSpPr>
          <p:cNvPr id="9" name="Text 7"/>
          <p:cNvSpPr/>
          <p:nvPr/>
        </p:nvSpPr>
        <p:spPr>
          <a:xfrm>
            <a:off x="1143000" y="6418213"/>
            <a:ext cx="7966357" cy="1523946"/>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A stock 70% below fair value cannot close that gap in a month no matter how right the study is; a stock 6% below can. The Picker sorts all 93 by what is closable — and tests every case against its own market’s cash rate (Egypt’s hurdle today: 19.5%).</a:t>
            </a:r>
            <a:endParaRPr lang="en-US" sz="1950" dirty="0"/>
          </a:p>
        </p:txBody>
      </p:sp>
      <p:sp>
        <p:nvSpPr>
          <p:cNvPr id="10" name="Shape 8"/>
          <p:cNvSpPr/>
          <p:nvPr/>
        </p:nvSpPr>
        <p:spPr>
          <a:xfrm>
            <a:off x="1143000" y="7999308"/>
            <a:ext cx="7734327" cy="17318"/>
          </a:xfrm>
          <a:prstGeom prst="rect">
            <a:avLst/>
          </a:prstGeom>
          <a:solidFill>
            <a:srgbClr val="102825">
              <a:alpha val="32000"/>
            </a:srgbClr>
          </a:solidFill>
          <a:ln/>
        </p:spPr>
      </p:sp>
      <p:sp>
        <p:nvSpPr>
          <p:cNvPr id="11" name="Text 9"/>
          <p:cNvSpPr/>
          <p:nvPr/>
        </p:nvSpPr>
        <p:spPr>
          <a:xfrm>
            <a:off x="1143000" y="8226136"/>
            <a:ext cx="7966357" cy="1523946"/>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Honest by construction: the odds machinery is graded on the public ledger. Whether fair values predict returns is not yet provable — the page itself says it needs ~783 graded observations and has 5, verdict expected around 2027. In red, before the table.</a:t>
            </a:r>
            <a:endParaRPr lang="en-US" sz="1950" dirty="0"/>
          </a:p>
        </p:txBody>
      </p:sp>
      <p:sp>
        <p:nvSpPr>
          <p:cNvPr id="12" name="Shape 10"/>
          <p:cNvSpPr/>
          <p:nvPr/>
        </p:nvSpPr>
        <p:spPr>
          <a:xfrm>
            <a:off x="9715499" y="3153059"/>
            <a:ext cx="7429500" cy="5334000"/>
          </a:xfrm>
          <a:prstGeom prst="rect">
            <a:avLst/>
          </a:prstGeom>
          <a:ln w="17318">
            <a:solidFill>
              <a:srgbClr val="102825">
                <a:alpha val="32000"/>
              </a:srgbClr>
            </a:solidFill>
            <a:prstDash val="solid"/>
          </a:ln>
        </p:spPr>
      </p:sp>
      <p:pic>
        <p:nvPicPr>
          <p:cNvPr id="13" name="Image 0" descr="preencoded.png">    </p:cNvPr>
          <p:cNvPicPr>
            <a:picLocks noChangeAspect="1"/>
          </p:cNvPicPr>
          <p:nvPr/>
        </p:nvPicPr>
        <p:blipFill>
          <a:blip r:embed="rId1"/>
          <a:srcRect l="0" r="0" t="0" b="38775"/>
          <a:stretch/>
        </p:blipFill>
        <p:spPr>
          <a:xfrm>
            <a:off x="9715499" y="3153059"/>
            <a:ext cx="7429500" cy="5334000"/>
          </a:xfrm>
          <a:prstGeom prst="rect">
            <a:avLst/>
          </a:prstGeom>
        </p:spPr>
      </p:pic>
      <p:sp>
        <p:nvSpPr>
          <p:cNvPr id="14" name="Text 11"/>
          <p:cNvSpPr/>
          <p:nvPr/>
        </p:nvSpPr>
        <p:spPr>
          <a:xfrm>
            <a:off x="9715499" y="8601318"/>
            <a:ext cx="7652385" cy="78102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B7270"/>
                </a:solidFill>
                <a:latin typeface="Arial" pitchFamily="34" charset="0"/>
                <a:ea typeface="Arial" pitchFamily="34" charset="-122"/>
                <a:cs typeface="Arial" pitchFamily="34" charset="-120"/>
              </a:rPr>
              <a:t>The live table — Egypt group, 3-month horizon, sorted by reachability · testahil.com/picker · shipped 10 Aug 2026</a:t>
            </a:r>
            <a:endParaRPr lang="en-US" sz="1950" dirty="0"/>
          </a:p>
        </p:txBody>
      </p:sp>
      <p:sp>
        <p:nvSpPr>
          <p:cNvPr id="15" name="Text 12"/>
          <p:cNvSpPr/>
          <p:nvPr/>
        </p:nvSpPr>
        <p:spPr>
          <a:xfrm>
            <a:off x="13285217" y="9570798"/>
            <a:ext cx="3859783"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09 · THE BUSINESS</a:t>
            </a:r>
            <a:endParaRPr lang="en-US" sz="1800" dirty="0"/>
          </a:p>
        </p:txBody>
      </p:sp>
      <p:sp>
        <p:nvSpPr>
          <p:cNvPr id="3" name="Text 1"/>
          <p:cNvSpPr/>
          <p:nvPr/>
        </p:nvSpPr>
        <p:spPr>
          <a:xfrm>
            <a:off x="16082773" y="133336"/>
            <a:ext cx="1138427" cy="1028686"/>
          </a:xfrm>
          <a:prstGeom prst="rect">
            <a:avLst/>
          </a:prstGeom>
          <a:noFill/>
          <a:ln/>
        </p:spPr>
        <p:txBody>
          <a:bodyPr wrap="square" lIns="25400" tIns="25400" rIns="25400" bIns="25400" rtlCol="0" anchor="t">
            <a:normAutofit/>
          </a:bodyPr>
          <a:lstStyle/>
          <a:p>
            <a:pPr algn="l" indent="0" marL="0">
              <a:lnSpc>
                <a:spcPct val="87328"/>
              </a:lnSpc>
              <a:buNone/>
            </a:pPr>
            <a:r>
              <a:rPr lang="en-US" sz="7800" b="1" spc="-156" kern="0" dirty="0">
                <a:solidFill>
                  <a:srgbClr val="12796B"/>
                </a:solidFill>
                <a:latin typeface="Arial" pitchFamily="34" charset="0"/>
                <a:ea typeface="Arial" pitchFamily="34" charset="-122"/>
                <a:cs typeface="Arial" pitchFamily="34" charset="-120"/>
              </a:rPr>
              <a:t>09</a:t>
            </a:r>
            <a:endParaRPr lang="en-US" sz="7800" dirty="0"/>
          </a:p>
        </p:txBody>
      </p:sp>
      <p:sp>
        <p:nvSpPr>
          <p:cNvPr id="4" name="Text 2"/>
          <p:cNvSpPr/>
          <p:nvPr/>
        </p:nvSpPr>
        <p:spPr>
          <a:xfrm>
            <a:off x="1143000" y="1790673"/>
            <a:ext cx="17602200" cy="806188"/>
          </a:xfrm>
          <a:prstGeom prst="rect">
            <a:avLst/>
          </a:prstGeom>
          <a:noFill/>
          <a:ln/>
        </p:spPr>
        <p:txBody>
          <a:bodyPr wrap="square" lIns="25400" tIns="25400" rIns="25400" bIns="25400" rtlCol="0" anchor="t">
            <a:normAutofit/>
          </a:bodyPr>
          <a:lstStyle/>
          <a:p>
            <a:pPr algn="l" indent="0" marL="0">
              <a:lnSpc>
                <a:spcPct val="97477"/>
              </a:lnSpc>
              <a:buNone/>
            </a:pPr>
            <a:r>
              <a:rPr lang="en-US" sz="5400" b="1" spc="-81" kern="0" dirty="0">
                <a:solidFill>
                  <a:srgbClr val="0E2726"/>
                </a:solidFill>
                <a:latin typeface="Arial" pitchFamily="34" charset="0"/>
                <a:ea typeface="Arial" pitchFamily="34" charset="-122"/>
                <a:cs typeface="Arial" pitchFamily="34" charset="-120"/>
              </a:rPr>
              <a:t>How this makes money.</a:t>
            </a:r>
            <a:endParaRPr lang="en-US" sz="5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2787348"/>
            <a:ext cx="7772413" cy="4469105"/>
          </a:xfrm>
          <a:prstGeom prst="rect">
            <a:avLst/>
          </a:prstGeom>
        </p:spPr>
      </p:pic>
      <p:sp>
        <p:nvSpPr>
          <p:cNvPr id="6" name="Text 3"/>
          <p:cNvSpPr/>
          <p:nvPr/>
        </p:nvSpPr>
        <p:spPr>
          <a:xfrm>
            <a:off x="9372586" y="2787348"/>
            <a:ext cx="8549655" cy="380946"/>
          </a:xfrm>
          <a:prstGeom prst="rect">
            <a:avLst/>
          </a:prstGeom>
          <a:noFill/>
          <a:ln/>
        </p:spPr>
        <p:txBody>
          <a:bodyPr wrap="square" lIns="25400" tIns="25400" rIns="25400" bIns="25400" rtlCol="0" anchor="t">
            <a:normAutofit/>
          </a:bodyPr>
          <a:lstStyle/>
          <a:p>
            <a:pPr algn="l" indent="0" marL="0">
              <a:lnSpc>
                <a:spcPct val="129836"/>
              </a:lnSpc>
              <a:buNone/>
            </a:pPr>
            <a:r>
              <a:rPr lang="en-US" sz="1800" spc="108" kern="0" dirty="0">
                <a:solidFill>
                  <a:srgbClr val="8A6A2E"/>
                </a:solidFill>
                <a:latin typeface="Arial" pitchFamily="34" charset="0"/>
                <a:ea typeface="Arial" pitchFamily="34" charset="-122"/>
                <a:cs typeface="Arial" pitchFamily="34" charset="-120"/>
              </a:rPr>
              <a:t>WHITE-LABEL OR API — UNDER YOUR BRAND →</a:t>
            </a:r>
            <a:endParaRPr lang="en-US" sz="1800" dirty="0"/>
          </a:p>
        </p:txBody>
      </p:sp>
      <p:sp>
        <p:nvSpPr>
          <p:cNvPr id="7" name="Shape 4"/>
          <p:cNvSpPr/>
          <p:nvPr/>
        </p:nvSpPr>
        <p:spPr>
          <a:xfrm>
            <a:off x="9372586" y="3225444"/>
            <a:ext cx="7772413" cy="25977"/>
          </a:xfrm>
          <a:prstGeom prst="rect">
            <a:avLst/>
          </a:prstGeom>
          <a:solidFill>
            <a:srgbClr val="C0A45F"/>
          </a:solidFill>
          <a:ln/>
        </p:spPr>
      </p:sp>
      <p:sp>
        <p:nvSpPr>
          <p:cNvPr id="8" name="Shape 5"/>
          <p:cNvSpPr/>
          <p:nvPr/>
        </p:nvSpPr>
        <p:spPr>
          <a:xfrm>
            <a:off x="9372586" y="5556430"/>
            <a:ext cx="1800211" cy="1047750"/>
          </a:xfrm>
          <a:prstGeom prst="rect">
            <a:avLst/>
          </a:prstGeom>
          <a:solidFill>
            <a:srgbClr val="D9E4E2"/>
          </a:solidFill>
          <a:ln/>
        </p:spPr>
      </p:sp>
      <p:sp>
        <p:nvSpPr>
          <p:cNvPr id="9" name="Text 6"/>
          <p:cNvSpPr/>
          <p:nvPr/>
        </p:nvSpPr>
        <p:spPr>
          <a:xfrm>
            <a:off x="9524986" y="5689780"/>
            <a:ext cx="1571611" cy="819150"/>
          </a:xfrm>
          <a:prstGeom prst="rect">
            <a:avLst/>
          </a:prstGeom>
          <a:noFill/>
          <a:ln/>
        </p:spPr>
        <p:txBody>
          <a:bodyPr wrap="square" lIns="25400" tIns="25400" rIns="25400" bIns="25400" rtlCol="0" anchor="t">
            <a:normAutofit/>
          </a:bodyPr>
          <a:lstStyle/>
          <a:p>
            <a:pPr algn="l" indent="0" marL="0">
              <a:lnSpc>
                <a:spcPct val="103125"/>
              </a:lnSpc>
              <a:buNone/>
            </a:pPr>
            <a:r>
              <a:rPr lang="en-US" sz="1875" b="1" dirty="0">
                <a:solidFill>
                  <a:srgbClr val="0E2726"/>
                </a:solidFill>
                <a:latin typeface="Arial" pitchFamily="34" charset="0"/>
                <a:ea typeface="Arial" pitchFamily="34" charset="-122"/>
                <a:cs typeface="Arial" pitchFamily="34" charset="-120"/>
              </a:rPr>
              <a:t>Base cones</a:t>
            </a:r>
            <a:endParaRPr lang="en-US" sz="1875" dirty="0"/>
          </a:p>
        </p:txBody>
      </p:sp>
      <p:sp>
        <p:nvSpPr>
          <p:cNvPr id="10" name="Shape 7"/>
          <p:cNvSpPr/>
          <p:nvPr/>
        </p:nvSpPr>
        <p:spPr>
          <a:xfrm>
            <a:off x="11363297" y="4851594"/>
            <a:ext cx="1800279" cy="1752586"/>
          </a:xfrm>
          <a:prstGeom prst="rect">
            <a:avLst/>
          </a:prstGeom>
          <a:solidFill>
            <a:srgbClr val="6EC4B4"/>
          </a:solidFill>
          <a:ln/>
        </p:spPr>
      </p:sp>
      <p:sp>
        <p:nvSpPr>
          <p:cNvPr id="11" name="Text 8"/>
          <p:cNvSpPr/>
          <p:nvPr/>
        </p:nvSpPr>
        <p:spPr>
          <a:xfrm>
            <a:off x="11515697" y="4984944"/>
            <a:ext cx="1571679" cy="1523986"/>
          </a:xfrm>
          <a:prstGeom prst="rect">
            <a:avLst/>
          </a:prstGeom>
          <a:noFill/>
          <a:ln/>
        </p:spPr>
        <p:txBody>
          <a:bodyPr wrap="square" lIns="25400" tIns="25400" rIns="25400" bIns="25400" rtlCol="0" anchor="t">
            <a:normAutofit/>
          </a:bodyPr>
          <a:lstStyle/>
          <a:p>
            <a:pPr algn="l" indent="0" marL="0">
              <a:lnSpc>
                <a:spcPct val="103125"/>
              </a:lnSpc>
              <a:buNone/>
            </a:pPr>
            <a:r>
              <a:rPr lang="en-US" sz="1875" b="1" dirty="0">
                <a:solidFill>
                  <a:srgbClr val="0E2726"/>
                </a:solidFill>
                <a:latin typeface="Arial" pitchFamily="34" charset="0"/>
                <a:ea typeface="Arial" pitchFamily="34" charset="-122"/>
                <a:cs typeface="Arial" pitchFamily="34" charset="-120"/>
              </a:rPr>
              <a:t>+ Ticker Picker</a:t>
            </a:r>
            <a:endParaRPr lang="en-US" sz="1875" dirty="0"/>
          </a:p>
        </p:txBody>
      </p:sp>
      <p:sp>
        <p:nvSpPr>
          <p:cNvPr id="12" name="Shape 9"/>
          <p:cNvSpPr/>
          <p:nvPr/>
        </p:nvSpPr>
        <p:spPr>
          <a:xfrm>
            <a:off x="13354077" y="4165834"/>
            <a:ext cx="1800211" cy="2438346"/>
          </a:xfrm>
          <a:prstGeom prst="rect">
            <a:avLst/>
          </a:prstGeom>
          <a:solidFill>
            <a:srgbClr val="12796B"/>
          </a:solidFill>
          <a:ln/>
        </p:spPr>
      </p:sp>
      <p:sp>
        <p:nvSpPr>
          <p:cNvPr id="13" name="Text 10"/>
          <p:cNvSpPr/>
          <p:nvPr/>
        </p:nvSpPr>
        <p:spPr>
          <a:xfrm>
            <a:off x="13506477" y="4299184"/>
            <a:ext cx="1571611" cy="2209746"/>
          </a:xfrm>
          <a:prstGeom prst="rect">
            <a:avLst/>
          </a:prstGeom>
          <a:noFill/>
          <a:ln/>
        </p:spPr>
        <p:txBody>
          <a:bodyPr wrap="square" lIns="25400" tIns="25400" rIns="25400" bIns="25400" rtlCol="0" anchor="t">
            <a:normAutofit/>
          </a:bodyPr>
          <a:lstStyle/>
          <a:p>
            <a:pPr algn="l" indent="0" marL="0">
              <a:lnSpc>
                <a:spcPct val="103125"/>
              </a:lnSpc>
              <a:buNone/>
            </a:pPr>
            <a:r>
              <a:rPr lang="en-US" sz="1875" b="1" dirty="0">
                <a:solidFill>
                  <a:srgbClr val="FFFFFF"/>
                </a:solidFill>
                <a:latin typeface="Arial" pitchFamily="34" charset="0"/>
                <a:ea typeface="Arial" pitchFamily="34" charset="-122"/>
                <a:cs typeface="Arial" pitchFamily="34" charset="-120"/>
              </a:rPr>
              <a:t>+ Compare · Trade</a:t>
            </a:r>
            <a:endParaRPr lang="en-US" sz="1875" dirty="0"/>
          </a:p>
        </p:txBody>
      </p:sp>
      <p:sp>
        <p:nvSpPr>
          <p:cNvPr id="14" name="Shape 11"/>
          <p:cNvSpPr/>
          <p:nvPr/>
        </p:nvSpPr>
        <p:spPr>
          <a:xfrm>
            <a:off x="15344788" y="3460930"/>
            <a:ext cx="1800211" cy="3143250"/>
          </a:xfrm>
          <a:prstGeom prst="rect">
            <a:avLst/>
          </a:prstGeom>
          <a:solidFill>
            <a:srgbClr val="0E5C51"/>
          </a:solidFill>
          <a:ln/>
        </p:spPr>
      </p:sp>
      <p:sp>
        <p:nvSpPr>
          <p:cNvPr id="15" name="Text 12"/>
          <p:cNvSpPr/>
          <p:nvPr/>
        </p:nvSpPr>
        <p:spPr>
          <a:xfrm>
            <a:off x="15497188" y="3594280"/>
            <a:ext cx="1571611" cy="2914650"/>
          </a:xfrm>
          <a:prstGeom prst="rect">
            <a:avLst/>
          </a:prstGeom>
          <a:noFill/>
          <a:ln/>
        </p:spPr>
        <p:txBody>
          <a:bodyPr wrap="square" lIns="25400" tIns="25400" rIns="25400" bIns="25400" rtlCol="0" anchor="t">
            <a:normAutofit/>
          </a:bodyPr>
          <a:lstStyle/>
          <a:p>
            <a:pPr algn="l" indent="0" marL="0">
              <a:lnSpc>
                <a:spcPct val="103125"/>
              </a:lnSpc>
              <a:buNone/>
            </a:pPr>
            <a:r>
              <a:rPr lang="en-US" sz="1875" b="1" dirty="0">
                <a:solidFill>
                  <a:srgbClr val="FFFFFF"/>
                </a:solidFill>
                <a:latin typeface="Arial" pitchFamily="34" charset="0"/>
                <a:ea typeface="Arial" pitchFamily="34" charset="-122"/>
                <a:cs typeface="Arial" pitchFamily="34" charset="-120"/>
              </a:rPr>
              <a:t>+ Portfolio</a:t>
            </a:r>
            <a:endParaRPr lang="en-US" sz="1875" dirty="0"/>
          </a:p>
        </p:txBody>
      </p:sp>
      <p:sp>
        <p:nvSpPr>
          <p:cNvPr id="16" name="Text 13"/>
          <p:cNvSpPr/>
          <p:nvPr/>
        </p:nvSpPr>
        <p:spPr>
          <a:xfrm>
            <a:off x="9372586" y="6737517"/>
            <a:ext cx="8549655" cy="409561"/>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B7270"/>
                </a:solidFill>
                <a:latin typeface="Arial" pitchFamily="34" charset="0"/>
                <a:ea typeface="Arial" pitchFamily="34" charset="-122"/>
                <a:cs typeface="Arial" pitchFamily="34" charset="-120"/>
              </a:rPr>
              <a:t>licensed tiers — features, not giveaways</a:t>
            </a:r>
            <a:endParaRPr lang="en-US" sz="1950" dirty="0"/>
          </a:p>
        </p:txBody>
      </p:sp>
      <p:sp>
        <p:nvSpPr>
          <p:cNvPr id="17" name="Shape 14"/>
          <p:cNvSpPr/>
          <p:nvPr/>
        </p:nvSpPr>
        <p:spPr>
          <a:xfrm>
            <a:off x="1143000" y="7446953"/>
            <a:ext cx="16002000" cy="17318"/>
          </a:xfrm>
          <a:prstGeom prst="rect">
            <a:avLst/>
          </a:prstGeom>
          <a:solidFill>
            <a:srgbClr val="102825">
              <a:alpha val="32000"/>
            </a:srgbClr>
          </a:solidFill>
          <a:ln/>
        </p:spPr>
      </p:sp>
      <p:sp>
        <p:nvSpPr>
          <p:cNvPr id="18" name="Text 15"/>
          <p:cNvSpPr/>
          <p:nvPr/>
        </p:nvSpPr>
        <p:spPr>
          <a:xfrm>
            <a:off x="1143000" y="7616617"/>
            <a:ext cx="16482060" cy="789682"/>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One partner, one deep integration — scoped per country, per language, per feature tier. </a:t>
            </a:r>
            <a:pPr algn="l" indent="0" marL="0">
              <a:lnSpc>
                <a:spcPct val="130000"/>
              </a:lnSpc>
              <a:buNone/>
            </a:pPr>
            <a:r>
              <a:rPr lang="en-US" sz="1950" b="1" dirty="0">
                <a:solidFill>
                  <a:srgbClr val="0E2726"/>
                </a:solidFill>
                <a:latin typeface="Arial" pitchFamily="34" charset="0"/>
                <a:ea typeface="Arial" pitchFamily="34" charset="-122"/>
                <a:cs typeface="Arial" pitchFamily="34" charset="-120"/>
              </a:rPr>
              <a:t>NEXT: </a:t>
            </a:r>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every stock carrying 95% of daily traded value across Middle East and EM exchanges. </a:t>
            </a:r>
            <a:pPr algn="l" indent="0" marL="0">
              <a:lnSpc>
                <a:spcPct val="130000"/>
              </a:lnSpc>
              <a:buNone/>
            </a:pPr>
            <a:r>
              <a:rPr lang="en-US" sz="1950" b="1" dirty="0">
                <a:solidFill>
                  <a:srgbClr val="0E2726"/>
                </a:solidFill>
                <a:latin typeface="Arial" pitchFamily="34" charset="0"/>
                <a:ea typeface="Arial" pitchFamily="34" charset="-122"/>
                <a:cs typeface="Arial" pitchFamily="34" charset="-120"/>
              </a:rPr>
              <a:t>THEN: </a:t>
            </a:r>
            <a:pPr algn="l" indent="0" marL="0">
              <a:lnSpc>
                <a:spcPct val="130000"/>
              </a:lnSpc>
              <a:buNone/>
            </a:pPr>
            <a:r>
              <a:rPr lang="en-US" sz="1950" dirty="0">
                <a:solidFill>
                  <a:srgbClr val="0E2726"/>
                </a:solidFill>
                <a:latin typeface="Arial" pitchFamily="34" charset="0"/>
                <a:ea typeface="Arial" pitchFamily="34" charset="-122"/>
                <a:cs typeface="Arial" pitchFamily="34" charset="-120"/>
              </a:rPr>
              <a:t>Arabic delivery across the full list, and portfolio-level tools — strictly inside your licensed perimeter.</a:t>
            </a:r>
            <a:endParaRPr lang="en-US" sz="1950" dirty="0"/>
          </a:p>
        </p:txBody>
      </p:sp>
      <p:sp>
        <p:nvSpPr>
          <p:cNvPr id="19" name="Shape 16"/>
          <p:cNvSpPr/>
          <p:nvPr/>
        </p:nvSpPr>
        <p:spPr>
          <a:xfrm>
            <a:off x="1143000" y="8615795"/>
            <a:ext cx="12954000" cy="17318"/>
          </a:xfrm>
          <a:prstGeom prst="rect">
            <a:avLst/>
          </a:prstGeom>
          <a:solidFill>
            <a:srgbClr val="102825">
              <a:alpha val="32000"/>
            </a:srgbClr>
          </a:solidFill>
          <a:ln/>
        </p:spPr>
      </p:sp>
      <p:sp>
        <p:nvSpPr>
          <p:cNvPr id="20" name="Text 17"/>
          <p:cNvSpPr/>
          <p:nvPr/>
        </p:nvSpPr>
        <p:spPr>
          <a:xfrm>
            <a:off x="1143000" y="8804563"/>
            <a:ext cx="13342620" cy="397155"/>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5C51"/>
                </a:solidFill>
                <a:latin typeface="Arial" pitchFamily="34" charset="0"/>
                <a:ea typeface="Arial" pitchFamily="34" charset="-122"/>
                <a:cs typeface="Arial" pitchFamily="34" charset="-120"/>
              </a:rPr>
              <a:t>The marginal name is nearly free. Each new market is priced openly — data, licensing, residency — never buried.</a:t>
            </a:r>
            <a:endParaRPr lang="en-US" sz="1950" dirty="0"/>
          </a:p>
        </p:txBody>
      </p:sp>
      <p:sp>
        <p:nvSpPr>
          <p:cNvPr id="21" name="Text 18"/>
          <p:cNvSpPr/>
          <p:nvPr/>
        </p:nvSpPr>
        <p:spPr>
          <a:xfrm>
            <a:off x="13285217" y="9570798"/>
            <a:ext cx="3859783"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726"/>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6EC4B4"/>
                </a:solidFill>
                <a:latin typeface="Arial" pitchFamily="34" charset="0"/>
                <a:ea typeface="Arial" pitchFamily="34" charset="-122"/>
                <a:cs typeface="Arial" pitchFamily="34" charset="-120"/>
              </a:rPr>
              <a:t>APPENDIX</a:t>
            </a:r>
            <a:endParaRPr lang="en-US" sz="1800" dirty="0"/>
          </a:p>
        </p:txBody>
      </p:sp>
      <p:sp>
        <p:nvSpPr>
          <p:cNvPr id="3" name="Text 1"/>
          <p:cNvSpPr/>
          <p:nvPr/>
        </p:nvSpPr>
        <p:spPr>
          <a:xfrm>
            <a:off x="1143000" y="4130724"/>
            <a:ext cx="17602200" cy="1147546"/>
          </a:xfrm>
          <a:prstGeom prst="rect">
            <a:avLst/>
          </a:prstGeom>
          <a:noFill/>
          <a:ln/>
        </p:spPr>
        <p:txBody>
          <a:bodyPr wrap="square" lIns="25400" tIns="25400" rIns="25400" bIns="25400" rtlCol="0" anchor="t">
            <a:normAutofit/>
          </a:bodyPr>
          <a:lstStyle/>
          <a:p>
            <a:pPr algn="l" indent="0" marL="0">
              <a:lnSpc>
                <a:spcPct val="97808"/>
              </a:lnSpc>
              <a:buNone/>
            </a:pPr>
            <a:r>
              <a:rPr lang="en-US" sz="7800" b="1" spc="-117" kern="0" dirty="0">
                <a:solidFill>
                  <a:srgbClr val="F6F8F7"/>
                </a:solidFill>
                <a:latin typeface="Arial" pitchFamily="34" charset="0"/>
                <a:ea typeface="Arial" pitchFamily="34" charset="-122"/>
                <a:cs typeface="Arial" pitchFamily="34" charset="-120"/>
              </a:rPr>
              <a:t>Appendix.</a:t>
            </a:r>
            <a:endParaRPr lang="en-US" sz="7800" dirty="0"/>
          </a:p>
        </p:txBody>
      </p:sp>
      <p:sp>
        <p:nvSpPr>
          <p:cNvPr id="4" name="Text 2"/>
          <p:cNvSpPr/>
          <p:nvPr/>
        </p:nvSpPr>
        <p:spPr>
          <a:xfrm>
            <a:off x="1143000" y="5583016"/>
            <a:ext cx="11160919" cy="466725"/>
          </a:xfrm>
          <a:prstGeom prst="rect">
            <a:avLst/>
          </a:prstGeom>
          <a:noFill/>
          <a:ln/>
        </p:spPr>
        <p:txBody>
          <a:bodyPr wrap="square" lIns="25400" tIns="25400" rIns="25400" bIns="25400" rtlCol="0" anchor="t">
            <a:normAutofit/>
          </a:bodyPr>
          <a:lstStyle/>
          <a:p>
            <a:pPr algn="l" indent="0" marL="0">
              <a:lnSpc>
                <a:spcPct val="130263"/>
              </a:lnSpc>
              <a:buNone/>
            </a:pPr>
            <a:r>
              <a:rPr lang="en-US" sz="2250" dirty="0">
                <a:solidFill>
                  <a:srgbClr val="F6F9F7">
                    <a:alpha val="78000"/>
                  </a:srgbClr>
                </a:solidFill>
                <a:latin typeface="Arial" pitchFamily="34" charset="0"/>
                <a:ea typeface="Arial" pitchFamily="34" charset="-122"/>
                <a:cs typeface="Arial" pitchFamily="34" charset="-120"/>
              </a:rPr>
              <a:t>The reference layer — for the readers who go deeper.</a:t>
            </a:r>
            <a:endParaRPr lang="en-US" sz="2250" dirty="0"/>
          </a:p>
        </p:txBody>
      </p:sp>
      <p:sp>
        <p:nvSpPr>
          <p:cNvPr id="5" name="Text 3"/>
          <p:cNvSpPr/>
          <p:nvPr/>
        </p:nvSpPr>
        <p:spPr>
          <a:xfrm>
            <a:off x="1143000" y="6544987"/>
            <a:ext cx="2052786"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spc="108" kern="0" dirty="0">
                <a:solidFill>
                  <a:srgbClr val="6EC4B4"/>
                </a:solidFill>
                <a:latin typeface="Arial" pitchFamily="34" charset="0"/>
                <a:ea typeface="Arial" pitchFamily="34" charset="-122"/>
                <a:cs typeface="Arial" pitchFamily="34" charset="-120"/>
              </a:rPr>
              <a:t>THE LIVE READ</a:t>
            </a:r>
            <a:endParaRPr lang="en-US" sz="1800" dirty="0"/>
          </a:p>
        </p:txBody>
      </p:sp>
      <p:sp>
        <p:nvSpPr>
          <p:cNvPr id="6" name="Text 4"/>
          <p:cNvSpPr/>
          <p:nvPr/>
        </p:nvSpPr>
        <p:spPr>
          <a:xfrm>
            <a:off x="3542515" y="6544987"/>
            <a:ext cx="2648768"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spc="108" kern="0" dirty="0">
                <a:solidFill>
                  <a:srgbClr val="6EC4B4"/>
                </a:solidFill>
                <a:latin typeface="Arial" pitchFamily="34" charset="0"/>
                <a:ea typeface="Arial" pitchFamily="34" charset="-122"/>
                <a:cs typeface="Arial" pitchFamily="34" charset="-120"/>
              </a:rPr>
              <a:t>THE ALTERNATIVES</a:t>
            </a:r>
            <a:endParaRPr lang="en-US" sz="1800" dirty="0"/>
          </a:p>
        </p:txBody>
      </p:sp>
      <p:sp>
        <p:nvSpPr>
          <p:cNvPr id="7" name="Text 5"/>
          <p:cNvSpPr/>
          <p:nvPr/>
        </p:nvSpPr>
        <p:spPr>
          <a:xfrm>
            <a:off x="6483832" y="6544987"/>
            <a:ext cx="1956569"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spc="108" kern="0" dirty="0">
                <a:solidFill>
                  <a:srgbClr val="6EC4B4"/>
                </a:solidFill>
                <a:latin typeface="Arial" pitchFamily="34" charset="0"/>
                <a:ea typeface="Arial" pitchFamily="34" charset="-122"/>
                <a:cs typeface="Arial" pitchFamily="34" charset="-120"/>
              </a:rPr>
              <a:t>GOVERNANCE</a:t>
            </a:r>
            <a:endParaRPr lang="en-US" sz="1800" dirty="0"/>
          </a:p>
        </p:txBody>
      </p:sp>
      <p:sp>
        <p:nvSpPr>
          <p:cNvPr id="8" name="Text 6"/>
          <p:cNvSpPr/>
          <p:nvPr/>
        </p:nvSpPr>
        <p:spPr>
          <a:xfrm>
            <a:off x="8795877" y="6544987"/>
            <a:ext cx="3965525"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spc="108" kern="0" dirty="0">
                <a:solidFill>
                  <a:srgbClr val="6EC4B4"/>
                </a:solidFill>
                <a:latin typeface="Arial" pitchFamily="34" charset="0"/>
                <a:ea typeface="Arial" pitchFamily="34" charset="-122"/>
                <a:cs typeface="Arial" pitchFamily="34" charset="-120"/>
              </a:rPr>
              <a:t>CONTINUOUS IMPROVEMENT</a:t>
            </a:r>
            <a:endParaRPr lang="en-US" sz="1800" dirty="0"/>
          </a:p>
        </p:txBody>
      </p:sp>
      <p:sp>
        <p:nvSpPr>
          <p:cNvPr id="9" name="Text 7"/>
          <p:cNvSpPr/>
          <p:nvPr/>
        </p:nvSpPr>
        <p:spPr>
          <a:xfrm>
            <a:off x="12934247" y="6544987"/>
            <a:ext cx="2213595"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spc="108" kern="0" dirty="0">
                <a:solidFill>
                  <a:srgbClr val="6EC4B4"/>
                </a:solidFill>
                <a:latin typeface="Arial" pitchFamily="34" charset="0"/>
                <a:ea typeface="Arial" pitchFamily="34" charset="-122"/>
                <a:cs typeface="Arial" pitchFamily="34" charset="-120"/>
              </a:rPr>
              <a:t>THE FULL TABLE</a:t>
            </a:r>
            <a:endParaRPr lang="en-US" sz="1800" dirty="0"/>
          </a:p>
        </p:txBody>
      </p:sp>
      <p:sp>
        <p:nvSpPr>
          <p:cNvPr id="10" name="Text 8"/>
          <p:cNvSpPr/>
          <p:nvPr/>
        </p:nvSpPr>
        <p:spPr>
          <a:xfrm>
            <a:off x="13142268" y="9570798"/>
            <a:ext cx="4002732"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F6F8F8">
                    <a:alpha val="55000"/>
                  </a:srgbClr>
                </a:solidFill>
                <a:latin typeface="Arial" pitchFamily="34" charset="0"/>
                <a:ea typeface="Arial" pitchFamily="34" charset="-122"/>
                <a:cs typeface="Arial" pitchFamily="34" charset="-120"/>
              </a:rPr>
              <a:t>Testahil — distributions, not tips · 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APPENDIX · THE LIVE READ</a:t>
            </a:r>
            <a:endParaRPr lang="en-US" sz="1800" dirty="0"/>
          </a:p>
        </p:txBody>
      </p:sp>
      <p:sp>
        <p:nvSpPr>
          <p:cNvPr id="3" name="Text 1"/>
          <p:cNvSpPr/>
          <p:nvPr/>
        </p:nvSpPr>
        <p:spPr>
          <a:xfrm>
            <a:off x="1143000" y="1790673"/>
            <a:ext cx="17602200" cy="699506"/>
          </a:xfrm>
          <a:prstGeom prst="rect">
            <a:avLst/>
          </a:prstGeom>
          <a:noFill/>
          <a:ln/>
        </p:spPr>
        <p:txBody>
          <a:bodyPr wrap="square" lIns="25400" tIns="25400" rIns="25400" bIns="25400" rtlCol="0" anchor="t">
            <a:normAutofit/>
          </a:bodyPr>
          <a:lstStyle/>
          <a:p>
            <a:pPr algn="l" indent="0" marL="0">
              <a:lnSpc>
                <a:spcPct val="97928"/>
              </a:lnSpc>
              <a:buNone/>
            </a:pPr>
            <a:r>
              <a:rPr lang="en-US" sz="4650" b="1" spc="-70" kern="0" dirty="0">
                <a:solidFill>
                  <a:srgbClr val="0E2726"/>
                </a:solidFill>
                <a:latin typeface="Arial" pitchFamily="34" charset="0"/>
                <a:ea typeface="Arial" pitchFamily="34" charset="-122"/>
                <a:cs typeface="Arial" pitchFamily="34" charset="-120"/>
              </a:rPr>
              <a:t>Two clocks, two lists — live on the site.</a:t>
            </a:r>
            <a:endParaRPr lang="en-US" sz="4650" dirty="0"/>
          </a:p>
        </p:txBody>
      </p:sp>
      <p:sp>
        <p:nvSpPr>
          <p:cNvPr id="4" name="Text 2"/>
          <p:cNvSpPr/>
          <p:nvPr/>
        </p:nvSpPr>
        <p:spPr>
          <a:xfrm>
            <a:off x="1143000" y="2871097"/>
            <a:ext cx="8549655" cy="409561"/>
          </a:xfrm>
          <a:prstGeom prst="rect">
            <a:avLst/>
          </a:prstGeom>
          <a:noFill/>
          <a:ln/>
        </p:spPr>
        <p:txBody>
          <a:bodyPr wrap="square" lIns="25400" tIns="25400" rIns="25400" bIns="25400" rtlCol="0" anchor="t">
            <a:normAutofit/>
          </a:bodyPr>
          <a:lstStyle/>
          <a:p>
            <a:pPr algn="l" indent="0" marL="0">
              <a:lnSpc>
                <a:spcPct val="130000"/>
              </a:lnSpc>
              <a:buNone/>
            </a:pPr>
            <a:r>
              <a:rPr lang="en-US" sz="1950" spc="156" kern="0" dirty="0">
                <a:solidFill>
                  <a:srgbClr val="12796B"/>
                </a:solidFill>
                <a:latin typeface="Arial" pitchFamily="34" charset="0"/>
                <a:ea typeface="Arial" pitchFamily="34" charset="-122"/>
                <a:cs typeface="Arial" pitchFamily="34" charset="-120"/>
              </a:rPr>
              <a:t>FUNDAMENTAL · 1-YEAR GAP TO FAIR VALUE</a:t>
            </a:r>
            <a:endParaRPr lang="en-US" sz="1950" dirty="0"/>
          </a:p>
        </p:txBody>
      </p:sp>
      <p:sp>
        <p:nvSpPr>
          <p:cNvPr id="5" name="Shape 3"/>
          <p:cNvSpPr/>
          <p:nvPr/>
        </p:nvSpPr>
        <p:spPr>
          <a:xfrm>
            <a:off x="1143000" y="4141684"/>
            <a:ext cx="7772413" cy="9525"/>
          </a:xfrm>
          <a:prstGeom prst="rect">
            <a:avLst/>
          </a:prstGeom>
          <a:solidFill>
            <a:srgbClr val="102825">
              <a:alpha val="32000"/>
            </a:srgbClr>
          </a:solidFill>
          <a:ln/>
        </p:spPr>
        <p:txBody>
          <a:bodyPr/>
          <a:p/>
        </p:txBody>
      </p:sp>
      <p:sp>
        <p:nvSpPr>
          <p:cNvPr id="6" name="Shape 4"/>
          <p:cNvSpPr/>
          <p:nvPr/>
        </p:nvSpPr>
        <p:spPr>
          <a:xfrm>
            <a:off x="1143000" y="3539741"/>
            <a:ext cx="438096" cy="438096"/>
          </a:xfrm>
          <a:prstGeom prst="rect">
            <a:avLst/>
          </a:prstGeom>
          <a:solidFill>
            <a:srgbClr val="12796B"/>
          </a:solidFill>
          <a:ln/>
        </p:spPr>
        <p:txBody>
          <a:bodyPr/>
          <a:p/>
        </p:txBody>
      </p:sp>
      <p:sp>
        <p:nvSpPr>
          <p:cNvPr id="7" name="Text 5"/>
          <p:cNvSpPr/>
          <p:nvPr/>
        </p:nvSpPr>
        <p:spPr>
          <a:xfrm>
            <a:off x="1104900" y="3539741"/>
            <a:ext cx="514296" cy="476196"/>
          </a:xfrm>
          <a:prstGeom prst="rect">
            <a:avLst/>
          </a:prstGeom>
          <a:noFill/>
          <a:ln/>
        </p:spPr>
        <p:txBody>
          <a:bodyPr wrap="square" lIns="25400" tIns="25400" rIns="25400" bIns="25400" rtlCol="0" anchor="ctr">
            <a:normAutofit/>
          </a:bodyPr>
          <a:lstStyle/>
          <a:p>
            <a:pPr algn="ctr" indent="0" marL="0">
              <a:lnSpc>
                <a:spcPct val="134164"/>
              </a:lnSpc>
              <a:buNone/>
            </a:pPr>
            <a:r>
              <a:rPr lang="en-US" sz="1800" dirty="0">
                <a:solidFill>
                  <a:srgbClr val="F6F8F7"/>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771596" y="3593049"/>
            <a:ext cx="6143848" cy="369513"/>
          </a:xfrm>
          <a:prstGeom prst="rect">
            <a:avLst/>
          </a:prstGeom>
          <a:noFill/>
          <a:ln/>
        </p:spPr>
        <p:txBody>
          <a:bodyPr wrap="square" lIns="25400" tIns="25400" rIns="25400" bIns="25400" rtlCol="0" anchor="t">
            <a:normAutofit/>
          </a:bodyPr>
          <a:lstStyle/>
          <a:p>
            <a:pPr algn="l" indent="0" marL="0">
              <a:lnSpc>
                <a:spcPct val="103459"/>
              </a:lnSpc>
              <a:buNone/>
            </a:pPr>
            <a:r>
              <a:rPr lang="en-US" sz="2175" dirty="0">
                <a:solidFill>
                  <a:srgbClr val="0E2726"/>
                </a:solidFill>
                <a:latin typeface="Arial" pitchFamily="34" charset="0"/>
                <a:ea typeface="Arial" pitchFamily="34" charset="-122"/>
                <a:cs typeface="Arial" pitchFamily="34" charset="-120"/>
              </a:rPr>
              <a:t>Emaar Misr for Development (EGX)</a:t>
            </a:r>
            <a:endParaRPr lang="en-US" sz="2175" dirty="0"/>
          </a:p>
        </p:txBody>
      </p:sp>
      <p:sp>
        <p:nvSpPr>
          <p:cNvPr id="9" name="Text 7"/>
          <p:cNvSpPr/>
          <p:nvPr/>
        </p:nvSpPr>
        <p:spPr>
          <a:xfrm>
            <a:off x="7547412" y="3518770"/>
            <a:ext cx="1504801" cy="518138"/>
          </a:xfrm>
          <a:prstGeom prst="rect">
            <a:avLst/>
          </a:prstGeom>
          <a:noFill/>
          <a:ln/>
        </p:spPr>
        <p:txBody>
          <a:bodyPr wrap="square" lIns="25400" tIns="25400" rIns="25400" bIns="25400" rtlCol="0" anchor="t">
            <a:normAutofit/>
          </a:bodyPr>
          <a:lstStyle/>
          <a:p>
            <a:pPr algn="l" indent="0" marL="0">
              <a:lnSpc>
                <a:spcPct val="103626"/>
              </a:lnSpc>
              <a:buNone/>
            </a:pPr>
            <a:r>
              <a:rPr lang="en-US" sz="3150" b="1" dirty="0">
                <a:solidFill>
                  <a:srgbClr val="0E5C51"/>
                </a:solidFill>
                <a:latin typeface="Arial" pitchFamily="34" charset="0"/>
                <a:ea typeface="Arial" pitchFamily="34" charset="-122"/>
                <a:cs typeface="Arial" pitchFamily="34" charset="-120"/>
              </a:rPr>
              <a:t>+72.1%</a:t>
            </a:r>
            <a:endParaRPr lang="en-US" sz="3150" dirty="0"/>
          </a:p>
        </p:txBody>
      </p:sp>
      <p:sp>
        <p:nvSpPr>
          <p:cNvPr id="10" name="Shape 8"/>
          <p:cNvSpPr/>
          <p:nvPr/>
        </p:nvSpPr>
        <p:spPr>
          <a:xfrm>
            <a:off x="1143000" y="4916131"/>
            <a:ext cx="7772413" cy="9525"/>
          </a:xfrm>
          <a:prstGeom prst="rect">
            <a:avLst/>
          </a:prstGeom>
          <a:solidFill>
            <a:srgbClr val="102825">
              <a:alpha val="32000"/>
            </a:srgbClr>
          </a:solidFill>
          <a:ln/>
        </p:spPr>
        <p:txBody>
          <a:bodyPr/>
          <a:p/>
        </p:txBody>
      </p:sp>
      <p:sp>
        <p:nvSpPr>
          <p:cNvPr id="11" name="Shape 9"/>
          <p:cNvSpPr/>
          <p:nvPr/>
        </p:nvSpPr>
        <p:spPr>
          <a:xfrm>
            <a:off x="1143000" y="4314189"/>
            <a:ext cx="438096" cy="438096"/>
          </a:xfrm>
          <a:prstGeom prst="rect">
            <a:avLst/>
          </a:prstGeom>
          <a:solidFill>
            <a:srgbClr val="12796B"/>
          </a:solidFill>
          <a:ln/>
        </p:spPr>
        <p:txBody>
          <a:bodyPr/>
          <a:p/>
        </p:txBody>
      </p:sp>
      <p:sp>
        <p:nvSpPr>
          <p:cNvPr id="12" name="Text 10"/>
          <p:cNvSpPr/>
          <p:nvPr/>
        </p:nvSpPr>
        <p:spPr>
          <a:xfrm>
            <a:off x="1104900" y="4314189"/>
            <a:ext cx="514296" cy="476196"/>
          </a:xfrm>
          <a:prstGeom prst="rect">
            <a:avLst/>
          </a:prstGeom>
          <a:noFill/>
          <a:ln/>
        </p:spPr>
        <p:txBody>
          <a:bodyPr wrap="square" lIns="25400" tIns="25400" rIns="25400" bIns="25400" rtlCol="0" anchor="ctr">
            <a:normAutofit/>
          </a:bodyPr>
          <a:lstStyle/>
          <a:p>
            <a:pPr algn="ctr" indent="0" marL="0">
              <a:lnSpc>
                <a:spcPct val="134164"/>
              </a:lnSpc>
              <a:buNone/>
            </a:pPr>
            <a:r>
              <a:rPr lang="en-US" sz="1800" dirty="0">
                <a:solidFill>
                  <a:srgbClr val="F6F8F7"/>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1771596" y="4367496"/>
            <a:ext cx="6143848" cy="369513"/>
          </a:xfrm>
          <a:prstGeom prst="rect">
            <a:avLst/>
          </a:prstGeom>
          <a:noFill/>
          <a:ln/>
        </p:spPr>
        <p:txBody>
          <a:bodyPr wrap="square" lIns="25400" tIns="25400" rIns="25400" bIns="25400" rtlCol="0" anchor="t">
            <a:normAutofit/>
          </a:bodyPr>
          <a:lstStyle/>
          <a:p>
            <a:pPr algn="l" indent="0" marL="0">
              <a:lnSpc>
                <a:spcPct val="103459"/>
              </a:lnSpc>
              <a:buNone/>
            </a:pPr>
            <a:r>
              <a:rPr lang="en-US" sz="2175" dirty="0">
                <a:solidFill>
                  <a:srgbClr val="0E2726"/>
                </a:solidFill>
                <a:latin typeface="Arial" pitchFamily="34" charset="0"/>
                <a:ea typeface="Arial" pitchFamily="34" charset="-122"/>
                <a:cs typeface="Arial" pitchFamily="34" charset="-120"/>
              </a:rPr>
              <a:t>Talaat Moustafa Group (EGX)</a:t>
            </a:r>
            <a:endParaRPr lang="en-US" sz="2175" dirty="0"/>
          </a:p>
        </p:txBody>
      </p:sp>
      <p:sp>
        <p:nvSpPr>
          <p:cNvPr id="14" name="Text 12"/>
          <p:cNvSpPr/>
          <p:nvPr/>
        </p:nvSpPr>
        <p:spPr>
          <a:xfrm>
            <a:off x="7547412" y="4293218"/>
            <a:ext cx="1504801" cy="518138"/>
          </a:xfrm>
          <a:prstGeom prst="rect">
            <a:avLst/>
          </a:prstGeom>
          <a:noFill/>
          <a:ln/>
        </p:spPr>
        <p:txBody>
          <a:bodyPr wrap="square" lIns="25400" tIns="25400" rIns="25400" bIns="25400" rtlCol="0" anchor="t">
            <a:normAutofit/>
          </a:bodyPr>
          <a:lstStyle/>
          <a:p>
            <a:pPr algn="l" indent="0" marL="0">
              <a:lnSpc>
                <a:spcPct val="103626"/>
              </a:lnSpc>
              <a:buNone/>
            </a:pPr>
            <a:r>
              <a:rPr lang="en-US" sz="3150" b="1" dirty="0">
                <a:solidFill>
                  <a:srgbClr val="0E5C51"/>
                </a:solidFill>
                <a:latin typeface="Arial" pitchFamily="34" charset="0"/>
                <a:ea typeface="Arial" pitchFamily="34" charset="-122"/>
                <a:cs typeface="Arial" pitchFamily="34" charset="-120"/>
              </a:rPr>
              <a:t>+50.4%</a:t>
            </a:r>
            <a:endParaRPr lang="en-US" sz="3150" dirty="0"/>
          </a:p>
        </p:txBody>
      </p:sp>
      <p:sp>
        <p:nvSpPr>
          <p:cNvPr id="15" name="Shape 13"/>
          <p:cNvSpPr/>
          <p:nvPr/>
        </p:nvSpPr>
        <p:spPr>
          <a:xfrm>
            <a:off x="1143000" y="5690578"/>
            <a:ext cx="7772413" cy="9525"/>
          </a:xfrm>
          <a:prstGeom prst="rect">
            <a:avLst/>
          </a:prstGeom>
          <a:solidFill>
            <a:srgbClr val="102825">
              <a:alpha val="32000"/>
            </a:srgbClr>
          </a:solidFill>
          <a:ln/>
        </p:spPr>
        <p:txBody>
          <a:bodyPr/>
          <a:p/>
        </p:txBody>
      </p:sp>
      <p:sp>
        <p:nvSpPr>
          <p:cNvPr id="16" name="Shape 14"/>
          <p:cNvSpPr/>
          <p:nvPr/>
        </p:nvSpPr>
        <p:spPr>
          <a:xfrm>
            <a:off x="1143000" y="5088636"/>
            <a:ext cx="438096" cy="438096"/>
          </a:xfrm>
          <a:prstGeom prst="rect">
            <a:avLst/>
          </a:prstGeom>
          <a:solidFill>
            <a:srgbClr val="12796B"/>
          </a:solidFill>
          <a:ln/>
        </p:spPr>
        <p:txBody>
          <a:bodyPr/>
          <a:p/>
        </p:txBody>
      </p:sp>
      <p:sp>
        <p:nvSpPr>
          <p:cNvPr id="17" name="Text 15"/>
          <p:cNvSpPr/>
          <p:nvPr/>
        </p:nvSpPr>
        <p:spPr>
          <a:xfrm>
            <a:off x="1104900" y="5088636"/>
            <a:ext cx="514296" cy="476196"/>
          </a:xfrm>
          <a:prstGeom prst="rect">
            <a:avLst/>
          </a:prstGeom>
          <a:noFill/>
          <a:ln/>
        </p:spPr>
        <p:txBody>
          <a:bodyPr wrap="square" lIns="25400" tIns="25400" rIns="25400" bIns="25400" rtlCol="0" anchor="ctr">
            <a:normAutofit/>
          </a:bodyPr>
          <a:lstStyle/>
          <a:p>
            <a:pPr algn="ctr" indent="0" marL="0">
              <a:lnSpc>
                <a:spcPct val="134164"/>
              </a:lnSpc>
              <a:buNone/>
            </a:pPr>
            <a:r>
              <a:rPr lang="en-US" sz="1800" dirty="0">
                <a:solidFill>
                  <a:srgbClr val="F6F8F7"/>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1771596" y="5141944"/>
            <a:ext cx="6143848" cy="369513"/>
          </a:xfrm>
          <a:prstGeom prst="rect">
            <a:avLst/>
          </a:prstGeom>
          <a:noFill/>
          <a:ln/>
        </p:spPr>
        <p:txBody>
          <a:bodyPr wrap="square" lIns="25400" tIns="25400" rIns="25400" bIns="25400" rtlCol="0" anchor="t">
            <a:normAutofit/>
          </a:bodyPr>
          <a:lstStyle/>
          <a:p>
            <a:pPr algn="l" indent="0" marL="0">
              <a:lnSpc>
                <a:spcPct val="103459"/>
              </a:lnSpc>
              <a:buNone/>
            </a:pPr>
            <a:r>
              <a:rPr lang="en-US" sz="2175" dirty="0">
                <a:solidFill>
                  <a:srgbClr val="0E2726"/>
                </a:solidFill>
                <a:latin typeface="Arial" pitchFamily="34" charset="0"/>
                <a:ea typeface="Arial" pitchFamily="34" charset="-122"/>
                <a:cs typeface="Arial" pitchFamily="34" charset="-120"/>
              </a:rPr>
              <a:t>Burjeel Holdings (ADX)</a:t>
            </a:r>
            <a:endParaRPr lang="en-US" sz="2175" dirty="0"/>
          </a:p>
        </p:txBody>
      </p:sp>
      <p:sp>
        <p:nvSpPr>
          <p:cNvPr id="19" name="Text 17"/>
          <p:cNvSpPr/>
          <p:nvPr/>
        </p:nvSpPr>
        <p:spPr>
          <a:xfrm>
            <a:off x="7547412" y="5067665"/>
            <a:ext cx="1504801" cy="518138"/>
          </a:xfrm>
          <a:prstGeom prst="rect">
            <a:avLst/>
          </a:prstGeom>
          <a:noFill/>
          <a:ln/>
        </p:spPr>
        <p:txBody>
          <a:bodyPr wrap="square" lIns="25400" tIns="25400" rIns="25400" bIns="25400" rtlCol="0" anchor="t">
            <a:normAutofit/>
          </a:bodyPr>
          <a:lstStyle/>
          <a:p>
            <a:pPr algn="l" indent="0" marL="0">
              <a:lnSpc>
                <a:spcPct val="103626"/>
              </a:lnSpc>
              <a:buNone/>
            </a:pPr>
            <a:r>
              <a:rPr lang="en-US" sz="3150" b="1" dirty="0">
                <a:solidFill>
                  <a:srgbClr val="0E5C51"/>
                </a:solidFill>
                <a:latin typeface="Arial" pitchFamily="34" charset="0"/>
                <a:ea typeface="Arial" pitchFamily="34" charset="-122"/>
                <a:cs typeface="Arial" pitchFamily="34" charset="-120"/>
              </a:rPr>
              <a:t>+48.0%</a:t>
            </a:r>
            <a:endParaRPr lang="en-US" sz="3150" dirty="0"/>
          </a:p>
        </p:txBody>
      </p:sp>
      <p:sp>
        <p:nvSpPr>
          <p:cNvPr id="20" name="Text 18"/>
          <p:cNvSpPr/>
          <p:nvPr/>
        </p:nvSpPr>
        <p:spPr>
          <a:xfrm>
            <a:off x="9372586" y="2871097"/>
            <a:ext cx="8549655" cy="409561"/>
          </a:xfrm>
          <a:prstGeom prst="rect">
            <a:avLst/>
          </a:prstGeom>
          <a:noFill/>
          <a:ln/>
        </p:spPr>
        <p:txBody>
          <a:bodyPr wrap="square" lIns="25400" tIns="25400" rIns="25400" bIns="25400" rtlCol="0" anchor="t">
            <a:normAutofit/>
          </a:bodyPr>
          <a:lstStyle/>
          <a:p>
            <a:pPr algn="l" indent="0" marL="0">
              <a:lnSpc>
                <a:spcPct val="130000"/>
              </a:lnSpc>
              <a:buNone/>
            </a:pPr>
            <a:r>
              <a:rPr lang="en-US" sz="1950" spc="156" kern="0" dirty="0">
                <a:solidFill>
                  <a:srgbClr val="12796B"/>
                </a:solidFill>
                <a:latin typeface="Arial" pitchFamily="34" charset="0"/>
                <a:ea typeface="Arial" pitchFamily="34" charset="-122"/>
                <a:cs typeface="Arial" pitchFamily="34" charset="-120"/>
              </a:rPr>
              <a:t>SIMULATION · 3-MONTH MEDIAN MOVE</a:t>
            </a:r>
            <a:endParaRPr lang="en-US" sz="1950" dirty="0"/>
          </a:p>
        </p:txBody>
      </p:sp>
      <p:sp>
        <p:nvSpPr>
          <p:cNvPr id="21" name="Shape 19"/>
          <p:cNvSpPr/>
          <p:nvPr/>
        </p:nvSpPr>
        <p:spPr>
          <a:xfrm>
            <a:off x="9372586" y="4141684"/>
            <a:ext cx="7772413" cy="9525"/>
          </a:xfrm>
          <a:prstGeom prst="rect">
            <a:avLst/>
          </a:prstGeom>
          <a:solidFill>
            <a:srgbClr val="102825">
              <a:alpha val="32000"/>
            </a:srgbClr>
          </a:solidFill>
          <a:ln/>
        </p:spPr>
        <p:txBody>
          <a:bodyPr/>
          <a:p/>
        </p:txBody>
      </p:sp>
      <p:sp>
        <p:nvSpPr>
          <p:cNvPr id="22" name="Shape 20"/>
          <p:cNvSpPr/>
          <p:nvPr/>
        </p:nvSpPr>
        <p:spPr>
          <a:xfrm>
            <a:off x="9372586" y="3539741"/>
            <a:ext cx="438096" cy="438096"/>
          </a:xfrm>
          <a:prstGeom prst="rect">
            <a:avLst/>
          </a:prstGeom>
          <a:solidFill>
            <a:srgbClr val="12796B"/>
          </a:solidFill>
          <a:ln/>
        </p:spPr>
        <p:txBody>
          <a:bodyPr/>
          <a:p/>
        </p:txBody>
      </p:sp>
      <p:sp>
        <p:nvSpPr>
          <p:cNvPr id="23" name="Text 21"/>
          <p:cNvSpPr/>
          <p:nvPr/>
        </p:nvSpPr>
        <p:spPr>
          <a:xfrm>
            <a:off x="9334486" y="3539741"/>
            <a:ext cx="514296" cy="476196"/>
          </a:xfrm>
          <a:prstGeom prst="rect">
            <a:avLst/>
          </a:prstGeom>
          <a:noFill/>
          <a:ln/>
        </p:spPr>
        <p:txBody>
          <a:bodyPr wrap="square" lIns="25400" tIns="25400" rIns="25400" bIns="25400" rtlCol="0" anchor="ctr">
            <a:normAutofit/>
          </a:bodyPr>
          <a:lstStyle/>
          <a:p>
            <a:pPr algn="ctr" indent="0" marL="0">
              <a:lnSpc>
                <a:spcPct val="134164"/>
              </a:lnSpc>
              <a:buNone/>
            </a:pPr>
            <a:r>
              <a:rPr lang="en-US" sz="1800" dirty="0">
                <a:solidFill>
                  <a:srgbClr val="F6F8F7"/>
                </a:solidFill>
                <a:latin typeface="Arial" pitchFamily="34" charset="0"/>
                <a:ea typeface="Arial" pitchFamily="34" charset="-122"/>
                <a:cs typeface="Arial" pitchFamily="34" charset="-120"/>
              </a:rPr>
              <a:t>1</a:t>
            </a:r>
            <a:endParaRPr lang="en-US" sz="1800" dirty="0"/>
          </a:p>
        </p:txBody>
      </p:sp>
      <p:sp>
        <p:nvSpPr>
          <p:cNvPr id="24" name="Text 22"/>
          <p:cNvSpPr/>
          <p:nvPr/>
        </p:nvSpPr>
        <p:spPr>
          <a:xfrm>
            <a:off x="10001183" y="3593049"/>
            <a:ext cx="6388596" cy="369513"/>
          </a:xfrm>
          <a:prstGeom prst="rect">
            <a:avLst/>
          </a:prstGeom>
          <a:noFill/>
          <a:ln/>
        </p:spPr>
        <p:txBody>
          <a:bodyPr wrap="square" lIns="25400" tIns="25400" rIns="25400" bIns="25400" rtlCol="0" anchor="t">
            <a:normAutofit/>
          </a:bodyPr>
          <a:lstStyle/>
          <a:p>
            <a:pPr algn="l" indent="0" marL="0">
              <a:lnSpc>
                <a:spcPct val="103459"/>
              </a:lnSpc>
              <a:buNone/>
            </a:pPr>
            <a:r>
              <a:rPr lang="en-US" sz="2175" dirty="0">
                <a:solidFill>
                  <a:srgbClr val="0E2726"/>
                </a:solidFill>
                <a:latin typeface="Arial" pitchFamily="34" charset="0"/>
                <a:ea typeface="Arial" pitchFamily="34" charset="-122"/>
                <a:cs typeface="Arial" pitchFamily="34" charset="-120"/>
              </a:rPr>
              <a:t>Heliopolis Housing (EGX)</a:t>
            </a:r>
            <a:endParaRPr lang="en-US" sz="2175" dirty="0"/>
          </a:p>
        </p:txBody>
      </p:sp>
      <p:sp>
        <p:nvSpPr>
          <p:cNvPr id="25" name="Text 23"/>
          <p:cNvSpPr/>
          <p:nvPr/>
        </p:nvSpPr>
        <p:spPr>
          <a:xfrm>
            <a:off x="15999497" y="3518770"/>
            <a:ext cx="1221703" cy="518138"/>
          </a:xfrm>
          <a:prstGeom prst="rect">
            <a:avLst/>
          </a:prstGeom>
          <a:noFill/>
          <a:ln/>
        </p:spPr>
        <p:txBody>
          <a:bodyPr wrap="square" lIns="25400" tIns="25400" rIns="25400" bIns="25400" rtlCol="0" anchor="t">
            <a:normAutofit/>
          </a:bodyPr>
          <a:lstStyle/>
          <a:p>
            <a:pPr algn="l" indent="0" marL="0">
              <a:lnSpc>
                <a:spcPct val="103626"/>
              </a:lnSpc>
              <a:buNone/>
            </a:pPr>
            <a:r>
              <a:rPr lang="en-US" sz="3150" b="1" dirty="0">
                <a:solidFill>
                  <a:srgbClr val="0E5C51"/>
                </a:solidFill>
                <a:latin typeface="Arial" pitchFamily="34" charset="0"/>
                <a:ea typeface="Arial" pitchFamily="34" charset="-122"/>
                <a:cs typeface="Arial" pitchFamily="34" charset="-120"/>
              </a:rPr>
              <a:t>+9.0%</a:t>
            </a:r>
            <a:endParaRPr lang="en-US" sz="3150" dirty="0"/>
          </a:p>
        </p:txBody>
      </p:sp>
      <p:sp>
        <p:nvSpPr>
          <p:cNvPr id="26" name="Shape 24"/>
          <p:cNvSpPr/>
          <p:nvPr/>
        </p:nvSpPr>
        <p:spPr>
          <a:xfrm>
            <a:off x="9372586" y="4916131"/>
            <a:ext cx="7772413" cy="9525"/>
          </a:xfrm>
          <a:prstGeom prst="rect">
            <a:avLst/>
          </a:prstGeom>
          <a:solidFill>
            <a:srgbClr val="102825">
              <a:alpha val="32000"/>
            </a:srgbClr>
          </a:solidFill>
          <a:ln/>
        </p:spPr>
        <p:txBody>
          <a:bodyPr/>
          <a:p/>
        </p:txBody>
      </p:sp>
      <p:sp>
        <p:nvSpPr>
          <p:cNvPr id="27" name="Shape 25"/>
          <p:cNvSpPr/>
          <p:nvPr/>
        </p:nvSpPr>
        <p:spPr>
          <a:xfrm>
            <a:off x="9372586" y="4314189"/>
            <a:ext cx="438096" cy="438096"/>
          </a:xfrm>
          <a:prstGeom prst="rect">
            <a:avLst/>
          </a:prstGeom>
          <a:solidFill>
            <a:srgbClr val="12796B"/>
          </a:solidFill>
          <a:ln/>
        </p:spPr>
        <p:txBody>
          <a:bodyPr/>
          <a:p/>
        </p:txBody>
      </p:sp>
      <p:sp>
        <p:nvSpPr>
          <p:cNvPr id="28" name="Text 26"/>
          <p:cNvSpPr/>
          <p:nvPr/>
        </p:nvSpPr>
        <p:spPr>
          <a:xfrm>
            <a:off x="9334486" y="4314189"/>
            <a:ext cx="514296" cy="476196"/>
          </a:xfrm>
          <a:prstGeom prst="rect">
            <a:avLst/>
          </a:prstGeom>
          <a:noFill/>
          <a:ln/>
        </p:spPr>
        <p:txBody>
          <a:bodyPr wrap="square" lIns="25400" tIns="25400" rIns="25400" bIns="25400" rtlCol="0" anchor="ctr">
            <a:normAutofit/>
          </a:bodyPr>
          <a:lstStyle/>
          <a:p>
            <a:pPr algn="ctr" indent="0" marL="0">
              <a:lnSpc>
                <a:spcPct val="134164"/>
              </a:lnSpc>
              <a:buNone/>
            </a:pPr>
            <a:r>
              <a:rPr lang="en-US" sz="1800" dirty="0">
                <a:solidFill>
                  <a:srgbClr val="F6F8F7"/>
                </a:solidFill>
                <a:latin typeface="Arial" pitchFamily="34" charset="0"/>
                <a:ea typeface="Arial" pitchFamily="34" charset="-122"/>
                <a:cs typeface="Arial" pitchFamily="34" charset="-120"/>
              </a:rPr>
              <a:t>2</a:t>
            </a:r>
            <a:endParaRPr lang="en-US" sz="1800" dirty="0"/>
          </a:p>
        </p:txBody>
      </p:sp>
      <p:sp>
        <p:nvSpPr>
          <p:cNvPr id="29" name="Text 27"/>
          <p:cNvSpPr/>
          <p:nvPr/>
        </p:nvSpPr>
        <p:spPr>
          <a:xfrm>
            <a:off x="10001183" y="4367496"/>
            <a:ext cx="6388596" cy="369513"/>
          </a:xfrm>
          <a:prstGeom prst="rect">
            <a:avLst/>
          </a:prstGeom>
          <a:noFill/>
          <a:ln/>
        </p:spPr>
        <p:txBody>
          <a:bodyPr wrap="square" lIns="25400" tIns="25400" rIns="25400" bIns="25400" rtlCol="0" anchor="t">
            <a:normAutofit/>
          </a:bodyPr>
          <a:lstStyle/>
          <a:p>
            <a:pPr algn="l" indent="0" marL="0">
              <a:lnSpc>
                <a:spcPct val="103459"/>
              </a:lnSpc>
              <a:buNone/>
            </a:pPr>
            <a:r>
              <a:rPr lang="en-US" sz="2175" dirty="0">
                <a:solidFill>
                  <a:srgbClr val="0E2726"/>
                </a:solidFill>
                <a:latin typeface="Arial" pitchFamily="34" charset="0"/>
                <a:ea typeface="Arial" pitchFamily="34" charset="-122"/>
                <a:cs typeface="Arial" pitchFamily="34" charset="-120"/>
              </a:rPr>
              <a:t>Pioneers Properties (EGX)</a:t>
            </a:r>
            <a:endParaRPr lang="en-US" sz="2175" dirty="0"/>
          </a:p>
        </p:txBody>
      </p:sp>
      <p:sp>
        <p:nvSpPr>
          <p:cNvPr id="30" name="Text 28"/>
          <p:cNvSpPr/>
          <p:nvPr/>
        </p:nvSpPr>
        <p:spPr>
          <a:xfrm>
            <a:off x="15999497" y="4293218"/>
            <a:ext cx="1221703" cy="518138"/>
          </a:xfrm>
          <a:prstGeom prst="rect">
            <a:avLst/>
          </a:prstGeom>
          <a:noFill/>
          <a:ln/>
        </p:spPr>
        <p:txBody>
          <a:bodyPr wrap="square" lIns="25400" tIns="25400" rIns="25400" bIns="25400" rtlCol="0" anchor="t">
            <a:normAutofit/>
          </a:bodyPr>
          <a:lstStyle/>
          <a:p>
            <a:pPr algn="l" indent="0" marL="0">
              <a:lnSpc>
                <a:spcPct val="103626"/>
              </a:lnSpc>
              <a:buNone/>
            </a:pPr>
            <a:r>
              <a:rPr lang="en-US" sz="3150" b="1" dirty="0">
                <a:solidFill>
                  <a:srgbClr val="0E5C51"/>
                </a:solidFill>
                <a:latin typeface="Arial" pitchFamily="34" charset="0"/>
                <a:ea typeface="Arial" pitchFamily="34" charset="-122"/>
                <a:cs typeface="Arial" pitchFamily="34" charset="-120"/>
              </a:rPr>
              <a:t>+8.7%</a:t>
            </a:r>
            <a:endParaRPr lang="en-US" sz="3150" dirty="0"/>
          </a:p>
        </p:txBody>
      </p:sp>
      <p:sp>
        <p:nvSpPr>
          <p:cNvPr id="31" name="Shape 29"/>
          <p:cNvSpPr/>
          <p:nvPr/>
        </p:nvSpPr>
        <p:spPr>
          <a:xfrm>
            <a:off x="9372586" y="5690578"/>
            <a:ext cx="7772413" cy="9525"/>
          </a:xfrm>
          <a:prstGeom prst="rect">
            <a:avLst/>
          </a:prstGeom>
          <a:solidFill>
            <a:srgbClr val="102825">
              <a:alpha val="32000"/>
            </a:srgbClr>
          </a:solidFill>
          <a:ln/>
        </p:spPr>
        <p:txBody>
          <a:bodyPr/>
          <a:p/>
        </p:txBody>
      </p:sp>
      <p:sp>
        <p:nvSpPr>
          <p:cNvPr id="32" name="Shape 30"/>
          <p:cNvSpPr/>
          <p:nvPr/>
        </p:nvSpPr>
        <p:spPr>
          <a:xfrm>
            <a:off x="9372586" y="5088636"/>
            <a:ext cx="438096" cy="438096"/>
          </a:xfrm>
          <a:prstGeom prst="rect">
            <a:avLst/>
          </a:prstGeom>
          <a:solidFill>
            <a:srgbClr val="12796B"/>
          </a:solidFill>
          <a:ln/>
        </p:spPr>
        <p:txBody>
          <a:bodyPr/>
          <a:p/>
        </p:txBody>
      </p:sp>
      <p:sp>
        <p:nvSpPr>
          <p:cNvPr id="33" name="Text 31"/>
          <p:cNvSpPr/>
          <p:nvPr/>
        </p:nvSpPr>
        <p:spPr>
          <a:xfrm>
            <a:off x="9334486" y="5088636"/>
            <a:ext cx="514296" cy="476196"/>
          </a:xfrm>
          <a:prstGeom prst="rect">
            <a:avLst/>
          </a:prstGeom>
          <a:noFill/>
          <a:ln/>
        </p:spPr>
        <p:txBody>
          <a:bodyPr wrap="square" lIns="25400" tIns="25400" rIns="25400" bIns="25400" rtlCol="0" anchor="ctr">
            <a:normAutofit/>
          </a:bodyPr>
          <a:lstStyle/>
          <a:p>
            <a:pPr algn="ctr" indent="0" marL="0">
              <a:lnSpc>
                <a:spcPct val="134164"/>
              </a:lnSpc>
              <a:buNone/>
            </a:pPr>
            <a:r>
              <a:rPr lang="en-US" sz="1800" dirty="0">
                <a:solidFill>
                  <a:srgbClr val="F6F8F7"/>
                </a:solidFill>
                <a:latin typeface="Arial" pitchFamily="34" charset="0"/>
                <a:ea typeface="Arial" pitchFamily="34" charset="-122"/>
                <a:cs typeface="Arial" pitchFamily="34" charset="-120"/>
              </a:rPr>
              <a:t>3</a:t>
            </a:r>
            <a:endParaRPr lang="en-US" sz="1800" dirty="0"/>
          </a:p>
        </p:txBody>
      </p:sp>
      <p:sp>
        <p:nvSpPr>
          <p:cNvPr id="34" name="Text 32"/>
          <p:cNvSpPr/>
          <p:nvPr/>
        </p:nvSpPr>
        <p:spPr>
          <a:xfrm>
            <a:off x="10001183" y="5141944"/>
            <a:ext cx="6388596" cy="369513"/>
          </a:xfrm>
          <a:prstGeom prst="rect">
            <a:avLst/>
          </a:prstGeom>
          <a:noFill/>
          <a:ln/>
        </p:spPr>
        <p:txBody>
          <a:bodyPr wrap="square" lIns="25400" tIns="25400" rIns="25400" bIns="25400" rtlCol="0" anchor="t">
            <a:normAutofit/>
          </a:bodyPr>
          <a:lstStyle/>
          <a:p>
            <a:pPr algn="l" indent="0" marL="0">
              <a:lnSpc>
                <a:spcPct val="103459"/>
              </a:lnSpc>
              <a:buNone/>
            </a:pPr>
            <a:r>
              <a:rPr lang="en-US" sz="2175" dirty="0">
                <a:solidFill>
                  <a:srgbClr val="0E2726"/>
                </a:solidFill>
                <a:latin typeface="Arial" pitchFamily="34" charset="0"/>
                <a:ea typeface="Arial" pitchFamily="34" charset="-122"/>
                <a:cs typeface="Arial" pitchFamily="34" charset="-120"/>
              </a:rPr>
              <a:t>Cleopatra Hospitals (EGX)</a:t>
            </a:r>
            <a:endParaRPr lang="en-US" sz="2175" dirty="0"/>
          </a:p>
        </p:txBody>
      </p:sp>
      <p:sp>
        <p:nvSpPr>
          <p:cNvPr id="35" name="Text 33"/>
          <p:cNvSpPr/>
          <p:nvPr/>
        </p:nvSpPr>
        <p:spPr>
          <a:xfrm>
            <a:off x="15999497" y="5067665"/>
            <a:ext cx="1221703" cy="518138"/>
          </a:xfrm>
          <a:prstGeom prst="rect">
            <a:avLst/>
          </a:prstGeom>
          <a:noFill/>
          <a:ln/>
        </p:spPr>
        <p:txBody>
          <a:bodyPr wrap="square" lIns="25400" tIns="25400" rIns="25400" bIns="25400" rtlCol="0" anchor="t">
            <a:normAutofit/>
          </a:bodyPr>
          <a:lstStyle/>
          <a:p>
            <a:pPr algn="l" indent="0" marL="0">
              <a:lnSpc>
                <a:spcPct val="103626"/>
              </a:lnSpc>
              <a:buNone/>
            </a:pPr>
            <a:r>
              <a:rPr lang="en-US" sz="3150" b="1" dirty="0">
                <a:solidFill>
                  <a:srgbClr val="0E5C51"/>
                </a:solidFill>
                <a:latin typeface="Arial" pitchFamily="34" charset="0"/>
                <a:ea typeface="Arial" pitchFamily="34" charset="-122"/>
                <a:cs typeface="Arial" pitchFamily="34" charset="-120"/>
              </a:rPr>
              <a:t>+7.5%</a:t>
            </a:r>
            <a:endParaRPr lang="en-US" sz="3150" dirty="0"/>
          </a:p>
        </p:txBody>
      </p:sp>
      <p:sp>
        <p:nvSpPr>
          <p:cNvPr id="36" name="Text 34"/>
          <p:cNvSpPr/>
          <p:nvPr/>
        </p:nvSpPr>
        <p:spPr>
          <a:xfrm>
            <a:off x="1143000" y="6042084"/>
            <a:ext cx="16482060" cy="1066638"/>
          </a:xfrm>
          <a:prstGeom prst="rect">
            <a:avLst/>
          </a:prstGeom>
          <a:noFill/>
          <a:ln/>
        </p:spPr>
        <p:txBody>
          <a:bodyPr wrap="square" lIns="25400" tIns="25400" rIns="25400" bIns="25400" rtlCol="0" anchor="t">
            <a:normAutofit/>
          </a:bodyPr>
          <a:lstStyle/>
          <a:p>
            <a:pPr algn="l" indent="0" marL="0">
              <a:lnSpc>
                <a:spcPct val="129836"/>
              </a:lnSpc>
              <a:buNone/>
            </a:pPr>
            <a:r>
              <a:rPr lang="en-US" sz="1800" dirty="0">
                <a:solidFill>
                  <a:srgbClr val="5B7270"/>
                </a:solidFill>
                <a:latin typeface="Arial" pitchFamily="34" charset="0"/>
                <a:ea typeface="Arial" pitchFamily="34" charset="-122"/>
                <a:cs typeface="Arial" pitchFamily="34" charset="-120"/>
              </a:rPr>
              <a:t>Ranked estimates, not picks. The 3-month simulation lens is graded on the public ledger; the 1-year fundamental lens is not — its first cohort matures June 2027. Every number on the site is tagged with its source lens. · Computed from the live TICKERS object in assets/data.js, 24 Aug 2026 — sort by (fair.base/spot − 1) and by (dist.t60.p50/spot − 1).</a:t>
            </a:r>
            <a:endParaRPr lang="en-US" sz="1800" dirty="0"/>
          </a:p>
        </p:txBody>
      </p:sp>
      <p:sp>
        <p:nvSpPr>
          <p:cNvPr id="37" name="Shape 35"/>
          <p:cNvSpPr/>
          <p:nvPr/>
        </p:nvSpPr>
        <p:spPr>
          <a:xfrm>
            <a:off x="1143000" y="7318217"/>
            <a:ext cx="12954000" cy="17318"/>
          </a:xfrm>
          <a:prstGeom prst="rect">
            <a:avLst/>
          </a:prstGeom>
          <a:solidFill>
            <a:srgbClr val="102825">
              <a:alpha val="32000"/>
            </a:srgbClr>
          </a:solidFill>
          <a:ln/>
        </p:spPr>
        <p:txBody>
          <a:bodyPr/>
          <a:p/>
        </p:txBody>
      </p:sp>
      <p:sp>
        <p:nvSpPr>
          <p:cNvPr id="38" name="Text 36"/>
          <p:cNvSpPr/>
          <p:nvPr/>
        </p:nvSpPr>
        <p:spPr>
          <a:xfrm>
            <a:off x="1143000" y="7506985"/>
            <a:ext cx="13342620" cy="756236"/>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5C51"/>
                </a:solidFill>
                <a:latin typeface="Arial" pitchFamily="34" charset="0"/>
                <a:ea typeface="Arial" pitchFamily="34" charset="-122"/>
                <a:cs typeface="Arial" pitchFamily="34" charset="-120"/>
              </a:rPr>
              <a:t>They rarely agree — and that disagreement is the product: a 1-year value clock and a 3-month odds clock, never blended into one number. The Ticker Picker exists to read them together.</a:t>
            </a:r>
            <a:endParaRPr lang="en-US" sz="1950" dirty="0"/>
          </a:p>
        </p:txBody>
      </p:sp>
      <p:sp>
        <p:nvSpPr>
          <p:cNvPr id="39" name="Text 37"/>
          <p:cNvSpPr/>
          <p:nvPr/>
        </p:nvSpPr>
        <p:spPr>
          <a:xfrm>
            <a:off x="13142268" y="9570798"/>
            <a:ext cx="4002732"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APPENDIX · THE ALTERNATIVES</a:t>
            </a:r>
            <a:endParaRPr lang="en-US" sz="1800" dirty="0"/>
          </a:p>
        </p:txBody>
      </p:sp>
      <p:sp>
        <p:nvSpPr>
          <p:cNvPr id="3" name="Text 1"/>
          <p:cNvSpPr/>
          <p:nvPr/>
        </p:nvSpPr>
        <p:spPr>
          <a:xfrm>
            <a:off x="1143000" y="1790673"/>
            <a:ext cx="17602200" cy="656751"/>
          </a:xfrm>
          <a:prstGeom prst="rect">
            <a:avLst/>
          </a:prstGeom>
          <a:noFill/>
          <a:ln/>
        </p:spPr>
        <p:txBody>
          <a:bodyPr wrap="square" lIns="25400" tIns="25400" rIns="25400" bIns="25400" rtlCol="0" anchor="t">
            <a:normAutofit/>
          </a:bodyPr>
          <a:lstStyle/>
          <a:p>
            <a:pPr algn="l" indent="0" marL="0">
              <a:lnSpc>
                <a:spcPct val="97219"/>
              </a:lnSpc>
              <a:buNone/>
            </a:pPr>
            <a:r>
              <a:rPr lang="en-US" sz="4350" b="1" spc="-65" kern="0" dirty="0">
                <a:solidFill>
                  <a:srgbClr val="0E2726"/>
                </a:solidFill>
                <a:latin typeface="Arial" pitchFamily="34" charset="0"/>
                <a:ea typeface="Arial" pitchFamily="34" charset="-122"/>
                <a:cs typeface="Arial" pitchFamily="34" charset="-120"/>
              </a:rPr>
              <a:t>Couldn’t we buy this from a vendor — or build it ourselves?</a:t>
            </a:r>
            <a:endParaRPr lang="en-US" sz="4350" dirty="0"/>
          </a:p>
        </p:txBody>
      </p:sp>
      <p:sp>
        <p:nvSpPr>
          <p:cNvPr id="4" name="Shape 2"/>
          <p:cNvSpPr/>
          <p:nvPr/>
        </p:nvSpPr>
        <p:spPr>
          <a:xfrm>
            <a:off x="1143000" y="2675997"/>
            <a:ext cx="16002000" cy="5786979"/>
          </a:xfrm>
          <a:prstGeom prst="rect">
            <a:avLst/>
          </a:prstGeom>
          <a:solidFill>
            <a:srgbClr val="FFFFFF"/>
          </a:solidFill>
          <a:ln w="17318">
            <a:solidFill>
              <a:srgbClr val="102825">
                <a:alpha val="32000"/>
              </a:srgbClr>
            </a:solidFill>
            <a:prstDash val="solid"/>
          </a:ln>
        </p:spPr>
      </p:sp>
      <p:sp>
        <p:nvSpPr>
          <p:cNvPr id="5" name="Shape 3"/>
          <p:cNvSpPr/>
          <p:nvPr/>
        </p:nvSpPr>
        <p:spPr>
          <a:xfrm>
            <a:off x="1160318" y="2693316"/>
            <a:ext cx="4381500" cy="1081845"/>
          </a:xfrm>
          <a:prstGeom prst="rect">
            <a:avLst/>
          </a:prstGeom>
          <a:solidFill>
            <a:srgbClr val="EEF2F1"/>
          </a:solidFill>
          <a:ln/>
        </p:spPr>
      </p:sp>
      <p:sp>
        <p:nvSpPr>
          <p:cNvPr id="6" name="Shape 4"/>
          <p:cNvSpPr/>
          <p:nvPr/>
        </p:nvSpPr>
        <p:spPr>
          <a:xfrm>
            <a:off x="5541818" y="2693316"/>
            <a:ext cx="3861954" cy="1081845"/>
          </a:xfrm>
          <a:prstGeom prst="rect">
            <a:avLst/>
          </a:prstGeom>
          <a:solidFill>
            <a:srgbClr val="EEF2F1"/>
          </a:solidFill>
          <a:ln/>
        </p:spPr>
      </p:sp>
      <p:sp>
        <p:nvSpPr>
          <p:cNvPr id="7" name="Text 5"/>
          <p:cNvSpPr/>
          <p:nvPr/>
        </p:nvSpPr>
        <p:spPr>
          <a:xfrm>
            <a:off x="5770404" y="2788566"/>
            <a:ext cx="3506925" cy="929445"/>
          </a:xfrm>
          <a:prstGeom prst="rect">
            <a:avLst/>
          </a:prstGeom>
          <a:noFill/>
          <a:ln/>
        </p:spPr>
        <p:txBody>
          <a:bodyPr wrap="square" lIns="25400" tIns="25400" rIns="25400" bIns="25400" rtlCol="0" anchor="t">
            <a:normAutofit/>
          </a:bodyPr>
          <a:lstStyle/>
          <a:p>
            <a:pPr algn="l" indent="0" marL="0">
              <a:lnSpc>
                <a:spcPct val="112525"/>
              </a:lnSpc>
              <a:buNone/>
            </a:pPr>
            <a:r>
              <a:rPr lang="en-US" sz="1800" spc="72" kern="0" dirty="0">
                <a:solidFill>
                  <a:srgbClr val="5B7270"/>
                </a:solidFill>
                <a:latin typeface="Arial" pitchFamily="34" charset="0"/>
                <a:ea typeface="Arial" pitchFamily="34" charset="-122"/>
                <a:cs typeface="Arial" pitchFamily="34" charset="-120"/>
              </a:rPr>
              <a:t>COVERS THE EGX·ADX·TADAWUL LONG TAIL, FROM FILINGS</a:t>
            </a:r>
            <a:endParaRPr lang="en-US" sz="1800" dirty="0"/>
          </a:p>
        </p:txBody>
      </p:sp>
      <p:sp>
        <p:nvSpPr>
          <p:cNvPr id="8" name="Shape 6"/>
          <p:cNvSpPr/>
          <p:nvPr/>
        </p:nvSpPr>
        <p:spPr>
          <a:xfrm>
            <a:off x="9403773" y="2693316"/>
            <a:ext cx="3861954" cy="1081845"/>
          </a:xfrm>
          <a:prstGeom prst="rect">
            <a:avLst/>
          </a:prstGeom>
          <a:solidFill>
            <a:srgbClr val="EEF2F1"/>
          </a:solidFill>
          <a:ln/>
        </p:spPr>
      </p:sp>
      <p:sp>
        <p:nvSpPr>
          <p:cNvPr id="9" name="Text 7"/>
          <p:cNvSpPr/>
          <p:nvPr/>
        </p:nvSpPr>
        <p:spPr>
          <a:xfrm>
            <a:off x="9632359" y="2937123"/>
            <a:ext cx="3506925" cy="632330"/>
          </a:xfrm>
          <a:prstGeom prst="rect">
            <a:avLst/>
          </a:prstGeom>
          <a:noFill/>
          <a:ln/>
        </p:spPr>
        <p:txBody>
          <a:bodyPr wrap="square" lIns="25400" tIns="25400" rIns="25400" bIns="25400" rtlCol="0" anchor="t">
            <a:normAutofit/>
          </a:bodyPr>
          <a:lstStyle/>
          <a:p>
            <a:pPr algn="l" indent="0" marL="0">
              <a:lnSpc>
                <a:spcPct val="112525"/>
              </a:lnSpc>
              <a:buNone/>
            </a:pPr>
            <a:r>
              <a:rPr lang="en-US" sz="1800" spc="72" kern="0" dirty="0">
                <a:solidFill>
                  <a:srgbClr val="5B7270"/>
                </a:solidFill>
                <a:latin typeface="Arial" pitchFamily="34" charset="0"/>
                <a:ea typeface="Arial" pitchFamily="34" charset="-122"/>
                <a:cs typeface="Arial" pitchFamily="34" charset="-120"/>
              </a:rPr>
              <a:t>A PUBLIC RECORD, MISSES KEPT</a:t>
            </a:r>
            <a:endParaRPr lang="en-US" sz="1800" dirty="0"/>
          </a:p>
        </p:txBody>
      </p:sp>
      <p:sp>
        <p:nvSpPr>
          <p:cNvPr id="10" name="Shape 8"/>
          <p:cNvSpPr/>
          <p:nvPr/>
        </p:nvSpPr>
        <p:spPr>
          <a:xfrm>
            <a:off x="13265726" y="2693316"/>
            <a:ext cx="3861954" cy="1081845"/>
          </a:xfrm>
          <a:prstGeom prst="rect">
            <a:avLst/>
          </a:prstGeom>
          <a:solidFill>
            <a:srgbClr val="EEF2F1"/>
          </a:solidFill>
          <a:ln/>
        </p:spPr>
      </p:sp>
      <p:sp>
        <p:nvSpPr>
          <p:cNvPr id="11" name="Text 9"/>
          <p:cNvSpPr/>
          <p:nvPr/>
        </p:nvSpPr>
        <p:spPr>
          <a:xfrm>
            <a:off x="13494314" y="2937123"/>
            <a:ext cx="3506925" cy="632330"/>
          </a:xfrm>
          <a:prstGeom prst="rect">
            <a:avLst/>
          </a:prstGeom>
          <a:noFill/>
          <a:ln/>
        </p:spPr>
        <p:txBody>
          <a:bodyPr wrap="square" lIns="25400" tIns="25400" rIns="25400" bIns="25400" rtlCol="0" anchor="t">
            <a:normAutofit/>
          </a:bodyPr>
          <a:lstStyle/>
          <a:p>
            <a:pPr algn="l" indent="0" marL="0">
              <a:lnSpc>
                <a:spcPct val="112525"/>
              </a:lnSpc>
              <a:buNone/>
            </a:pPr>
            <a:r>
              <a:rPr lang="en-US" sz="1800" spc="72" kern="0" dirty="0">
                <a:solidFill>
                  <a:srgbClr val="5B7270"/>
                </a:solidFill>
                <a:latin typeface="Arial" pitchFamily="34" charset="0"/>
                <a:ea typeface="Arial" pitchFamily="34" charset="-122"/>
                <a:cs typeface="Arial" pitchFamily="34" charset="-120"/>
              </a:rPr>
              <a:t>LIVE FOR YOUR CLIENTS TODAY</a:t>
            </a:r>
            <a:endParaRPr lang="en-US" sz="1800" dirty="0"/>
          </a:p>
        </p:txBody>
      </p:sp>
      <p:sp>
        <p:nvSpPr>
          <p:cNvPr id="12" name="Shape 10"/>
          <p:cNvSpPr/>
          <p:nvPr/>
        </p:nvSpPr>
        <p:spPr>
          <a:xfrm>
            <a:off x="1160318" y="3775161"/>
            <a:ext cx="4381500" cy="9525"/>
          </a:xfrm>
          <a:prstGeom prst="rect">
            <a:avLst/>
          </a:prstGeom>
          <a:solidFill>
            <a:srgbClr val="102825">
              <a:alpha val="32000"/>
            </a:srgbClr>
          </a:solidFill>
          <a:ln/>
        </p:spPr>
      </p:sp>
      <p:sp>
        <p:nvSpPr>
          <p:cNvPr id="13" name="Text 11"/>
          <p:cNvSpPr/>
          <p:nvPr/>
        </p:nvSpPr>
        <p:spPr>
          <a:xfrm>
            <a:off x="1388905" y="3879070"/>
            <a:ext cx="4316760" cy="366672"/>
          </a:xfrm>
          <a:prstGeom prst="rect">
            <a:avLst/>
          </a:prstGeom>
          <a:noFill/>
          <a:ln/>
        </p:spPr>
        <p:txBody>
          <a:bodyPr wrap="square" lIns="25400" tIns="25400" rIns="25400" bIns="25400" rtlCol="0" anchor="t">
            <a:normAutofit/>
          </a:bodyPr>
          <a:lstStyle/>
          <a:p>
            <a:pPr algn="l" indent="0" marL="0">
              <a:lnSpc>
                <a:spcPct val="99868"/>
              </a:lnSpc>
              <a:buNone/>
            </a:pPr>
            <a:r>
              <a:rPr lang="en-US" sz="2250" b="1" dirty="0">
                <a:solidFill>
                  <a:srgbClr val="0E2726"/>
                </a:solidFill>
                <a:latin typeface="Arial" pitchFamily="34" charset="0"/>
                <a:ea typeface="Arial" pitchFamily="34" charset="-122"/>
                <a:cs typeface="Arial" pitchFamily="34" charset="-120"/>
              </a:rPr>
              <a:t>Global vendors</a:t>
            </a:r>
            <a:endParaRPr lang="en-US" sz="2250" dirty="0"/>
          </a:p>
        </p:txBody>
      </p:sp>
      <p:sp>
        <p:nvSpPr>
          <p:cNvPr id="14" name="Text 12"/>
          <p:cNvSpPr/>
          <p:nvPr/>
        </p:nvSpPr>
        <p:spPr>
          <a:xfrm>
            <a:off x="1388905" y="4378997"/>
            <a:ext cx="4316760"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Trading Central, Morningstar &amp; peers</a:t>
            </a:r>
            <a:endParaRPr lang="en-US" sz="1800" dirty="0"/>
          </a:p>
        </p:txBody>
      </p:sp>
      <p:sp>
        <p:nvSpPr>
          <p:cNvPr id="15" name="Shape 13"/>
          <p:cNvSpPr/>
          <p:nvPr/>
        </p:nvSpPr>
        <p:spPr>
          <a:xfrm>
            <a:off x="5541818" y="3775161"/>
            <a:ext cx="3861954" cy="9525"/>
          </a:xfrm>
          <a:prstGeom prst="rect">
            <a:avLst/>
          </a:prstGeom>
          <a:solidFill>
            <a:srgbClr val="102825">
              <a:alpha val="32000"/>
            </a:srgbClr>
          </a:solidFill>
          <a:ln/>
        </p:spPr>
      </p:sp>
      <p:sp>
        <p:nvSpPr>
          <p:cNvPr id="16" name="Text 14"/>
          <p:cNvSpPr/>
          <p:nvPr/>
        </p:nvSpPr>
        <p:spPr>
          <a:xfrm>
            <a:off x="5770404" y="4053740"/>
            <a:ext cx="3506925" cy="657225"/>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No — built from vendor feeds, for developed markets</a:t>
            </a:r>
            <a:endParaRPr lang="en-US" sz="1950" dirty="0"/>
          </a:p>
        </p:txBody>
      </p:sp>
      <p:sp>
        <p:nvSpPr>
          <p:cNvPr id="17" name="Shape 15"/>
          <p:cNvSpPr/>
          <p:nvPr/>
        </p:nvSpPr>
        <p:spPr>
          <a:xfrm>
            <a:off x="9403773" y="3775161"/>
            <a:ext cx="3861954" cy="9525"/>
          </a:xfrm>
          <a:prstGeom prst="rect">
            <a:avLst/>
          </a:prstGeom>
          <a:solidFill>
            <a:srgbClr val="102825">
              <a:alpha val="32000"/>
            </a:srgbClr>
          </a:solidFill>
          <a:ln/>
        </p:spPr>
      </p:sp>
      <p:sp>
        <p:nvSpPr>
          <p:cNvPr id="18" name="Text 16"/>
          <p:cNvSpPr/>
          <p:nvPr/>
        </p:nvSpPr>
        <p:spPr>
          <a:xfrm>
            <a:off x="9632359" y="4208521"/>
            <a:ext cx="3745260" cy="347663"/>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No public record</a:t>
            </a:r>
            <a:endParaRPr lang="en-US" sz="1950" dirty="0"/>
          </a:p>
        </p:txBody>
      </p:sp>
      <p:sp>
        <p:nvSpPr>
          <p:cNvPr id="19" name="Shape 17"/>
          <p:cNvSpPr/>
          <p:nvPr/>
        </p:nvSpPr>
        <p:spPr>
          <a:xfrm>
            <a:off x="13265726" y="3775161"/>
            <a:ext cx="3861954" cy="9525"/>
          </a:xfrm>
          <a:prstGeom prst="rect">
            <a:avLst/>
          </a:prstGeom>
          <a:solidFill>
            <a:srgbClr val="102825">
              <a:alpha val="32000"/>
            </a:srgbClr>
          </a:solidFill>
          <a:ln/>
        </p:spPr>
      </p:sp>
      <p:sp>
        <p:nvSpPr>
          <p:cNvPr id="20" name="Text 18"/>
          <p:cNvSpPr/>
          <p:nvPr/>
        </p:nvSpPr>
        <p:spPr>
          <a:xfrm>
            <a:off x="13494314" y="4208521"/>
            <a:ext cx="3745260" cy="347663"/>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Not in these markets</a:t>
            </a:r>
            <a:endParaRPr lang="en-US" sz="1950" dirty="0"/>
          </a:p>
        </p:txBody>
      </p:sp>
      <p:sp>
        <p:nvSpPr>
          <p:cNvPr id="21" name="Shape 19"/>
          <p:cNvSpPr/>
          <p:nvPr/>
        </p:nvSpPr>
        <p:spPr>
          <a:xfrm>
            <a:off x="1160318" y="4942785"/>
            <a:ext cx="4381500" cy="9525"/>
          </a:xfrm>
          <a:prstGeom prst="rect">
            <a:avLst/>
          </a:prstGeom>
          <a:solidFill>
            <a:srgbClr val="102825">
              <a:alpha val="32000"/>
            </a:srgbClr>
          </a:solidFill>
          <a:ln/>
        </p:spPr>
      </p:sp>
      <p:sp>
        <p:nvSpPr>
          <p:cNvPr id="22" name="Text 20"/>
          <p:cNvSpPr/>
          <p:nvPr/>
        </p:nvSpPr>
        <p:spPr>
          <a:xfrm>
            <a:off x="1388905" y="5046694"/>
            <a:ext cx="4316760" cy="366672"/>
          </a:xfrm>
          <a:prstGeom prst="rect">
            <a:avLst/>
          </a:prstGeom>
          <a:noFill/>
          <a:ln/>
        </p:spPr>
        <p:txBody>
          <a:bodyPr wrap="square" lIns="25400" tIns="25400" rIns="25400" bIns="25400" rtlCol="0" anchor="t">
            <a:normAutofit/>
          </a:bodyPr>
          <a:lstStyle/>
          <a:p>
            <a:pPr algn="l" indent="0" marL="0">
              <a:lnSpc>
                <a:spcPct val="99868"/>
              </a:lnSpc>
              <a:buNone/>
            </a:pPr>
            <a:r>
              <a:rPr lang="en-US" sz="2250" b="1" dirty="0">
                <a:solidFill>
                  <a:srgbClr val="0E2726"/>
                </a:solidFill>
                <a:latin typeface="Arial" pitchFamily="34" charset="0"/>
                <a:ea typeface="Arial" pitchFamily="34" charset="-122"/>
                <a:cs typeface="Arial" pitchFamily="34" charset="-120"/>
              </a:rPr>
              <a:t>Build it in-house</a:t>
            </a:r>
            <a:endParaRPr lang="en-US" sz="2250" dirty="0"/>
          </a:p>
        </p:txBody>
      </p:sp>
      <p:sp>
        <p:nvSpPr>
          <p:cNvPr id="23" name="Text 21"/>
          <p:cNvSpPr/>
          <p:nvPr/>
        </p:nvSpPr>
        <p:spPr>
          <a:xfrm>
            <a:off x="1388905" y="5546621"/>
            <a:ext cx="4316760"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a capable quant desk</a:t>
            </a:r>
            <a:endParaRPr lang="en-US" sz="1800" dirty="0"/>
          </a:p>
        </p:txBody>
      </p:sp>
      <p:sp>
        <p:nvSpPr>
          <p:cNvPr id="24" name="Shape 22"/>
          <p:cNvSpPr/>
          <p:nvPr/>
        </p:nvSpPr>
        <p:spPr>
          <a:xfrm>
            <a:off x="5541818" y="4942785"/>
            <a:ext cx="3861954" cy="9525"/>
          </a:xfrm>
          <a:prstGeom prst="rect">
            <a:avLst/>
          </a:prstGeom>
          <a:solidFill>
            <a:srgbClr val="102825">
              <a:alpha val="32000"/>
            </a:srgbClr>
          </a:solidFill>
          <a:ln/>
        </p:spPr>
      </p:sp>
      <p:sp>
        <p:nvSpPr>
          <p:cNvPr id="25" name="Text 23"/>
          <p:cNvSpPr/>
          <p:nvPr/>
        </p:nvSpPr>
        <p:spPr>
          <a:xfrm>
            <a:off x="5770404" y="5221364"/>
            <a:ext cx="3506925" cy="657225"/>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Possible — in months, at your model risk</a:t>
            </a:r>
            <a:endParaRPr lang="en-US" sz="1950" dirty="0"/>
          </a:p>
        </p:txBody>
      </p:sp>
      <p:sp>
        <p:nvSpPr>
          <p:cNvPr id="26" name="Shape 24"/>
          <p:cNvSpPr/>
          <p:nvPr/>
        </p:nvSpPr>
        <p:spPr>
          <a:xfrm>
            <a:off x="9403773" y="4942785"/>
            <a:ext cx="3861954" cy="9525"/>
          </a:xfrm>
          <a:prstGeom prst="rect">
            <a:avLst/>
          </a:prstGeom>
          <a:solidFill>
            <a:srgbClr val="102825">
              <a:alpha val="32000"/>
            </a:srgbClr>
          </a:solidFill>
          <a:ln/>
        </p:spPr>
      </p:sp>
      <p:sp>
        <p:nvSpPr>
          <p:cNvPr id="27" name="Text 25"/>
          <p:cNvSpPr/>
          <p:nvPr/>
        </p:nvSpPr>
        <p:spPr>
          <a:xfrm>
            <a:off x="9632359" y="5221364"/>
            <a:ext cx="3506925" cy="657225"/>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Starts at zero — a record can’t be backdated</a:t>
            </a:r>
            <a:endParaRPr lang="en-US" sz="1950" dirty="0"/>
          </a:p>
        </p:txBody>
      </p:sp>
      <p:sp>
        <p:nvSpPr>
          <p:cNvPr id="28" name="Shape 26"/>
          <p:cNvSpPr/>
          <p:nvPr/>
        </p:nvSpPr>
        <p:spPr>
          <a:xfrm>
            <a:off x="13265726" y="4942785"/>
            <a:ext cx="3861954" cy="9525"/>
          </a:xfrm>
          <a:prstGeom prst="rect">
            <a:avLst/>
          </a:prstGeom>
          <a:solidFill>
            <a:srgbClr val="102825">
              <a:alpha val="32000"/>
            </a:srgbClr>
          </a:solidFill>
          <a:ln/>
        </p:spPr>
      </p:sp>
      <p:sp>
        <p:nvSpPr>
          <p:cNvPr id="29" name="Text 27"/>
          <p:cNvSpPr/>
          <p:nvPr/>
        </p:nvSpPr>
        <p:spPr>
          <a:xfrm>
            <a:off x="13494314" y="5376145"/>
            <a:ext cx="3745260" cy="347663"/>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Nothing live today</a:t>
            </a:r>
            <a:endParaRPr lang="en-US" sz="1950" dirty="0"/>
          </a:p>
        </p:txBody>
      </p:sp>
      <p:sp>
        <p:nvSpPr>
          <p:cNvPr id="30" name="Shape 28"/>
          <p:cNvSpPr/>
          <p:nvPr/>
        </p:nvSpPr>
        <p:spPr>
          <a:xfrm>
            <a:off x="1160318" y="6110409"/>
            <a:ext cx="4381500" cy="9525"/>
          </a:xfrm>
          <a:prstGeom prst="rect">
            <a:avLst/>
          </a:prstGeom>
          <a:solidFill>
            <a:srgbClr val="102825">
              <a:alpha val="32000"/>
            </a:srgbClr>
          </a:solidFill>
          <a:ln/>
        </p:spPr>
      </p:sp>
      <p:sp>
        <p:nvSpPr>
          <p:cNvPr id="31" name="Text 29"/>
          <p:cNvSpPr/>
          <p:nvPr/>
        </p:nvSpPr>
        <p:spPr>
          <a:xfrm>
            <a:off x="1388905" y="6214318"/>
            <a:ext cx="4316760" cy="366672"/>
          </a:xfrm>
          <a:prstGeom prst="rect">
            <a:avLst/>
          </a:prstGeom>
          <a:noFill/>
          <a:ln/>
        </p:spPr>
        <p:txBody>
          <a:bodyPr wrap="square" lIns="25400" tIns="25400" rIns="25400" bIns="25400" rtlCol="0" anchor="t">
            <a:normAutofit/>
          </a:bodyPr>
          <a:lstStyle/>
          <a:p>
            <a:pPr algn="l" indent="0" marL="0">
              <a:lnSpc>
                <a:spcPct val="99868"/>
              </a:lnSpc>
              <a:buNone/>
            </a:pPr>
            <a:r>
              <a:rPr lang="en-US" sz="2250" b="1" dirty="0">
                <a:solidFill>
                  <a:srgbClr val="0E2726"/>
                </a:solidFill>
                <a:latin typeface="Arial" pitchFamily="34" charset="0"/>
                <a:ea typeface="Arial" pitchFamily="34" charset="-122"/>
                <a:cs typeface="Arial" pitchFamily="34" charset="-120"/>
              </a:rPr>
              <a:t>Do nothing</a:t>
            </a:r>
            <a:endParaRPr lang="en-US" sz="2250" dirty="0"/>
          </a:p>
        </p:txBody>
      </p:sp>
      <p:sp>
        <p:nvSpPr>
          <p:cNvPr id="32" name="Text 30"/>
          <p:cNvSpPr/>
          <p:nvPr/>
        </p:nvSpPr>
        <p:spPr>
          <a:xfrm>
            <a:off x="1388905" y="6714245"/>
            <a:ext cx="4316760"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the status quo for the long tail</a:t>
            </a:r>
            <a:endParaRPr lang="en-US" sz="1800" dirty="0"/>
          </a:p>
        </p:txBody>
      </p:sp>
      <p:sp>
        <p:nvSpPr>
          <p:cNvPr id="33" name="Shape 31"/>
          <p:cNvSpPr/>
          <p:nvPr/>
        </p:nvSpPr>
        <p:spPr>
          <a:xfrm>
            <a:off x="5541818" y="6110409"/>
            <a:ext cx="3861954" cy="9525"/>
          </a:xfrm>
          <a:prstGeom prst="rect">
            <a:avLst/>
          </a:prstGeom>
          <a:solidFill>
            <a:srgbClr val="102825">
              <a:alpha val="32000"/>
            </a:srgbClr>
          </a:solidFill>
          <a:ln/>
        </p:spPr>
      </p:sp>
      <p:sp>
        <p:nvSpPr>
          <p:cNvPr id="34" name="Text 32"/>
          <p:cNvSpPr/>
          <p:nvPr/>
        </p:nvSpPr>
        <p:spPr>
          <a:xfrm>
            <a:off x="5770404" y="6543770"/>
            <a:ext cx="3745260" cy="347663"/>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Nobody covers them</a:t>
            </a:r>
            <a:endParaRPr lang="en-US" sz="1950" dirty="0"/>
          </a:p>
        </p:txBody>
      </p:sp>
      <p:sp>
        <p:nvSpPr>
          <p:cNvPr id="35" name="Shape 33"/>
          <p:cNvSpPr/>
          <p:nvPr/>
        </p:nvSpPr>
        <p:spPr>
          <a:xfrm>
            <a:off x="9403773" y="6110409"/>
            <a:ext cx="3861954" cy="9525"/>
          </a:xfrm>
          <a:prstGeom prst="rect">
            <a:avLst/>
          </a:prstGeom>
          <a:solidFill>
            <a:srgbClr val="102825">
              <a:alpha val="32000"/>
            </a:srgbClr>
          </a:solidFill>
          <a:ln/>
        </p:spPr>
      </p:sp>
      <p:sp>
        <p:nvSpPr>
          <p:cNvPr id="36" name="Text 34"/>
          <p:cNvSpPr/>
          <p:nvPr/>
        </p:nvSpPr>
        <p:spPr>
          <a:xfrm>
            <a:off x="9632359" y="6543770"/>
            <a:ext cx="3745260" cy="347663"/>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No record at all</a:t>
            </a:r>
            <a:endParaRPr lang="en-US" sz="1950" dirty="0"/>
          </a:p>
        </p:txBody>
      </p:sp>
      <p:sp>
        <p:nvSpPr>
          <p:cNvPr id="37" name="Shape 35"/>
          <p:cNvSpPr/>
          <p:nvPr/>
        </p:nvSpPr>
        <p:spPr>
          <a:xfrm>
            <a:off x="13265726" y="6110409"/>
            <a:ext cx="3861954" cy="9525"/>
          </a:xfrm>
          <a:prstGeom prst="rect">
            <a:avLst/>
          </a:prstGeom>
          <a:solidFill>
            <a:srgbClr val="102825">
              <a:alpha val="32000"/>
            </a:srgbClr>
          </a:solidFill>
          <a:ln/>
        </p:spPr>
      </p:sp>
      <p:sp>
        <p:nvSpPr>
          <p:cNvPr id="38" name="Text 36"/>
          <p:cNvSpPr/>
          <p:nvPr/>
        </p:nvSpPr>
        <p:spPr>
          <a:xfrm>
            <a:off x="13494314" y="6543770"/>
            <a:ext cx="3745260" cy="347663"/>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8A6A2E"/>
                </a:solidFill>
                <a:latin typeface="Arial" pitchFamily="34" charset="0"/>
                <a:ea typeface="Arial" pitchFamily="34" charset="-122"/>
                <a:cs typeface="Arial" pitchFamily="34" charset="-120"/>
              </a:rPr>
              <a:t>Telegram tips fill the gap</a:t>
            </a:r>
            <a:endParaRPr lang="en-US" sz="1950" dirty="0"/>
          </a:p>
        </p:txBody>
      </p:sp>
      <p:sp>
        <p:nvSpPr>
          <p:cNvPr id="39" name="Shape 37"/>
          <p:cNvSpPr/>
          <p:nvPr/>
        </p:nvSpPr>
        <p:spPr>
          <a:xfrm>
            <a:off x="1160318" y="7278033"/>
            <a:ext cx="4381500" cy="1167624"/>
          </a:xfrm>
          <a:prstGeom prst="rect">
            <a:avLst/>
          </a:prstGeom>
          <a:solidFill>
            <a:srgbClr val="12796B"/>
          </a:solidFill>
          <a:ln/>
        </p:spPr>
      </p:sp>
      <p:sp>
        <p:nvSpPr>
          <p:cNvPr id="40" name="Shape 38"/>
          <p:cNvSpPr/>
          <p:nvPr/>
        </p:nvSpPr>
        <p:spPr>
          <a:xfrm>
            <a:off x="1160318" y="7278033"/>
            <a:ext cx="4381500" cy="9525"/>
          </a:xfrm>
          <a:prstGeom prst="rect">
            <a:avLst/>
          </a:prstGeom>
          <a:solidFill>
            <a:srgbClr val="102825">
              <a:alpha val="32000"/>
            </a:srgbClr>
          </a:solidFill>
          <a:ln/>
        </p:spPr>
      </p:sp>
      <p:sp>
        <p:nvSpPr>
          <p:cNvPr id="41" name="Text 39"/>
          <p:cNvSpPr/>
          <p:nvPr/>
        </p:nvSpPr>
        <p:spPr>
          <a:xfrm>
            <a:off x="1388905" y="7381942"/>
            <a:ext cx="4316760" cy="366672"/>
          </a:xfrm>
          <a:prstGeom prst="rect">
            <a:avLst/>
          </a:prstGeom>
          <a:noFill/>
          <a:ln/>
        </p:spPr>
        <p:txBody>
          <a:bodyPr wrap="square" lIns="25400" tIns="25400" rIns="25400" bIns="25400" rtlCol="0" anchor="t">
            <a:normAutofit/>
          </a:bodyPr>
          <a:lstStyle/>
          <a:p>
            <a:pPr algn="l" indent="0" marL="0">
              <a:lnSpc>
                <a:spcPct val="99868"/>
              </a:lnSpc>
              <a:buNone/>
            </a:pPr>
            <a:r>
              <a:rPr lang="en-US" sz="2250" b="1" dirty="0">
                <a:solidFill>
                  <a:srgbClr val="FFFFFF"/>
                </a:solidFill>
                <a:latin typeface="Arial" pitchFamily="34" charset="0"/>
                <a:ea typeface="Arial" pitchFamily="34" charset="-122"/>
                <a:cs typeface="Arial" pitchFamily="34" charset="-120"/>
              </a:rPr>
              <a:t>Testahil</a:t>
            </a:r>
            <a:endParaRPr lang="en-US" sz="2250" dirty="0"/>
          </a:p>
        </p:txBody>
      </p:sp>
      <p:sp>
        <p:nvSpPr>
          <p:cNvPr id="42" name="Text 40"/>
          <p:cNvSpPr/>
          <p:nvPr/>
        </p:nvSpPr>
        <p:spPr>
          <a:xfrm>
            <a:off x="1388905" y="7881869"/>
            <a:ext cx="4316760" cy="392379"/>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FFFFFF">
                    <a:alpha val="75000"/>
                  </a:srgbClr>
                </a:solidFill>
                <a:latin typeface="Arial" pitchFamily="34" charset="0"/>
                <a:ea typeface="Arial" pitchFamily="34" charset="-122"/>
                <a:cs typeface="Arial" pitchFamily="34" charset="-120"/>
              </a:rPr>
              <a:t>live at testahil.com</a:t>
            </a:r>
            <a:endParaRPr lang="en-US" sz="1800" dirty="0"/>
          </a:p>
        </p:txBody>
      </p:sp>
      <p:sp>
        <p:nvSpPr>
          <p:cNvPr id="43" name="Shape 41"/>
          <p:cNvSpPr/>
          <p:nvPr/>
        </p:nvSpPr>
        <p:spPr>
          <a:xfrm>
            <a:off x="5541818" y="7278033"/>
            <a:ext cx="3861954" cy="1167624"/>
          </a:xfrm>
          <a:prstGeom prst="rect">
            <a:avLst/>
          </a:prstGeom>
          <a:solidFill>
            <a:srgbClr val="12796B"/>
          </a:solidFill>
          <a:ln/>
        </p:spPr>
      </p:sp>
      <p:sp>
        <p:nvSpPr>
          <p:cNvPr id="44" name="Shape 42"/>
          <p:cNvSpPr/>
          <p:nvPr/>
        </p:nvSpPr>
        <p:spPr>
          <a:xfrm>
            <a:off x="5541818" y="7278033"/>
            <a:ext cx="3861954" cy="9525"/>
          </a:xfrm>
          <a:prstGeom prst="rect">
            <a:avLst/>
          </a:prstGeom>
          <a:solidFill>
            <a:srgbClr val="102825">
              <a:alpha val="32000"/>
            </a:srgbClr>
          </a:solidFill>
          <a:ln/>
        </p:spPr>
      </p:sp>
      <p:sp>
        <p:nvSpPr>
          <p:cNvPr id="45" name="Text 43"/>
          <p:cNvSpPr/>
          <p:nvPr/>
        </p:nvSpPr>
        <p:spPr>
          <a:xfrm>
            <a:off x="5770404" y="7556613"/>
            <a:ext cx="3506925" cy="657225"/>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FFFFFF"/>
                </a:solidFill>
                <a:latin typeface="Arial" pitchFamily="34" charset="0"/>
                <a:ea typeface="Arial" pitchFamily="34" charset="-122"/>
                <a:cs typeface="Arial" pitchFamily="34" charset="-120"/>
              </a:rPr>
              <a:t>93 names — ground-up, from official filings</a:t>
            </a:r>
            <a:endParaRPr lang="en-US" sz="1950" dirty="0"/>
          </a:p>
        </p:txBody>
      </p:sp>
      <p:sp>
        <p:nvSpPr>
          <p:cNvPr id="46" name="Shape 44"/>
          <p:cNvSpPr/>
          <p:nvPr/>
        </p:nvSpPr>
        <p:spPr>
          <a:xfrm>
            <a:off x="9403773" y="7278033"/>
            <a:ext cx="3861954" cy="1167624"/>
          </a:xfrm>
          <a:prstGeom prst="rect">
            <a:avLst/>
          </a:prstGeom>
          <a:solidFill>
            <a:srgbClr val="12796B"/>
          </a:solidFill>
          <a:ln/>
        </p:spPr>
      </p:sp>
      <p:sp>
        <p:nvSpPr>
          <p:cNvPr id="47" name="Shape 45"/>
          <p:cNvSpPr/>
          <p:nvPr/>
        </p:nvSpPr>
        <p:spPr>
          <a:xfrm>
            <a:off x="9403773" y="7278033"/>
            <a:ext cx="3861954" cy="9525"/>
          </a:xfrm>
          <a:prstGeom prst="rect">
            <a:avLst/>
          </a:prstGeom>
          <a:solidFill>
            <a:srgbClr val="102825">
              <a:alpha val="32000"/>
            </a:srgbClr>
          </a:solidFill>
          <a:ln/>
        </p:spPr>
      </p:sp>
      <p:sp>
        <p:nvSpPr>
          <p:cNvPr id="48" name="Text 46"/>
          <p:cNvSpPr/>
          <p:nvPr/>
        </p:nvSpPr>
        <p:spPr>
          <a:xfrm>
            <a:off x="9632359" y="7556613"/>
            <a:ext cx="3506925" cy="657225"/>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FFFFFF"/>
                </a:solidFill>
                <a:latin typeface="Arial" pitchFamily="34" charset="0"/>
                <a:ea typeface="Arial" pitchFamily="34" charset="-122"/>
                <a:cs typeface="Arial" pitchFamily="34" charset="-120"/>
              </a:rPr>
              <a:t>Graded in public since Jun-26, misses kept</a:t>
            </a:r>
            <a:endParaRPr lang="en-US" sz="1950" dirty="0"/>
          </a:p>
        </p:txBody>
      </p:sp>
      <p:sp>
        <p:nvSpPr>
          <p:cNvPr id="49" name="Shape 47"/>
          <p:cNvSpPr/>
          <p:nvPr/>
        </p:nvSpPr>
        <p:spPr>
          <a:xfrm>
            <a:off x="13265726" y="7278033"/>
            <a:ext cx="3861954" cy="1167624"/>
          </a:xfrm>
          <a:prstGeom prst="rect">
            <a:avLst/>
          </a:prstGeom>
          <a:solidFill>
            <a:srgbClr val="12796B"/>
          </a:solidFill>
          <a:ln/>
        </p:spPr>
      </p:sp>
      <p:sp>
        <p:nvSpPr>
          <p:cNvPr id="50" name="Shape 48"/>
          <p:cNvSpPr/>
          <p:nvPr/>
        </p:nvSpPr>
        <p:spPr>
          <a:xfrm>
            <a:off x="13265726" y="7278033"/>
            <a:ext cx="3861954" cy="9525"/>
          </a:xfrm>
          <a:prstGeom prst="rect">
            <a:avLst/>
          </a:prstGeom>
          <a:solidFill>
            <a:srgbClr val="102825">
              <a:alpha val="32000"/>
            </a:srgbClr>
          </a:solidFill>
          <a:ln/>
        </p:spPr>
      </p:sp>
      <p:sp>
        <p:nvSpPr>
          <p:cNvPr id="51" name="Text 49"/>
          <p:cNvSpPr/>
          <p:nvPr/>
        </p:nvSpPr>
        <p:spPr>
          <a:xfrm>
            <a:off x="13494314" y="7711394"/>
            <a:ext cx="3745260" cy="347663"/>
          </a:xfrm>
          <a:prstGeom prst="rect">
            <a:avLst/>
          </a:prstGeom>
          <a:noFill/>
          <a:ln/>
        </p:spPr>
        <p:txBody>
          <a:bodyPr wrap="square" lIns="25400" tIns="25400" rIns="25400" bIns="25400" rtlCol="0" anchor="t">
            <a:normAutofit/>
          </a:bodyPr>
          <a:lstStyle/>
          <a:p>
            <a:pPr algn="l" indent="0" marL="0">
              <a:lnSpc>
                <a:spcPct val="108333"/>
              </a:lnSpc>
              <a:buNone/>
            </a:pPr>
            <a:r>
              <a:rPr lang="en-US" sz="1950" b="1" spc="20" kern="0" dirty="0">
                <a:solidFill>
                  <a:srgbClr val="FFFFFF"/>
                </a:solidFill>
                <a:latin typeface="Arial" pitchFamily="34" charset="0"/>
                <a:ea typeface="Arial" pitchFamily="34" charset="-122"/>
                <a:cs typeface="Arial" pitchFamily="34" charset="-120"/>
              </a:rPr>
              <a:t>Yes — testahil.com</a:t>
            </a:r>
            <a:endParaRPr lang="en-US" sz="1950" dirty="0"/>
          </a:p>
        </p:txBody>
      </p:sp>
      <p:sp>
        <p:nvSpPr>
          <p:cNvPr id="52" name="Shape 50"/>
          <p:cNvSpPr/>
          <p:nvPr/>
        </p:nvSpPr>
        <p:spPr>
          <a:xfrm>
            <a:off x="1143000" y="8710572"/>
            <a:ext cx="12954000" cy="17318"/>
          </a:xfrm>
          <a:prstGeom prst="rect">
            <a:avLst/>
          </a:prstGeom>
          <a:solidFill>
            <a:srgbClr val="102825">
              <a:alpha val="32000"/>
            </a:srgbClr>
          </a:solidFill>
          <a:ln/>
        </p:spPr>
      </p:sp>
      <p:sp>
        <p:nvSpPr>
          <p:cNvPr id="53" name="Text 51"/>
          <p:cNvSpPr/>
          <p:nvPr/>
        </p:nvSpPr>
        <p:spPr>
          <a:xfrm>
            <a:off x="1143000" y="8899340"/>
            <a:ext cx="13342620" cy="397155"/>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5C51"/>
                </a:solidFill>
                <a:latin typeface="Arial" pitchFamily="34" charset="0"/>
                <a:ea typeface="Arial" pitchFamily="34" charset="-122"/>
                <a:cs typeface="Arial" pitchFamily="34" charset="-120"/>
              </a:rPr>
              <a:t>We are not asking you to replace a vendor. We are asking you to cover the names no vendor covers.</a:t>
            </a:r>
            <a:endParaRPr lang="en-US" sz="1950" dirty="0"/>
          </a:p>
        </p:txBody>
      </p:sp>
      <p:sp>
        <p:nvSpPr>
          <p:cNvPr id="54" name="Text 52"/>
          <p:cNvSpPr/>
          <p:nvPr/>
        </p:nvSpPr>
        <p:spPr>
          <a:xfrm>
            <a:off x="13142268" y="9570798"/>
            <a:ext cx="4002732"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APPENDIX · GOVERNANCE</a:t>
            </a:r>
            <a:endParaRPr lang="en-US" sz="1800" dirty="0"/>
          </a:p>
        </p:txBody>
      </p:sp>
      <p:sp>
        <p:nvSpPr>
          <p:cNvPr id="3" name="Text 1"/>
          <p:cNvSpPr/>
          <p:nvPr/>
        </p:nvSpPr>
        <p:spPr>
          <a:xfrm>
            <a:off x="1143000" y="1790673"/>
            <a:ext cx="17602200" cy="806188"/>
          </a:xfrm>
          <a:prstGeom prst="rect">
            <a:avLst/>
          </a:prstGeom>
          <a:noFill/>
          <a:ln/>
        </p:spPr>
        <p:txBody>
          <a:bodyPr wrap="square" lIns="25400" tIns="25400" rIns="25400" bIns="25400" rtlCol="0" anchor="t">
            <a:normAutofit/>
          </a:bodyPr>
          <a:lstStyle/>
          <a:p>
            <a:pPr algn="l" indent="0" marL="0">
              <a:lnSpc>
                <a:spcPct val="97477"/>
              </a:lnSpc>
              <a:buNone/>
            </a:pPr>
            <a:r>
              <a:rPr lang="en-US" sz="5400" b="1" spc="-81" kern="0" dirty="0">
                <a:solidFill>
                  <a:srgbClr val="0E2726"/>
                </a:solidFill>
                <a:latin typeface="Arial" pitchFamily="34" charset="0"/>
                <a:ea typeface="Arial" pitchFamily="34" charset="-122"/>
                <a:cs typeface="Arial" pitchFamily="34" charset="-120"/>
              </a:rPr>
              <a:t>Five checkpoints before a number goes public.</a:t>
            </a:r>
            <a:endParaRPr lang="en-US" sz="5400" dirty="0"/>
          </a:p>
        </p:txBody>
      </p:sp>
      <p:sp>
        <p:nvSpPr>
          <p:cNvPr id="4" name="Text 2"/>
          <p:cNvSpPr/>
          <p:nvPr/>
        </p:nvSpPr>
        <p:spPr>
          <a:xfrm>
            <a:off x="1143000" y="2692098"/>
            <a:ext cx="17602200" cy="434321"/>
          </a:xfrm>
          <a:prstGeom prst="rect">
            <a:avLst/>
          </a:prstGeom>
          <a:noFill/>
          <a:ln/>
        </p:spPr>
        <p:txBody>
          <a:bodyPr wrap="square" lIns="25400" tIns="25400" rIns="25400" bIns="25400" rtlCol="0" anchor="t">
            <a:normAutofit/>
          </a:bodyPr>
          <a:lstStyle/>
          <a:p>
            <a:pPr algn="l" indent="0" marL="0">
              <a:lnSpc>
                <a:spcPct val="112988"/>
              </a:lnSpc>
              <a:buNone/>
            </a:pPr>
            <a:r>
              <a:rPr lang="en-US" sz="2400" dirty="0">
                <a:solidFill>
                  <a:srgbClr val="0E2626">
                    <a:alpha val="78000"/>
                  </a:srgbClr>
                </a:solidFill>
                <a:latin typeface="Arial" pitchFamily="34" charset="0"/>
                <a:ea typeface="Arial" pitchFamily="34" charset="-122"/>
                <a:cs typeface="Arial" pitchFamily="34" charset="-120"/>
              </a:rPr>
              <a:t>Written for the three teams who will read this deck without us in the room: compliance, model risk, vendor risk.</a:t>
            </a:r>
            <a:endParaRPr lang="en-US" sz="2400" dirty="0"/>
          </a:p>
        </p:txBody>
      </p:sp>
      <p:sp>
        <p:nvSpPr>
          <p:cNvPr id="5" name="Shape 3"/>
          <p:cNvSpPr/>
          <p:nvPr/>
        </p:nvSpPr>
        <p:spPr>
          <a:xfrm>
            <a:off x="1143000" y="3545492"/>
            <a:ext cx="2773615" cy="1626962"/>
          </a:xfrm>
          <a:prstGeom prst="rect">
            <a:avLst/>
          </a:prstGeom>
          <a:solidFill>
            <a:srgbClr val="FFFFFF"/>
          </a:solidFill>
          <a:ln w="17318">
            <a:solidFill>
              <a:srgbClr val="102825">
                <a:alpha val="32000"/>
              </a:srgbClr>
            </a:solidFill>
            <a:prstDash val="solid"/>
          </a:ln>
        </p:spPr>
      </p:sp>
      <p:sp>
        <p:nvSpPr>
          <p:cNvPr id="6" name="Text 4"/>
          <p:cNvSpPr/>
          <p:nvPr/>
        </p:nvSpPr>
        <p:spPr>
          <a:xfrm>
            <a:off x="1369828" y="3715156"/>
            <a:ext cx="2551956"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THE ENGINE</a:t>
            </a:r>
            <a:endParaRPr lang="en-US" sz="1950" dirty="0"/>
          </a:p>
        </p:txBody>
      </p:sp>
      <p:sp>
        <p:nvSpPr>
          <p:cNvPr id="7" name="Text 5"/>
          <p:cNvSpPr/>
          <p:nvPr/>
        </p:nvSpPr>
        <p:spPr>
          <a:xfrm>
            <a:off x="1369828" y="4088511"/>
            <a:ext cx="2396160"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fixed seed — reproducible runs</a:t>
            </a:r>
            <a:endParaRPr lang="en-US" sz="1800" dirty="0"/>
          </a:p>
        </p:txBody>
      </p:sp>
      <p:sp>
        <p:nvSpPr>
          <p:cNvPr id="8" name="Text 6"/>
          <p:cNvSpPr/>
          <p:nvPr/>
        </p:nvSpPr>
        <p:spPr>
          <a:xfrm>
            <a:off x="4011865" y="3545492"/>
            <a:ext cx="419114" cy="1665062"/>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9" name="Shape 7"/>
          <p:cNvSpPr/>
          <p:nvPr/>
        </p:nvSpPr>
        <p:spPr>
          <a:xfrm>
            <a:off x="4450028" y="3545492"/>
            <a:ext cx="2773683" cy="1626962"/>
          </a:xfrm>
          <a:prstGeom prst="rect">
            <a:avLst/>
          </a:prstGeom>
          <a:solidFill>
            <a:srgbClr val="FFFFFF"/>
          </a:solidFill>
          <a:ln w="17318">
            <a:solidFill>
              <a:srgbClr val="102825">
                <a:alpha val="32000"/>
              </a:srgbClr>
            </a:solidFill>
            <a:prstDash val="solid"/>
          </a:ln>
        </p:spPr>
      </p:sp>
      <p:sp>
        <p:nvSpPr>
          <p:cNvPr id="10" name="Text 8"/>
          <p:cNvSpPr/>
          <p:nvPr/>
        </p:nvSpPr>
        <p:spPr>
          <a:xfrm>
            <a:off x="4676856" y="3715156"/>
            <a:ext cx="2552030"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THE DATA GATE</a:t>
            </a:r>
            <a:endParaRPr lang="en-US" sz="1950" dirty="0"/>
          </a:p>
        </p:txBody>
      </p:sp>
      <p:sp>
        <p:nvSpPr>
          <p:cNvPr id="11" name="Text 9"/>
          <p:cNvSpPr/>
          <p:nvPr/>
        </p:nvSpPr>
        <p:spPr>
          <a:xfrm>
            <a:off x="4676856" y="4088511"/>
            <a:ext cx="2396227"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per-exchange error screens</a:t>
            </a:r>
            <a:endParaRPr lang="en-US" sz="1800" dirty="0"/>
          </a:p>
        </p:txBody>
      </p:sp>
      <p:sp>
        <p:nvSpPr>
          <p:cNvPr id="12" name="Text 10"/>
          <p:cNvSpPr/>
          <p:nvPr/>
        </p:nvSpPr>
        <p:spPr>
          <a:xfrm>
            <a:off x="7318961" y="3545492"/>
            <a:ext cx="419114" cy="1665062"/>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13" name="Shape 11"/>
          <p:cNvSpPr/>
          <p:nvPr/>
        </p:nvSpPr>
        <p:spPr>
          <a:xfrm>
            <a:off x="7757125" y="3545492"/>
            <a:ext cx="2773683" cy="1626962"/>
          </a:xfrm>
          <a:prstGeom prst="rect">
            <a:avLst/>
          </a:prstGeom>
          <a:solidFill>
            <a:srgbClr val="F9F6EF"/>
          </a:solidFill>
          <a:ln w="17318">
            <a:solidFill>
              <a:srgbClr val="C0A45F"/>
            </a:solidFill>
            <a:prstDash val="solid"/>
          </a:ln>
        </p:spPr>
      </p:sp>
      <p:sp>
        <p:nvSpPr>
          <p:cNvPr id="14" name="Text 12"/>
          <p:cNvSpPr/>
          <p:nvPr/>
        </p:nvSpPr>
        <p:spPr>
          <a:xfrm>
            <a:off x="7983952" y="3715156"/>
            <a:ext cx="2396227" cy="632465"/>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8A6A2E"/>
                </a:solidFill>
                <a:latin typeface="Arial" pitchFamily="34" charset="0"/>
                <a:ea typeface="Arial" pitchFamily="34" charset="-122"/>
                <a:cs typeface="Arial" pitchFamily="34" charset="-120"/>
              </a:rPr>
              <a:t>A NAMED REVIEWER</a:t>
            </a:r>
            <a:endParaRPr lang="en-US" sz="1950" dirty="0"/>
          </a:p>
        </p:txBody>
      </p:sp>
      <p:sp>
        <p:nvSpPr>
          <p:cNvPr id="15" name="Text 13"/>
          <p:cNvSpPr/>
          <p:nvPr/>
        </p:nvSpPr>
        <p:spPr>
          <a:xfrm>
            <a:off x="7983952" y="4385694"/>
            <a:ext cx="2396227"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a human analyst signs every number</a:t>
            </a:r>
            <a:endParaRPr lang="en-US" sz="1800" dirty="0"/>
          </a:p>
        </p:txBody>
      </p:sp>
      <p:sp>
        <p:nvSpPr>
          <p:cNvPr id="16" name="Text 14"/>
          <p:cNvSpPr/>
          <p:nvPr/>
        </p:nvSpPr>
        <p:spPr>
          <a:xfrm>
            <a:off x="10626057" y="3545492"/>
            <a:ext cx="419114" cy="1665062"/>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17" name="Shape 15"/>
          <p:cNvSpPr/>
          <p:nvPr/>
        </p:nvSpPr>
        <p:spPr>
          <a:xfrm>
            <a:off x="11064221" y="3545492"/>
            <a:ext cx="2773683" cy="1626962"/>
          </a:xfrm>
          <a:prstGeom prst="rect">
            <a:avLst/>
          </a:prstGeom>
          <a:solidFill>
            <a:srgbClr val="FFFFFF"/>
          </a:solidFill>
          <a:ln w="17318">
            <a:solidFill>
              <a:srgbClr val="102825">
                <a:alpha val="32000"/>
              </a:srgbClr>
            </a:solidFill>
            <a:prstDash val="solid"/>
          </a:ln>
        </p:spPr>
      </p:sp>
      <p:sp>
        <p:nvSpPr>
          <p:cNvPr id="18" name="Text 16"/>
          <p:cNvSpPr/>
          <p:nvPr/>
        </p:nvSpPr>
        <p:spPr>
          <a:xfrm>
            <a:off x="11291048" y="3715156"/>
            <a:ext cx="2552030"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PUBLISH</a:t>
            </a:r>
            <a:endParaRPr lang="en-US" sz="1950" dirty="0"/>
          </a:p>
        </p:txBody>
      </p:sp>
      <p:sp>
        <p:nvSpPr>
          <p:cNvPr id="19" name="Text 17"/>
          <p:cNvSpPr/>
          <p:nvPr/>
        </p:nvSpPr>
        <p:spPr>
          <a:xfrm>
            <a:off x="11291048" y="4088511"/>
            <a:ext cx="2396227"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ranges only — never a rating or target</a:t>
            </a:r>
            <a:endParaRPr lang="en-US" sz="1800" dirty="0"/>
          </a:p>
        </p:txBody>
      </p:sp>
      <p:sp>
        <p:nvSpPr>
          <p:cNvPr id="20" name="Text 18"/>
          <p:cNvSpPr/>
          <p:nvPr/>
        </p:nvSpPr>
        <p:spPr>
          <a:xfrm>
            <a:off x="13933153" y="3545492"/>
            <a:ext cx="419114" cy="1665062"/>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21" name="Shape 19"/>
          <p:cNvSpPr/>
          <p:nvPr/>
        </p:nvSpPr>
        <p:spPr>
          <a:xfrm>
            <a:off x="14371317" y="3545492"/>
            <a:ext cx="2773683" cy="1626962"/>
          </a:xfrm>
          <a:prstGeom prst="rect">
            <a:avLst/>
          </a:prstGeom>
          <a:solidFill>
            <a:srgbClr val="FFFFFF"/>
          </a:solidFill>
          <a:ln w="17318">
            <a:solidFill>
              <a:srgbClr val="102825">
                <a:alpha val="32000"/>
              </a:srgbClr>
            </a:solidFill>
            <a:prstDash val="solid"/>
          </a:ln>
        </p:spPr>
      </p:sp>
      <p:sp>
        <p:nvSpPr>
          <p:cNvPr id="22" name="Text 20"/>
          <p:cNvSpPr/>
          <p:nvPr/>
        </p:nvSpPr>
        <p:spPr>
          <a:xfrm>
            <a:off x="14598144" y="3715156"/>
            <a:ext cx="2552030"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THE LEDGER</a:t>
            </a:r>
            <a:endParaRPr lang="en-US" sz="1950" dirty="0"/>
          </a:p>
        </p:txBody>
      </p:sp>
      <p:sp>
        <p:nvSpPr>
          <p:cNvPr id="23" name="Text 21"/>
          <p:cNvSpPr/>
          <p:nvPr/>
        </p:nvSpPr>
        <p:spPr>
          <a:xfrm>
            <a:off x="14598144" y="4088511"/>
            <a:ext cx="2396227" cy="655195"/>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append-only · graded · misses kept</a:t>
            </a:r>
            <a:endParaRPr lang="en-US" sz="1800" dirty="0"/>
          </a:p>
        </p:txBody>
      </p:sp>
      <p:sp>
        <p:nvSpPr>
          <p:cNvPr id="24" name="Shape 22"/>
          <p:cNvSpPr/>
          <p:nvPr/>
        </p:nvSpPr>
        <p:spPr>
          <a:xfrm>
            <a:off x="1143000" y="5381963"/>
            <a:ext cx="16002000" cy="17318"/>
          </a:xfrm>
          <a:prstGeom prst="rect">
            <a:avLst/>
          </a:prstGeom>
          <a:solidFill>
            <a:srgbClr val="102825">
              <a:alpha val="32000"/>
            </a:srgbClr>
          </a:solidFill>
          <a:ln/>
        </p:spPr>
      </p:sp>
      <p:sp>
        <p:nvSpPr>
          <p:cNvPr id="25" name="Text 23"/>
          <p:cNvSpPr/>
          <p:nvPr/>
        </p:nvSpPr>
        <p:spPr>
          <a:xfrm>
            <a:off x="1143000" y="5532631"/>
            <a:ext cx="16482060" cy="392365"/>
          </a:xfrm>
          <a:prstGeom prst="rect">
            <a:avLst/>
          </a:prstGeom>
          <a:noFill/>
          <a:ln/>
        </p:spPr>
        <p:txBody>
          <a:bodyPr wrap="square" lIns="25400" tIns="25400" rIns="25400" bIns="25400" rtlCol="0" anchor="t">
            <a:normAutofit/>
          </a:bodyPr>
          <a:lstStyle/>
          <a:p>
            <a:pPr algn="l" indent="0" marL="0">
              <a:lnSpc>
                <a:spcPct val="134164"/>
              </a:lnSpc>
              <a:buNone/>
            </a:pPr>
            <a:r>
              <a:rPr lang="en-US" sz="1800" dirty="0">
                <a:solidFill>
                  <a:srgbClr val="5B7270"/>
                </a:solidFill>
                <a:latin typeface="Arial" pitchFamily="34" charset="0"/>
                <a:ea typeface="Arial" pitchFamily="34" charset="-122"/>
                <a:cs typeface="Arial" pitchFamily="34" charset="-120"/>
              </a:rPr>
              <a:t>auditable end to end — third-party reproducible · every rejected technique named · nothing deleted</a:t>
            </a:r>
            <a:endParaRPr lang="en-US" sz="1800" dirty="0"/>
          </a:p>
        </p:txBody>
      </p:sp>
      <p:sp>
        <p:nvSpPr>
          <p:cNvPr id="26" name="Shape 24"/>
          <p:cNvSpPr/>
          <p:nvPr/>
        </p:nvSpPr>
        <p:spPr>
          <a:xfrm>
            <a:off x="1143000" y="6248752"/>
            <a:ext cx="12954000" cy="17318"/>
          </a:xfrm>
          <a:prstGeom prst="rect">
            <a:avLst/>
          </a:prstGeom>
          <a:solidFill>
            <a:srgbClr val="102825">
              <a:alpha val="32000"/>
            </a:srgbClr>
          </a:solidFill>
          <a:ln/>
        </p:spPr>
      </p:sp>
      <p:sp>
        <p:nvSpPr>
          <p:cNvPr id="27" name="Text 25"/>
          <p:cNvSpPr/>
          <p:nvPr/>
        </p:nvSpPr>
        <p:spPr>
          <a:xfrm>
            <a:off x="1143000" y="6437520"/>
            <a:ext cx="13342620" cy="756236"/>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5C51"/>
                </a:solidFill>
                <a:latin typeface="Arial" pitchFamily="34" charset="0"/>
                <a:ea typeface="Arial" pitchFamily="34" charset="-122"/>
                <a:cs typeface="Arial" pitchFamily="34" charset="-120"/>
              </a:rPr>
              <a:t>Published, time-stamped, graded, misses kept — that’s what honest AI looks like to a regulator. Continuity is a deliverable, not a promise.</a:t>
            </a:r>
            <a:endParaRPr lang="en-US" sz="1950" dirty="0"/>
          </a:p>
        </p:txBody>
      </p:sp>
      <p:sp>
        <p:nvSpPr>
          <p:cNvPr id="28" name="Text 26"/>
          <p:cNvSpPr/>
          <p:nvPr/>
        </p:nvSpPr>
        <p:spPr>
          <a:xfrm>
            <a:off x="13142268" y="9570798"/>
            <a:ext cx="4002732"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APPENDIX · CONTINUOUS IMPROVEMENT</a:t>
            </a:r>
            <a:endParaRPr lang="en-US" sz="1800" dirty="0"/>
          </a:p>
        </p:txBody>
      </p:sp>
      <p:sp>
        <p:nvSpPr>
          <p:cNvPr id="3" name="Text 1"/>
          <p:cNvSpPr/>
          <p:nvPr/>
        </p:nvSpPr>
        <p:spPr>
          <a:xfrm>
            <a:off x="1143000" y="1790673"/>
            <a:ext cx="17602200" cy="699506"/>
          </a:xfrm>
          <a:prstGeom prst="rect">
            <a:avLst/>
          </a:prstGeom>
          <a:noFill/>
          <a:ln/>
        </p:spPr>
        <p:txBody>
          <a:bodyPr wrap="square" lIns="25400" tIns="25400" rIns="25400" bIns="25400" rtlCol="0" anchor="t">
            <a:normAutofit/>
          </a:bodyPr>
          <a:lstStyle/>
          <a:p>
            <a:pPr algn="l" indent="0" marL="0">
              <a:lnSpc>
                <a:spcPct val="97928"/>
              </a:lnSpc>
              <a:buNone/>
            </a:pPr>
            <a:r>
              <a:rPr lang="en-US" sz="4650" b="1" spc="-70" kern="0" dirty="0">
                <a:solidFill>
                  <a:srgbClr val="0E2726"/>
                </a:solidFill>
                <a:latin typeface="Arial" pitchFamily="34" charset="0"/>
                <a:ea typeface="Arial" pitchFamily="34" charset="-122"/>
                <a:cs typeface="Arial" pitchFamily="34" charset="-120"/>
              </a:rPr>
              <a:t>The simulation never stops sitting exams.</a:t>
            </a:r>
            <a:endParaRPr lang="en-US" sz="4650" dirty="0"/>
          </a:p>
        </p:txBody>
      </p:sp>
      <p:sp>
        <p:nvSpPr>
          <p:cNvPr id="4" name="Shape 2"/>
          <p:cNvSpPr/>
          <p:nvPr/>
        </p:nvSpPr>
        <p:spPr>
          <a:xfrm>
            <a:off x="1143000" y="2794924"/>
            <a:ext cx="2773615" cy="2552605"/>
          </a:xfrm>
          <a:prstGeom prst="rect">
            <a:avLst/>
          </a:prstGeom>
          <a:solidFill>
            <a:srgbClr val="FFFFFF"/>
          </a:solidFill>
          <a:ln w="17318">
            <a:solidFill>
              <a:srgbClr val="102825">
                <a:alpha val="32000"/>
              </a:srgbClr>
            </a:solidFill>
            <a:prstDash val="solid"/>
          </a:ln>
        </p:spPr>
      </p:sp>
      <p:sp>
        <p:nvSpPr>
          <p:cNvPr id="5" name="Text 3"/>
          <p:cNvSpPr/>
          <p:nvPr/>
        </p:nvSpPr>
        <p:spPr>
          <a:xfrm>
            <a:off x="1369828" y="2964589"/>
            <a:ext cx="2396160" cy="632465"/>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EVERY WINDOW GRADES</a:t>
            </a:r>
            <a:endParaRPr lang="en-US" sz="1950" dirty="0"/>
          </a:p>
        </p:txBody>
      </p:sp>
      <p:sp>
        <p:nvSpPr>
          <p:cNvPr id="6" name="Text 4"/>
          <p:cNvSpPr/>
          <p:nvPr/>
        </p:nvSpPr>
        <p:spPr>
          <a:xfrm>
            <a:off x="1369828" y="3635127"/>
            <a:ext cx="2396160" cy="1272291"/>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each matured forecast is new out-of-sample evidence — the exam never closes</a:t>
            </a:r>
            <a:endParaRPr lang="en-US" sz="1800" dirty="0"/>
          </a:p>
        </p:txBody>
      </p:sp>
      <p:sp>
        <p:nvSpPr>
          <p:cNvPr id="7" name="Text 5"/>
          <p:cNvSpPr/>
          <p:nvPr/>
        </p:nvSpPr>
        <p:spPr>
          <a:xfrm>
            <a:off x="4011865" y="2794924"/>
            <a:ext cx="419114" cy="2590705"/>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8" name="Shape 6"/>
          <p:cNvSpPr/>
          <p:nvPr/>
        </p:nvSpPr>
        <p:spPr>
          <a:xfrm>
            <a:off x="4450028" y="2794924"/>
            <a:ext cx="2773683" cy="2552605"/>
          </a:xfrm>
          <a:prstGeom prst="rect">
            <a:avLst/>
          </a:prstGeom>
          <a:solidFill>
            <a:srgbClr val="FFFFFF"/>
          </a:solidFill>
          <a:ln w="17318">
            <a:solidFill>
              <a:srgbClr val="102825">
                <a:alpha val="32000"/>
              </a:srgbClr>
            </a:solidFill>
            <a:prstDash val="solid"/>
          </a:ln>
        </p:spPr>
      </p:sp>
      <p:sp>
        <p:nvSpPr>
          <p:cNvPr id="9" name="Text 7"/>
          <p:cNvSpPr/>
          <p:nvPr/>
        </p:nvSpPr>
        <p:spPr>
          <a:xfrm>
            <a:off x="4676856" y="2964589"/>
            <a:ext cx="2396227" cy="632465"/>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AUTOMATIC REFITS</a:t>
            </a:r>
            <a:endParaRPr lang="en-US" sz="1950" dirty="0"/>
          </a:p>
        </p:txBody>
      </p:sp>
      <p:sp>
        <p:nvSpPr>
          <p:cNvPr id="10" name="Text 8"/>
          <p:cNvSpPr/>
          <p:nvPr/>
        </p:nvSpPr>
        <p:spPr>
          <a:xfrm>
            <a:off x="4676856" y="3635127"/>
            <a:ext cx="2396227" cy="963743"/>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a whole market refits in seconds when a name updates</a:t>
            </a:r>
            <a:endParaRPr lang="en-US" sz="1800" dirty="0"/>
          </a:p>
        </p:txBody>
      </p:sp>
      <p:sp>
        <p:nvSpPr>
          <p:cNvPr id="11" name="Text 9"/>
          <p:cNvSpPr/>
          <p:nvPr/>
        </p:nvSpPr>
        <p:spPr>
          <a:xfrm>
            <a:off x="7318961" y="2794924"/>
            <a:ext cx="419114" cy="2590705"/>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12" name="Shape 10"/>
          <p:cNvSpPr/>
          <p:nvPr/>
        </p:nvSpPr>
        <p:spPr>
          <a:xfrm>
            <a:off x="7757125" y="2794924"/>
            <a:ext cx="2773683" cy="2552605"/>
          </a:xfrm>
          <a:prstGeom prst="rect">
            <a:avLst/>
          </a:prstGeom>
          <a:solidFill>
            <a:srgbClr val="FFFFFF"/>
          </a:solidFill>
          <a:ln w="17318">
            <a:solidFill>
              <a:srgbClr val="102825">
                <a:alpha val="32000"/>
              </a:srgbClr>
            </a:solidFill>
            <a:prstDash val="solid"/>
          </a:ln>
        </p:spPr>
      </p:sp>
      <p:sp>
        <p:nvSpPr>
          <p:cNvPr id="13" name="Text 11"/>
          <p:cNvSpPr/>
          <p:nvPr/>
        </p:nvSpPr>
        <p:spPr>
          <a:xfrm>
            <a:off x="7983952" y="2964589"/>
            <a:ext cx="2396227" cy="632465"/>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CHALLENGERS RUN</a:t>
            </a:r>
            <a:endParaRPr lang="en-US" sz="1950" dirty="0"/>
          </a:p>
        </p:txBody>
      </p:sp>
      <p:sp>
        <p:nvSpPr>
          <p:cNvPr id="14" name="Text 12"/>
          <p:cNvSpPr/>
          <p:nvPr/>
        </p:nvSpPr>
        <p:spPr>
          <a:xfrm>
            <a:off x="7983952" y="3635127"/>
            <a:ext cx="2396227" cy="1272291"/>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candidate techniques race the production engine on identical windows</a:t>
            </a:r>
            <a:endParaRPr lang="en-US" sz="1800" dirty="0"/>
          </a:p>
        </p:txBody>
      </p:sp>
      <p:sp>
        <p:nvSpPr>
          <p:cNvPr id="15" name="Text 13"/>
          <p:cNvSpPr/>
          <p:nvPr/>
        </p:nvSpPr>
        <p:spPr>
          <a:xfrm>
            <a:off x="10626057" y="2794924"/>
            <a:ext cx="419114" cy="2590705"/>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16" name="Shape 14"/>
          <p:cNvSpPr/>
          <p:nvPr/>
        </p:nvSpPr>
        <p:spPr>
          <a:xfrm>
            <a:off x="11064221" y="2794924"/>
            <a:ext cx="2773683" cy="2552605"/>
          </a:xfrm>
          <a:prstGeom prst="rect">
            <a:avLst/>
          </a:prstGeom>
          <a:solidFill>
            <a:srgbClr val="F9F6EF"/>
          </a:solidFill>
          <a:ln w="17318">
            <a:solidFill>
              <a:srgbClr val="C0A45F"/>
            </a:solidFill>
            <a:prstDash val="solid"/>
          </a:ln>
        </p:spPr>
      </p:sp>
      <p:sp>
        <p:nvSpPr>
          <p:cNvPr id="17" name="Text 15"/>
          <p:cNvSpPr/>
          <p:nvPr/>
        </p:nvSpPr>
        <p:spPr>
          <a:xfrm>
            <a:off x="11291048" y="2964589"/>
            <a:ext cx="2552030" cy="335283"/>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8A6A2E"/>
                </a:solidFill>
                <a:latin typeface="Arial" pitchFamily="34" charset="0"/>
                <a:ea typeface="Arial" pitchFamily="34" charset="-122"/>
                <a:cs typeface="Arial" pitchFamily="34" charset="-120"/>
              </a:rPr>
              <a:t>BEAT IT OR BIN IT</a:t>
            </a:r>
            <a:endParaRPr lang="en-US" sz="1950" dirty="0"/>
          </a:p>
        </p:txBody>
      </p:sp>
      <p:sp>
        <p:nvSpPr>
          <p:cNvPr id="18" name="Text 16"/>
          <p:cNvSpPr/>
          <p:nvPr/>
        </p:nvSpPr>
        <p:spPr>
          <a:xfrm>
            <a:off x="11291048" y="3337944"/>
            <a:ext cx="2396227" cy="1272291"/>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an upgrade ships only on a statistically significant win — never by preference</a:t>
            </a:r>
            <a:endParaRPr lang="en-US" sz="1800" dirty="0"/>
          </a:p>
        </p:txBody>
      </p:sp>
      <p:sp>
        <p:nvSpPr>
          <p:cNvPr id="19" name="Text 17"/>
          <p:cNvSpPr/>
          <p:nvPr/>
        </p:nvSpPr>
        <p:spPr>
          <a:xfrm>
            <a:off x="13933153" y="2794924"/>
            <a:ext cx="419114" cy="2590705"/>
          </a:xfrm>
          <a:prstGeom prst="rect">
            <a:avLst/>
          </a:prstGeom>
          <a:noFill/>
          <a:ln/>
        </p:spPr>
        <p:txBody>
          <a:bodyPr wrap="square" lIns="25400" tIns="25400" rIns="25400" bIns="25400" rtlCol="0" anchor="ctr">
            <a:normAutofit/>
          </a:bodyPr>
          <a:lstStyle/>
          <a:p>
            <a:pPr algn="l" indent="0" marL="0">
              <a:lnSpc>
                <a:spcPct val="133435"/>
              </a:lnSpc>
              <a:buNone/>
            </a:pPr>
            <a:r>
              <a:rPr lang="en-US" sz="2700" b="1" dirty="0">
                <a:solidFill>
                  <a:srgbClr val="12796B"/>
                </a:solidFill>
                <a:latin typeface="Arial" pitchFamily="34" charset="0"/>
                <a:ea typeface="Arial" pitchFamily="34" charset="-122"/>
                <a:cs typeface="Arial" pitchFamily="34" charset="-120"/>
              </a:rPr>
              <a:t>→</a:t>
            </a:r>
            <a:endParaRPr lang="en-US" sz="2700" dirty="0"/>
          </a:p>
        </p:txBody>
      </p:sp>
      <p:sp>
        <p:nvSpPr>
          <p:cNvPr id="20" name="Shape 18"/>
          <p:cNvSpPr/>
          <p:nvPr/>
        </p:nvSpPr>
        <p:spPr>
          <a:xfrm>
            <a:off x="14371317" y="2794924"/>
            <a:ext cx="2773683" cy="2552605"/>
          </a:xfrm>
          <a:prstGeom prst="rect">
            <a:avLst/>
          </a:prstGeom>
          <a:solidFill>
            <a:srgbClr val="FFFFFF"/>
          </a:solidFill>
          <a:ln w="17318">
            <a:solidFill>
              <a:srgbClr val="102825">
                <a:alpha val="32000"/>
              </a:srgbClr>
            </a:solidFill>
            <a:prstDash val="solid"/>
          </a:ln>
        </p:spPr>
      </p:sp>
      <p:sp>
        <p:nvSpPr>
          <p:cNvPr id="21" name="Text 19"/>
          <p:cNvSpPr/>
          <p:nvPr/>
        </p:nvSpPr>
        <p:spPr>
          <a:xfrm>
            <a:off x="14598144" y="2964589"/>
            <a:ext cx="2396227" cy="632465"/>
          </a:xfrm>
          <a:prstGeom prst="rect">
            <a:avLst/>
          </a:prstGeom>
          <a:noFill/>
          <a:ln/>
        </p:spPr>
        <p:txBody>
          <a:bodyPr wrap="square" lIns="25400" tIns="25400" rIns="25400" bIns="25400" rtlCol="0" anchor="t">
            <a:normAutofit/>
          </a:bodyPr>
          <a:lstStyle/>
          <a:p>
            <a:pPr algn="l" indent="0" marL="0">
              <a:lnSpc>
                <a:spcPct val="104000"/>
              </a:lnSpc>
              <a:buNone/>
            </a:pPr>
            <a:r>
              <a:rPr lang="en-US" sz="1950" b="1" spc="39" kern="0" dirty="0">
                <a:solidFill>
                  <a:srgbClr val="0E5C51"/>
                </a:solidFill>
                <a:latin typeface="Arial" pitchFamily="34" charset="0"/>
                <a:ea typeface="Arial" pitchFamily="34" charset="-122"/>
                <a:cs typeface="Arial" pitchFamily="34" charset="-120"/>
              </a:rPr>
              <a:t>HISTORY STAYS PUT</a:t>
            </a:r>
            <a:endParaRPr lang="en-US" sz="1950" dirty="0"/>
          </a:p>
        </p:txBody>
      </p:sp>
      <p:sp>
        <p:nvSpPr>
          <p:cNvPr id="22" name="Text 20"/>
          <p:cNvSpPr/>
          <p:nvPr/>
        </p:nvSpPr>
        <p:spPr>
          <a:xfrm>
            <a:off x="14598144" y="3635127"/>
            <a:ext cx="2396227" cy="1580839"/>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every forecast keeps the engine version that made it — upgrades never rewrite the ledger</a:t>
            </a:r>
            <a:endParaRPr lang="en-US" sz="1800" dirty="0"/>
          </a:p>
        </p:txBody>
      </p:sp>
      <p:sp>
        <p:nvSpPr>
          <p:cNvPr id="23" name="Shape 21"/>
          <p:cNvSpPr/>
          <p:nvPr/>
        </p:nvSpPr>
        <p:spPr>
          <a:xfrm>
            <a:off x="1143000" y="5614203"/>
            <a:ext cx="7772413" cy="17318"/>
          </a:xfrm>
          <a:prstGeom prst="rect">
            <a:avLst/>
          </a:prstGeom>
          <a:solidFill>
            <a:srgbClr val="102825">
              <a:alpha val="32000"/>
            </a:srgbClr>
          </a:solidFill>
          <a:ln/>
        </p:spPr>
      </p:sp>
      <p:sp>
        <p:nvSpPr>
          <p:cNvPr id="24" name="Text 22"/>
          <p:cNvSpPr/>
          <p:nvPr/>
        </p:nvSpPr>
        <p:spPr>
          <a:xfrm>
            <a:off x="1143000" y="5764857"/>
            <a:ext cx="8549655" cy="346648"/>
          </a:xfrm>
          <a:prstGeom prst="rect">
            <a:avLst/>
          </a:prstGeom>
          <a:noFill/>
          <a:ln/>
        </p:spPr>
        <p:txBody>
          <a:bodyPr wrap="square" lIns="25400" tIns="25400" rIns="25400" bIns="25400" rtlCol="0" anchor="t">
            <a:normAutofit/>
          </a:bodyPr>
          <a:lstStyle/>
          <a:p>
            <a:pPr algn="l" indent="0" marL="0">
              <a:lnSpc>
                <a:spcPct val="116852"/>
              </a:lnSpc>
              <a:buNone/>
            </a:pPr>
            <a:r>
              <a:rPr lang="en-US" sz="1800" spc="144" kern="0" dirty="0">
                <a:solidFill>
                  <a:srgbClr val="12796B"/>
                </a:solidFill>
                <a:latin typeface="Arial" pitchFamily="34" charset="0"/>
                <a:ea typeface="Arial" pitchFamily="34" charset="-122"/>
                <a:cs typeface="Arial" pitchFamily="34" charset="-120"/>
              </a:rPr>
              <a:t>FUNDAMENTAL — REFRESHED BY FILINGS</a:t>
            </a:r>
            <a:endParaRPr lang="en-US" sz="1800" dirty="0"/>
          </a:p>
        </p:txBody>
      </p:sp>
      <p:sp>
        <p:nvSpPr>
          <p:cNvPr id="25" name="Text 23"/>
          <p:cNvSpPr/>
          <p:nvPr/>
        </p:nvSpPr>
        <p:spPr>
          <a:xfrm>
            <a:off x="1143000" y="6149578"/>
            <a:ext cx="8005586" cy="1032339"/>
          </a:xfrm>
          <a:prstGeom prst="rect">
            <a:avLst/>
          </a:prstGeom>
          <a:noFill/>
          <a:ln/>
        </p:spPr>
        <p:txBody>
          <a:bodyPr wrap="square" lIns="25400" tIns="25400" rIns="25400" bIns="25400" rtlCol="0" anchor="t">
            <a:normAutofit/>
          </a:bodyPr>
          <a:lstStyle/>
          <a:p>
            <a:pPr algn="l" indent="0" marL="0">
              <a:lnSpc>
                <a:spcPct val="125508"/>
              </a:lnSpc>
              <a:buNone/>
            </a:pPr>
            <a:r>
              <a:rPr lang="en-US" sz="1800" dirty="0">
                <a:solidFill>
                  <a:srgbClr val="0E2726"/>
                </a:solidFill>
                <a:latin typeface="Arial" pitchFamily="34" charset="0"/>
                <a:ea typeface="Arial" pitchFamily="34" charset="-122"/>
                <a:cs typeface="Arial" pitchFamily="34" charset="-120"/>
              </a:rPr>
              <a:t>Every new filing re-runs the whole study: the live formula chain (drivers → IS → BS → CF → DCF) recomputes, and the fair-value range moves with the accounts — re-reviewed and re-signed by an analyst before it republishes.</a:t>
            </a:r>
            <a:endParaRPr lang="en-US" sz="1800" dirty="0"/>
          </a:p>
        </p:txBody>
      </p:sp>
      <p:sp>
        <p:nvSpPr>
          <p:cNvPr id="26" name="Shape 24"/>
          <p:cNvSpPr/>
          <p:nvPr/>
        </p:nvSpPr>
        <p:spPr>
          <a:xfrm>
            <a:off x="9372586" y="5614203"/>
            <a:ext cx="7772413" cy="17318"/>
          </a:xfrm>
          <a:prstGeom prst="rect">
            <a:avLst/>
          </a:prstGeom>
          <a:solidFill>
            <a:srgbClr val="102825">
              <a:alpha val="32000"/>
            </a:srgbClr>
          </a:solidFill>
          <a:ln/>
        </p:spPr>
      </p:sp>
      <p:sp>
        <p:nvSpPr>
          <p:cNvPr id="27" name="Text 25"/>
          <p:cNvSpPr/>
          <p:nvPr/>
        </p:nvSpPr>
        <p:spPr>
          <a:xfrm>
            <a:off x="9372586" y="5764857"/>
            <a:ext cx="8549655" cy="346648"/>
          </a:xfrm>
          <a:prstGeom prst="rect">
            <a:avLst/>
          </a:prstGeom>
          <a:noFill/>
          <a:ln/>
        </p:spPr>
        <p:txBody>
          <a:bodyPr wrap="square" lIns="25400" tIns="25400" rIns="25400" bIns="25400" rtlCol="0" anchor="t">
            <a:normAutofit/>
          </a:bodyPr>
          <a:lstStyle/>
          <a:p>
            <a:pPr algn="l" indent="0" marL="0">
              <a:lnSpc>
                <a:spcPct val="116852"/>
              </a:lnSpc>
              <a:buNone/>
            </a:pPr>
            <a:r>
              <a:rPr lang="en-US" sz="1800" spc="144" kern="0" dirty="0">
                <a:solidFill>
                  <a:srgbClr val="12796B"/>
                </a:solidFill>
                <a:latin typeface="Arial" pitchFamily="34" charset="0"/>
                <a:ea typeface="Arial" pitchFamily="34" charset="-122"/>
                <a:cs typeface="Arial" pitchFamily="34" charset="-120"/>
              </a:rPr>
              <a:t>TECHNICAL — REFRESHED BY PRICES</a:t>
            </a:r>
            <a:endParaRPr lang="en-US" sz="1800" dirty="0"/>
          </a:p>
        </p:txBody>
      </p:sp>
      <p:sp>
        <p:nvSpPr>
          <p:cNvPr id="28" name="Text 26"/>
          <p:cNvSpPr/>
          <p:nvPr/>
        </p:nvSpPr>
        <p:spPr>
          <a:xfrm>
            <a:off x="9372586" y="6149578"/>
            <a:ext cx="8005586" cy="1032339"/>
          </a:xfrm>
          <a:prstGeom prst="rect">
            <a:avLst/>
          </a:prstGeom>
          <a:noFill/>
          <a:ln/>
        </p:spPr>
        <p:txBody>
          <a:bodyPr wrap="square" lIns="25400" tIns="25400" rIns="25400" bIns="25400" rtlCol="0" anchor="t">
            <a:normAutofit/>
          </a:bodyPr>
          <a:lstStyle/>
          <a:p>
            <a:pPr algn="l" indent="0" marL="0">
              <a:lnSpc>
                <a:spcPct val="125508"/>
              </a:lnSpc>
              <a:buNone/>
            </a:pPr>
            <a:r>
              <a:rPr lang="en-US" sz="1800" dirty="0">
                <a:solidFill>
                  <a:srgbClr val="0E2726"/>
                </a:solidFill>
                <a:latin typeface="Arial" pitchFamily="34" charset="0"/>
                <a:ea typeface="Arial" pitchFamily="34" charset="-122"/>
                <a:cs typeface="Arial" pitchFamily="34" charset="-120"/>
              </a:rPr>
              <a:t>Support, resistance and trend recompute from the cleaned series with every session close — no lag between the market moving and the levels updating. The same closes feed the next simulation refit.</a:t>
            </a:r>
            <a:endParaRPr lang="en-US" sz="1800" dirty="0"/>
          </a:p>
        </p:txBody>
      </p:sp>
      <p:sp>
        <p:nvSpPr>
          <p:cNvPr id="29" name="Shape 27"/>
          <p:cNvSpPr/>
          <p:nvPr/>
        </p:nvSpPr>
        <p:spPr>
          <a:xfrm>
            <a:off x="1143000" y="7372404"/>
            <a:ext cx="16002000" cy="17318"/>
          </a:xfrm>
          <a:prstGeom prst="rect">
            <a:avLst/>
          </a:prstGeom>
          <a:solidFill>
            <a:srgbClr val="102825">
              <a:alpha val="32000"/>
            </a:srgbClr>
          </a:solidFill>
          <a:ln/>
        </p:spPr>
      </p:sp>
      <p:sp>
        <p:nvSpPr>
          <p:cNvPr id="30" name="Text 28"/>
          <p:cNvSpPr/>
          <p:nvPr/>
        </p:nvSpPr>
        <p:spPr>
          <a:xfrm>
            <a:off x="1143000" y="7523058"/>
            <a:ext cx="16482060" cy="700926"/>
          </a:xfrm>
          <a:prstGeom prst="rect">
            <a:avLst/>
          </a:prstGeom>
          <a:noFill/>
          <a:ln/>
        </p:spPr>
        <p:txBody>
          <a:bodyPr wrap="square" lIns="25400" tIns="25400" rIns="25400" bIns="25400" rtlCol="0" anchor="t">
            <a:normAutofit/>
          </a:bodyPr>
          <a:lstStyle/>
          <a:p>
            <a:pPr algn="l" indent="0" marL="0">
              <a:lnSpc>
                <a:spcPct val="125508"/>
              </a:lnSpc>
              <a:buNone/>
            </a:pPr>
            <a:r>
              <a:rPr lang="en-US" sz="1800" dirty="0">
                <a:solidFill>
                  <a:srgbClr val="0E2726"/>
                </a:solidFill>
                <a:latin typeface="Arial" pitchFamily="34" charset="0"/>
                <a:ea typeface="Arial" pitchFamily="34" charset="-122"/>
                <a:cs typeface="Arial" pitchFamily="34" charset="-120"/>
              </a:rPr>
              <a:t>The 8 rejected techniques are this loop’s exhaust — and the joint model &amp; research board steers it: partner analysts and quants approve upgrades, audit calibration, and direct coverage.</a:t>
            </a:r>
            <a:endParaRPr lang="en-US" sz="1800" dirty="0"/>
          </a:p>
        </p:txBody>
      </p:sp>
      <p:sp>
        <p:nvSpPr>
          <p:cNvPr id="31" name="Shape 29"/>
          <p:cNvSpPr/>
          <p:nvPr/>
        </p:nvSpPr>
        <p:spPr>
          <a:xfrm>
            <a:off x="1143000" y="8433481"/>
            <a:ext cx="12954000" cy="17318"/>
          </a:xfrm>
          <a:prstGeom prst="rect">
            <a:avLst/>
          </a:prstGeom>
          <a:solidFill>
            <a:srgbClr val="102825">
              <a:alpha val="32000"/>
            </a:srgbClr>
          </a:solidFill>
          <a:ln/>
        </p:spPr>
      </p:sp>
      <p:sp>
        <p:nvSpPr>
          <p:cNvPr id="32" name="Text 30"/>
          <p:cNvSpPr/>
          <p:nvPr/>
        </p:nvSpPr>
        <p:spPr>
          <a:xfrm>
            <a:off x="1143000" y="8622249"/>
            <a:ext cx="13342620" cy="397155"/>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0E5C51"/>
                </a:solidFill>
                <a:latin typeface="Arial" pitchFamily="34" charset="0"/>
                <a:ea typeface="Arial" pitchFamily="34" charset="-122"/>
                <a:cs typeface="Arial" pitchFamily="34" charset="-120"/>
              </a:rPr>
              <a:t>Calibration is not a launch claim — it is re-earned every month, in public, window by window.</a:t>
            </a:r>
            <a:endParaRPr lang="en-US" sz="1950" dirty="0"/>
          </a:p>
        </p:txBody>
      </p:sp>
      <p:sp>
        <p:nvSpPr>
          <p:cNvPr id="33" name="Text 31"/>
          <p:cNvSpPr/>
          <p:nvPr/>
        </p:nvSpPr>
        <p:spPr>
          <a:xfrm>
            <a:off x="13142268" y="9570798"/>
            <a:ext cx="4002732"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1143000" y="533346"/>
            <a:ext cx="17602200" cy="312350"/>
          </a:xfrm>
          <a:prstGeom prst="rect">
            <a:avLst/>
          </a:prstGeom>
          <a:noFill/>
          <a:ln/>
        </p:spPr>
        <p:txBody>
          <a:bodyPr wrap="square" lIns="25400" tIns="25400" rIns="25400" bIns="25400" rtlCol="0" anchor="t">
            <a:normAutofit/>
          </a:bodyPr>
          <a:lstStyle/>
          <a:p>
            <a:pPr algn="l" indent="0" marL="0">
              <a:lnSpc>
                <a:spcPct val="103869"/>
              </a:lnSpc>
              <a:buNone/>
            </a:pPr>
            <a:r>
              <a:rPr lang="en-US" sz="1800" spc="144" kern="0" dirty="0">
                <a:solidFill>
                  <a:srgbClr val="12796B"/>
                </a:solidFill>
                <a:latin typeface="Arial" pitchFamily="34" charset="0"/>
                <a:ea typeface="Arial" pitchFamily="34" charset="-122"/>
                <a:cs typeface="Arial" pitchFamily="34" charset="-120"/>
              </a:rPr>
              <a:t>APPENDIX · THE FULL TABLE</a:t>
            </a:r>
            <a:endParaRPr lang="en-US" sz="1800" dirty="0"/>
          </a:p>
        </p:txBody>
      </p:sp>
      <p:sp>
        <p:nvSpPr>
          <p:cNvPr id="3" name="Text 1"/>
          <p:cNvSpPr/>
          <p:nvPr/>
        </p:nvSpPr>
        <p:spPr>
          <a:xfrm>
            <a:off x="1143000" y="1790673"/>
            <a:ext cx="17602200" cy="571446"/>
          </a:xfrm>
          <a:prstGeom prst="rect">
            <a:avLst/>
          </a:prstGeom>
          <a:noFill/>
          <a:ln/>
        </p:spPr>
        <p:txBody>
          <a:bodyPr wrap="square" lIns="25400" tIns="25400" rIns="25400" bIns="25400" rtlCol="0" anchor="t">
            <a:normAutofit/>
          </a:bodyPr>
          <a:lstStyle/>
          <a:p>
            <a:pPr algn="l" indent="0" marL="0">
              <a:lnSpc>
                <a:spcPct val="97008"/>
              </a:lnSpc>
              <a:buNone/>
            </a:pPr>
            <a:r>
              <a:rPr lang="en-US" sz="3750" b="1" spc="-56" kern="0" dirty="0">
                <a:solidFill>
                  <a:srgbClr val="0E2726"/>
                </a:solidFill>
                <a:latin typeface="Arial" pitchFamily="34" charset="0"/>
                <a:ea typeface="Arial" pitchFamily="34" charset="-122"/>
                <a:cs typeface="Arial" pitchFamily="34" charset="-120"/>
              </a:rPr>
              <a:t>Every market, every window.</a:t>
            </a:r>
            <a:endParaRPr lang="en-US" sz="3750" dirty="0"/>
          </a:p>
        </p:txBody>
      </p:sp>
      <p:sp>
        <p:nvSpPr>
          <p:cNvPr id="4" name="Text 2"/>
          <p:cNvSpPr/>
          <p:nvPr/>
        </p:nvSpPr>
        <p:spPr>
          <a:xfrm>
            <a:off x="1143000" y="2438278"/>
            <a:ext cx="15304770" cy="686720"/>
          </a:xfrm>
          <a:prstGeom prst="rect">
            <a:avLst/>
          </a:prstGeom>
          <a:noFill/>
          <a:ln/>
        </p:spPr>
        <p:txBody>
          <a:bodyPr wrap="square" lIns="25400" tIns="25400" rIns="25400" bIns="25400" rtlCol="0" anchor="t">
            <a:normAutofit/>
          </a:bodyPr>
          <a:lstStyle/>
          <a:p>
            <a:pPr algn="l" indent="0" marL="0">
              <a:lnSpc>
                <a:spcPct val="121180"/>
              </a:lnSpc>
              <a:buNone/>
            </a:pPr>
            <a:r>
              <a:rPr lang="en-US" sz="1800" dirty="0">
                <a:solidFill>
                  <a:srgbClr val="5B7270"/>
                </a:solidFill>
                <a:latin typeface="Arial" pitchFamily="34" charset="0"/>
                <a:ea typeface="Arial" pitchFamily="34" charset="-122"/>
                <a:cs typeface="Arial" pitchFamily="34" charset="-120"/>
              </a:rPr>
              <a:t>Every verdict here means the bands are honestly calibrated. </a:t>
            </a:r>
            <a:pPr algn="l" indent="0" marL="0">
              <a:lnSpc>
                <a:spcPct val="121180"/>
              </a:lnSpc>
              <a:buNone/>
            </a:pPr>
            <a:r>
              <a:rPr lang="en-US" sz="1800" b="1" dirty="0">
                <a:solidFill>
                  <a:srgbClr val="0E5C51"/>
                </a:solidFill>
                <a:latin typeface="Arial" pitchFamily="34" charset="0"/>
                <a:ea typeface="Arial" pitchFamily="34" charset="-122"/>
                <a:cs typeface="Arial" pitchFamily="34" charset="-120"/>
              </a:rPr>
              <a:t>PASS </a:t>
            </a:r>
            <a:pPr algn="l" indent="0" marL="0">
              <a:lnSpc>
                <a:spcPct val="121180"/>
              </a:lnSpc>
              <a:buNone/>
            </a:pPr>
            <a:r>
              <a:rPr lang="en-US" sz="1800" dirty="0">
                <a:solidFill>
                  <a:srgbClr val="5B7270"/>
                </a:solidFill>
                <a:latin typeface="Arial" pitchFamily="34" charset="0"/>
                <a:ea typeface="Arial" pitchFamily="34" charset="-122"/>
                <a:cs typeface="Arial" pitchFamily="34" charset="-120"/>
              </a:rPr>
              <a:t>adds a statistically proven edge over the naive benchmark; on the 24-Aug panel UAE prints PASS and every other market </a:t>
            </a:r>
            <a:pPr algn="l" indent="0" marL="0">
              <a:lnSpc>
                <a:spcPct val="121180"/>
              </a:lnSpc>
              <a:buNone/>
            </a:pPr>
            <a:r>
              <a:rPr lang="en-US" sz="1800" b="1" dirty="0">
                <a:solidFill>
                  <a:srgbClr val="0E2726"/>
                </a:solidFill>
                <a:latin typeface="Arial" pitchFamily="34" charset="0"/>
                <a:ea typeface="Arial" pitchFamily="34" charset="-122"/>
                <a:cs typeface="Arial" pitchFamily="34" charset="-120"/>
              </a:rPr>
              <a:t>PARITY </a:t>
            </a:r>
            <a:pPr algn="l" indent="0" marL="0">
              <a:lnSpc>
                <a:spcPct val="121180"/>
              </a:lnSpc>
              <a:buNone/>
            </a:pPr>
            <a:r>
              <a:rPr lang="en-US" sz="1800" dirty="0">
                <a:solidFill>
                  <a:srgbClr val="5B7270"/>
                </a:solidFill>
                <a:latin typeface="Arial" pitchFamily="34" charset="0"/>
                <a:ea typeface="Arial" pitchFamily="34" charset="-122"/>
                <a:cs typeface="Arial" pitchFamily="34" charset="-120"/>
              </a:rPr>
              <a:t>— calibrated everywhere, the edge proven in one. The honest print of an un-gamed exam.</a:t>
            </a:r>
            <a:endParaRPr lang="en-US" sz="1800" dirty="0"/>
          </a:p>
        </p:txBody>
      </p:sp>
      <p:sp>
        <p:nvSpPr>
          <p:cNvPr id="5" name="Shape 3"/>
          <p:cNvSpPr/>
          <p:nvPr/>
        </p:nvSpPr>
        <p:spPr>
          <a:xfrm>
            <a:off x="1143000" y="3277398"/>
            <a:ext cx="16002000" cy="522860"/>
          </a:xfrm>
          <a:prstGeom prst="rect">
            <a:avLst/>
          </a:prstGeom>
          <a:solidFill>
            <a:srgbClr val="12796B"/>
          </a:solidFill>
          <a:ln/>
        </p:spPr>
        <p:txBody>
          <a:bodyPr/>
          <a:p/>
        </p:txBody>
      </p:sp>
      <p:sp>
        <p:nvSpPr>
          <p:cNvPr id="6" name="Shape 4"/>
          <p:cNvSpPr/>
          <p:nvPr/>
        </p:nvSpPr>
        <p:spPr>
          <a:xfrm>
            <a:off x="1143000" y="3782940"/>
            <a:ext cx="3794373" cy="17318"/>
          </a:xfrm>
          <a:prstGeom prst="rect">
            <a:avLst/>
          </a:prstGeom>
          <a:solidFill>
            <a:srgbClr val="102825">
              <a:alpha val="32000"/>
            </a:srgbClr>
          </a:solidFill>
          <a:ln/>
        </p:spPr>
        <p:txBody>
          <a:bodyPr/>
          <a:p/>
        </p:txBody>
      </p:sp>
      <p:sp>
        <p:nvSpPr>
          <p:cNvPr id="7" name="Text 5"/>
          <p:cNvSpPr/>
          <p:nvPr/>
        </p:nvSpPr>
        <p:spPr>
          <a:xfrm>
            <a:off x="1333500" y="3391698"/>
            <a:ext cx="3527204" cy="315042"/>
          </a:xfrm>
          <a:prstGeom prst="rect">
            <a:avLst/>
          </a:prstGeom>
          <a:noFill/>
          <a:ln/>
        </p:spPr>
        <p:txBody>
          <a:bodyPr wrap="square" lIns="25400" tIns="25400" rIns="25400" bIns="25400" rtlCol="0" anchor="ctr">
            <a:normAutofit/>
          </a:bodyPr>
          <a:lstStyle/>
          <a:p>
            <a:pPr algn="l" indent="0" marL="0">
              <a:lnSpc>
                <a:spcPct val="108197"/>
              </a:lnSpc>
              <a:buNone/>
            </a:pPr>
            <a:r>
              <a:rPr lang="en-US" sz="1800" b="1" spc="108" kern="0" dirty="0">
                <a:solidFill>
                  <a:srgbClr val="FFFFFF"/>
                </a:solidFill>
                <a:latin typeface="Arial" pitchFamily="34" charset="0"/>
                <a:ea typeface="Arial" pitchFamily="34" charset="-122"/>
                <a:cs typeface="Arial" pitchFamily="34" charset="-120"/>
              </a:rPr>
              <a:t>MARKET</a:t>
            </a:r>
            <a:endParaRPr lang="en-US" sz="1800" dirty="0"/>
          </a:p>
        </p:txBody>
      </p:sp>
      <p:sp>
        <p:nvSpPr>
          <p:cNvPr id="8" name="Shape 6"/>
          <p:cNvSpPr/>
          <p:nvPr/>
        </p:nvSpPr>
        <p:spPr>
          <a:xfrm>
            <a:off x="4937373" y="3782940"/>
            <a:ext cx="1886126" cy="17318"/>
          </a:xfrm>
          <a:prstGeom prst="rect">
            <a:avLst/>
          </a:prstGeom>
          <a:solidFill>
            <a:srgbClr val="102825">
              <a:alpha val="32000"/>
            </a:srgbClr>
          </a:solidFill>
          <a:ln/>
        </p:spPr>
        <p:txBody>
          <a:bodyPr/>
          <a:p/>
        </p:txBody>
      </p:sp>
      <p:sp>
        <p:nvSpPr>
          <p:cNvPr id="9" name="Text 7"/>
          <p:cNvSpPr/>
          <p:nvPr/>
        </p:nvSpPr>
        <p:spPr>
          <a:xfrm>
            <a:off x="5127873" y="3391698"/>
            <a:ext cx="1581326" cy="315042"/>
          </a:xfrm>
          <a:prstGeom prst="rect">
            <a:avLst/>
          </a:prstGeom>
          <a:noFill/>
          <a:ln/>
        </p:spPr>
        <p:txBody>
          <a:bodyPr wrap="square" lIns="25400" tIns="25400" rIns="25400" bIns="25400" rtlCol="0" anchor="ctr">
            <a:normAutofit/>
          </a:bodyPr>
          <a:lstStyle/>
          <a:p>
            <a:pPr algn="l" indent="0" marL="0">
              <a:lnSpc>
                <a:spcPct val="108197"/>
              </a:lnSpc>
              <a:buNone/>
            </a:pPr>
            <a:r>
              <a:rPr lang="en-US" sz="1800" b="1" spc="108" kern="0" dirty="0">
                <a:solidFill>
                  <a:srgbClr val="FFFFFF"/>
                </a:solidFill>
                <a:latin typeface="Arial" pitchFamily="34" charset="0"/>
                <a:ea typeface="Arial" pitchFamily="34" charset="-122"/>
                <a:cs typeface="Arial" pitchFamily="34" charset="-120"/>
              </a:rPr>
              <a:t>NAMES</a:t>
            </a:r>
            <a:endParaRPr lang="en-US" sz="1800" dirty="0"/>
          </a:p>
        </p:txBody>
      </p:sp>
      <p:sp>
        <p:nvSpPr>
          <p:cNvPr id="10" name="Shape 8"/>
          <p:cNvSpPr/>
          <p:nvPr/>
        </p:nvSpPr>
        <p:spPr>
          <a:xfrm>
            <a:off x="6823499" y="3782940"/>
            <a:ext cx="2438887" cy="17318"/>
          </a:xfrm>
          <a:prstGeom prst="rect">
            <a:avLst/>
          </a:prstGeom>
          <a:solidFill>
            <a:srgbClr val="102825">
              <a:alpha val="32000"/>
            </a:srgbClr>
          </a:solidFill>
          <a:ln/>
        </p:spPr>
        <p:txBody>
          <a:bodyPr/>
          <a:p/>
        </p:txBody>
      </p:sp>
      <p:sp>
        <p:nvSpPr>
          <p:cNvPr id="11" name="Text 9"/>
          <p:cNvSpPr/>
          <p:nvPr/>
        </p:nvSpPr>
        <p:spPr>
          <a:xfrm>
            <a:off x="7013999" y="3391698"/>
            <a:ext cx="2134087" cy="315042"/>
          </a:xfrm>
          <a:prstGeom prst="rect">
            <a:avLst/>
          </a:prstGeom>
          <a:noFill/>
          <a:ln/>
        </p:spPr>
        <p:txBody>
          <a:bodyPr wrap="square" lIns="25400" tIns="25400" rIns="25400" bIns="25400" rtlCol="0" anchor="ctr">
            <a:normAutofit/>
          </a:bodyPr>
          <a:lstStyle/>
          <a:p>
            <a:pPr algn="l" indent="0" marL="0">
              <a:lnSpc>
                <a:spcPct val="108197"/>
              </a:lnSpc>
              <a:buNone/>
            </a:pPr>
            <a:r>
              <a:rPr lang="en-US" sz="1800" b="1" spc="108" kern="0" dirty="0">
                <a:solidFill>
                  <a:srgbClr val="FFFFFF"/>
                </a:solidFill>
                <a:latin typeface="Arial" pitchFamily="34" charset="0"/>
                <a:ea typeface="Arial" pitchFamily="34" charset="-122"/>
                <a:cs typeface="Arial" pitchFamily="34" charset="-120"/>
              </a:rPr>
              <a:t>WINDOWS</a:t>
            </a:r>
            <a:endParaRPr lang="en-US" sz="1800" dirty="0"/>
          </a:p>
        </p:txBody>
      </p:sp>
      <p:sp>
        <p:nvSpPr>
          <p:cNvPr id="12" name="Shape 10"/>
          <p:cNvSpPr/>
          <p:nvPr/>
        </p:nvSpPr>
        <p:spPr>
          <a:xfrm>
            <a:off x="9262386" y="3782940"/>
            <a:ext cx="1830721" cy="17318"/>
          </a:xfrm>
          <a:prstGeom prst="rect">
            <a:avLst/>
          </a:prstGeom>
          <a:solidFill>
            <a:srgbClr val="102825">
              <a:alpha val="32000"/>
            </a:srgbClr>
          </a:solidFill>
          <a:ln/>
        </p:spPr>
        <p:txBody>
          <a:bodyPr/>
          <a:p/>
        </p:txBody>
      </p:sp>
      <p:sp>
        <p:nvSpPr>
          <p:cNvPr id="13" name="Text 11"/>
          <p:cNvSpPr/>
          <p:nvPr/>
        </p:nvSpPr>
        <p:spPr>
          <a:xfrm>
            <a:off x="9452886" y="3391698"/>
            <a:ext cx="1525921" cy="315042"/>
          </a:xfrm>
          <a:prstGeom prst="rect">
            <a:avLst/>
          </a:prstGeom>
          <a:noFill/>
          <a:ln/>
        </p:spPr>
        <p:txBody>
          <a:bodyPr wrap="square" lIns="25400" tIns="25400" rIns="25400" bIns="25400" rtlCol="0" anchor="ctr">
            <a:normAutofit/>
          </a:bodyPr>
          <a:lstStyle/>
          <a:p>
            <a:pPr algn="l" indent="0" marL="0">
              <a:lnSpc>
                <a:spcPct val="108197"/>
              </a:lnSpc>
              <a:buNone/>
            </a:pPr>
            <a:r>
              <a:rPr lang="en-US" sz="1800" b="1" spc="108" kern="0" dirty="0">
                <a:solidFill>
                  <a:srgbClr val="FFFFFF"/>
                </a:solidFill>
                <a:latin typeface="Arial" pitchFamily="34" charset="0"/>
                <a:ea typeface="Arial" pitchFamily="34" charset="-122"/>
                <a:cs typeface="Arial" pitchFamily="34" charset="-120"/>
              </a:rPr>
              <a:t>INSIDE</a:t>
            </a:r>
            <a:endParaRPr lang="en-US" sz="1800" dirty="0"/>
          </a:p>
        </p:txBody>
      </p:sp>
      <p:sp>
        <p:nvSpPr>
          <p:cNvPr id="14" name="Shape 12"/>
          <p:cNvSpPr/>
          <p:nvPr/>
        </p:nvSpPr>
        <p:spPr>
          <a:xfrm>
            <a:off x="11093107" y="3782940"/>
            <a:ext cx="2568909" cy="17318"/>
          </a:xfrm>
          <a:prstGeom prst="rect">
            <a:avLst/>
          </a:prstGeom>
          <a:solidFill>
            <a:srgbClr val="102825">
              <a:alpha val="32000"/>
            </a:srgbClr>
          </a:solidFill>
          <a:ln/>
        </p:spPr>
        <p:txBody>
          <a:bodyPr/>
          <a:p/>
        </p:txBody>
      </p:sp>
      <p:sp>
        <p:nvSpPr>
          <p:cNvPr id="15" name="Text 13"/>
          <p:cNvSpPr/>
          <p:nvPr/>
        </p:nvSpPr>
        <p:spPr>
          <a:xfrm>
            <a:off x="11283607" y="3391698"/>
            <a:ext cx="2264976" cy="315042"/>
          </a:xfrm>
          <a:prstGeom prst="rect">
            <a:avLst/>
          </a:prstGeom>
          <a:noFill/>
          <a:ln/>
        </p:spPr>
        <p:txBody>
          <a:bodyPr wrap="square" lIns="25400" tIns="25400" rIns="25400" bIns="25400" rtlCol="0" anchor="ctr">
            <a:normAutofit/>
          </a:bodyPr>
          <a:lstStyle/>
          <a:p>
            <a:pPr algn="l" indent="0" marL="0">
              <a:lnSpc>
                <a:spcPct val="108197"/>
              </a:lnSpc>
              <a:buNone/>
            </a:pPr>
            <a:r>
              <a:rPr lang="en-US" sz="1800" b="1" spc="108" kern="0" dirty="0">
                <a:solidFill>
                  <a:srgbClr val="FFFFFF"/>
                </a:solidFill>
                <a:latin typeface="Arial" pitchFamily="34" charset="0"/>
                <a:ea typeface="Arial" pitchFamily="34" charset="-122"/>
                <a:cs typeface="Arial" pitchFamily="34" charset="-120"/>
              </a:rPr>
              <a:t>MISS RATE</a:t>
            </a:r>
            <a:endParaRPr lang="en-US" sz="1800" dirty="0"/>
          </a:p>
        </p:txBody>
      </p:sp>
      <p:sp>
        <p:nvSpPr>
          <p:cNvPr id="16" name="Shape 14"/>
          <p:cNvSpPr/>
          <p:nvPr/>
        </p:nvSpPr>
        <p:spPr>
          <a:xfrm>
            <a:off x="13662015" y="3782940"/>
            <a:ext cx="3482984" cy="17318"/>
          </a:xfrm>
          <a:prstGeom prst="rect">
            <a:avLst/>
          </a:prstGeom>
          <a:solidFill>
            <a:srgbClr val="102825">
              <a:alpha val="32000"/>
            </a:srgbClr>
          </a:solidFill>
          <a:ln/>
        </p:spPr>
        <p:txBody>
          <a:bodyPr/>
          <a:p/>
        </p:txBody>
      </p:sp>
      <p:sp>
        <p:nvSpPr>
          <p:cNvPr id="17" name="Text 15"/>
          <p:cNvSpPr/>
          <p:nvPr/>
        </p:nvSpPr>
        <p:spPr>
          <a:xfrm>
            <a:off x="13852515" y="3391698"/>
            <a:ext cx="3206473" cy="315042"/>
          </a:xfrm>
          <a:prstGeom prst="rect">
            <a:avLst/>
          </a:prstGeom>
          <a:noFill/>
          <a:ln/>
        </p:spPr>
        <p:txBody>
          <a:bodyPr wrap="square" lIns="25400" tIns="25400" rIns="25400" bIns="25400" rtlCol="0" anchor="ctr">
            <a:normAutofit/>
          </a:bodyPr>
          <a:lstStyle/>
          <a:p>
            <a:pPr algn="l" indent="0" marL="0">
              <a:lnSpc>
                <a:spcPct val="108197"/>
              </a:lnSpc>
              <a:buNone/>
            </a:pPr>
            <a:r>
              <a:rPr lang="en-US" sz="1800" b="1" spc="108" kern="0" dirty="0">
                <a:solidFill>
                  <a:srgbClr val="FFFFFF"/>
                </a:solidFill>
                <a:latin typeface="Arial" pitchFamily="34" charset="0"/>
                <a:ea typeface="Arial" pitchFamily="34" charset="-122"/>
                <a:cs typeface="Arial" pitchFamily="34" charset="-120"/>
              </a:rPr>
              <a:t>VERDICT</a:t>
            </a:r>
            <a:endParaRPr lang="en-US" sz="1800" dirty="0"/>
          </a:p>
        </p:txBody>
      </p:sp>
      <p:sp>
        <p:nvSpPr>
          <p:cNvPr id="18" name="Shape 16"/>
          <p:cNvSpPr/>
          <p:nvPr/>
        </p:nvSpPr>
        <p:spPr>
          <a:xfrm>
            <a:off x="1143000" y="4246946"/>
            <a:ext cx="3794373" cy="9525"/>
          </a:xfrm>
          <a:prstGeom prst="rect">
            <a:avLst/>
          </a:prstGeom>
          <a:solidFill>
            <a:srgbClr val="102825">
              <a:alpha val="32000"/>
            </a:srgbClr>
          </a:solidFill>
          <a:ln/>
        </p:spPr>
        <p:txBody>
          <a:bodyPr/>
          <a:p/>
        </p:txBody>
      </p:sp>
      <p:sp>
        <p:nvSpPr>
          <p:cNvPr id="19" name="Text 17"/>
          <p:cNvSpPr/>
          <p:nvPr/>
        </p:nvSpPr>
        <p:spPr>
          <a:xfrm>
            <a:off x="1143000" y="3876458"/>
            <a:ext cx="3717704" cy="332387"/>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Egypt (EGX)</a:t>
            </a:r>
            <a:endParaRPr lang="en-US" sz="1800" dirty="0"/>
          </a:p>
        </p:txBody>
      </p:sp>
      <p:sp>
        <p:nvSpPr>
          <p:cNvPr id="20" name="Shape 18"/>
          <p:cNvSpPr/>
          <p:nvPr/>
        </p:nvSpPr>
        <p:spPr>
          <a:xfrm>
            <a:off x="4937373" y="4246946"/>
            <a:ext cx="1886126" cy="9525"/>
          </a:xfrm>
          <a:prstGeom prst="rect">
            <a:avLst/>
          </a:prstGeom>
          <a:solidFill>
            <a:srgbClr val="102825">
              <a:alpha val="32000"/>
            </a:srgbClr>
          </a:solidFill>
          <a:ln/>
        </p:spPr>
        <p:txBody>
          <a:bodyPr/>
          <a:p/>
        </p:txBody>
      </p:sp>
      <p:sp>
        <p:nvSpPr>
          <p:cNvPr id="21" name="Text 19"/>
          <p:cNvSpPr/>
          <p:nvPr/>
        </p:nvSpPr>
        <p:spPr>
          <a:xfrm>
            <a:off x="5127873" y="3876458"/>
            <a:ext cx="1581326" cy="332387"/>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37</a:t>
            </a:r>
            <a:endParaRPr lang="en-US" sz="1800" dirty="0"/>
          </a:p>
        </p:txBody>
      </p:sp>
      <p:sp>
        <p:nvSpPr>
          <p:cNvPr id="22" name="Shape 20"/>
          <p:cNvSpPr/>
          <p:nvPr/>
        </p:nvSpPr>
        <p:spPr>
          <a:xfrm>
            <a:off x="6823499" y="4246946"/>
            <a:ext cx="2438887" cy="9525"/>
          </a:xfrm>
          <a:prstGeom prst="rect">
            <a:avLst/>
          </a:prstGeom>
          <a:solidFill>
            <a:srgbClr val="102825">
              <a:alpha val="32000"/>
            </a:srgbClr>
          </a:solidFill>
          <a:ln/>
        </p:spPr>
        <p:txBody>
          <a:bodyPr/>
          <a:p/>
        </p:txBody>
      </p:sp>
      <p:sp>
        <p:nvSpPr>
          <p:cNvPr id="23" name="Text 21"/>
          <p:cNvSpPr/>
          <p:nvPr/>
        </p:nvSpPr>
        <p:spPr>
          <a:xfrm>
            <a:off x="7013999" y="3876458"/>
            <a:ext cx="2134087" cy="332387"/>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1,794</a:t>
            </a:r>
            <a:endParaRPr lang="en-US" sz="1800" dirty="0"/>
          </a:p>
        </p:txBody>
      </p:sp>
      <p:sp>
        <p:nvSpPr>
          <p:cNvPr id="24" name="Shape 22"/>
          <p:cNvSpPr/>
          <p:nvPr/>
        </p:nvSpPr>
        <p:spPr>
          <a:xfrm>
            <a:off x="9262386" y="4246946"/>
            <a:ext cx="1830721" cy="9525"/>
          </a:xfrm>
          <a:prstGeom prst="rect">
            <a:avLst/>
          </a:prstGeom>
          <a:solidFill>
            <a:srgbClr val="102825">
              <a:alpha val="32000"/>
            </a:srgbClr>
          </a:solidFill>
          <a:ln/>
        </p:spPr>
        <p:txBody>
          <a:bodyPr/>
          <a:p/>
        </p:txBody>
      </p:sp>
      <p:sp>
        <p:nvSpPr>
          <p:cNvPr id="25" name="Text 23"/>
          <p:cNvSpPr/>
          <p:nvPr/>
        </p:nvSpPr>
        <p:spPr>
          <a:xfrm>
            <a:off x="9452886" y="3876458"/>
            <a:ext cx="1525921" cy="332387"/>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1,665</a:t>
            </a:r>
            <a:endParaRPr lang="en-US" sz="1800" dirty="0"/>
          </a:p>
        </p:txBody>
      </p:sp>
      <p:sp>
        <p:nvSpPr>
          <p:cNvPr id="26" name="Shape 24"/>
          <p:cNvSpPr/>
          <p:nvPr/>
        </p:nvSpPr>
        <p:spPr>
          <a:xfrm>
            <a:off x="11093107" y="4246946"/>
            <a:ext cx="2568909" cy="9525"/>
          </a:xfrm>
          <a:prstGeom prst="rect">
            <a:avLst/>
          </a:prstGeom>
          <a:solidFill>
            <a:srgbClr val="102825">
              <a:alpha val="32000"/>
            </a:srgbClr>
          </a:solidFill>
          <a:ln/>
        </p:spPr>
        <p:txBody>
          <a:bodyPr/>
          <a:p/>
        </p:txBody>
      </p:sp>
      <p:sp>
        <p:nvSpPr>
          <p:cNvPr id="27" name="Text 25"/>
          <p:cNvSpPr/>
          <p:nvPr/>
        </p:nvSpPr>
        <p:spPr>
          <a:xfrm>
            <a:off x="11283607" y="3876458"/>
            <a:ext cx="2264976" cy="332387"/>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7.2%</a:t>
            </a:r>
            <a:endParaRPr lang="en-US" sz="1800" dirty="0"/>
          </a:p>
        </p:txBody>
      </p:sp>
      <p:sp>
        <p:nvSpPr>
          <p:cNvPr id="28" name="Shape 26"/>
          <p:cNvSpPr/>
          <p:nvPr/>
        </p:nvSpPr>
        <p:spPr>
          <a:xfrm>
            <a:off x="13662015" y="4246946"/>
            <a:ext cx="3482984" cy="9525"/>
          </a:xfrm>
          <a:prstGeom prst="rect">
            <a:avLst/>
          </a:prstGeom>
          <a:solidFill>
            <a:srgbClr val="102825">
              <a:alpha val="32000"/>
            </a:srgbClr>
          </a:solidFill>
          <a:ln/>
        </p:spPr>
        <p:txBody>
          <a:bodyPr/>
          <a:p/>
        </p:txBody>
      </p:sp>
      <p:sp>
        <p:nvSpPr>
          <p:cNvPr id="29" name="Text 27"/>
          <p:cNvSpPr/>
          <p:nvPr/>
        </p:nvSpPr>
        <p:spPr>
          <a:xfrm>
            <a:off x="13852515" y="3876458"/>
            <a:ext cx="3396973" cy="332387"/>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PARITY </a:t>
            </a:r>
            <a:pPr algn="l" indent="0" marL="0">
              <a:lnSpc>
                <a:spcPct val="108197"/>
              </a:lnSpc>
              <a:buNone/>
            </a:pPr>
            <a:r>
              <a:rPr lang="en-US" sz="1800" dirty="0">
                <a:solidFill>
                  <a:srgbClr val="5B7270"/>
                </a:solidFill>
                <a:latin typeface="Arial" pitchFamily="34" charset="0"/>
                <a:ea typeface="Arial" pitchFamily="34" charset="-122"/>
                <a:cs typeface="Arial" pitchFamily="34" charset="-120"/>
              </a:rPr>
              <a:t>— calibrated</a:t>
            </a:r>
            <a:endParaRPr lang="en-US" sz="1800" dirty="0"/>
          </a:p>
        </p:txBody>
      </p:sp>
      <p:sp>
        <p:nvSpPr>
          <p:cNvPr id="30" name="Shape 28"/>
          <p:cNvSpPr/>
          <p:nvPr/>
        </p:nvSpPr>
        <p:spPr>
          <a:xfrm>
            <a:off x="1143000" y="4697963"/>
            <a:ext cx="3794373" cy="9525"/>
          </a:xfrm>
          <a:prstGeom prst="rect">
            <a:avLst/>
          </a:prstGeom>
          <a:solidFill>
            <a:srgbClr val="102825">
              <a:alpha val="32000"/>
            </a:srgbClr>
          </a:solidFill>
          <a:ln/>
        </p:spPr>
        <p:txBody>
          <a:bodyPr/>
          <a:p/>
        </p:txBody>
      </p:sp>
      <p:sp>
        <p:nvSpPr>
          <p:cNvPr id="31" name="Text 29"/>
          <p:cNvSpPr/>
          <p:nvPr/>
        </p:nvSpPr>
        <p:spPr>
          <a:xfrm>
            <a:off x="1143000" y="4331805"/>
            <a:ext cx="3717704"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UAE (ADX + DFM)</a:t>
            </a:r>
            <a:endParaRPr lang="en-US" sz="1800" dirty="0"/>
          </a:p>
        </p:txBody>
      </p:sp>
      <p:sp>
        <p:nvSpPr>
          <p:cNvPr id="32" name="Shape 30"/>
          <p:cNvSpPr/>
          <p:nvPr/>
        </p:nvSpPr>
        <p:spPr>
          <a:xfrm>
            <a:off x="4937373" y="4697963"/>
            <a:ext cx="1886126" cy="9525"/>
          </a:xfrm>
          <a:prstGeom prst="rect">
            <a:avLst/>
          </a:prstGeom>
          <a:solidFill>
            <a:srgbClr val="102825">
              <a:alpha val="32000"/>
            </a:srgbClr>
          </a:solidFill>
          <a:ln/>
        </p:spPr>
        <p:txBody>
          <a:bodyPr/>
          <a:p/>
        </p:txBody>
      </p:sp>
      <p:sp>
        <p:nvSpPr>
          <p:cNvPr id="33" name="Text 31"/>
          <p:cNvSpPr/>
          <p:nvPr/>
        </p:nvSpPr>
        <p:spPr>
          <a:xfrm>
            <a:off x="5127873" y="4331805"/>
            <a:ext cx="158132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28</a:t>
            </a:r>
            <a:endParaRPr lang="en-US" sz="1800" dirty="0"/>
          </a:p>
        </p:txBody>
      </p:sp>
      <p:sp>
        <p:nvSpPr>
          <p:cNvPr id="34" name="Shape 32"/>
          <p:cNvSpPr/>
          <p:nvPr/>
        </p:nvSpPr>
        <p:spPr>
          <a:xfrm>
            <a:off x="6823499" y="4697963"/>
            <a:ext cx="2438887" cy="9525"/>
          </a:xfrm>
          <a:prstGeom prst="rect">
            <a:avLst/>
          </a:prstGeom>
          <a:solidFill>
            <a:srgbClr val="102825">
              <a:alpha val="32000"/>
            </a:srgbClr>
          </a:solidFill>
          <a:ln/>
        </p:spPr>
        <p:txBody>
          <a:bodyPr/>
          <a:p/>
        </p:txBody>
      </p:sp>
      <p:sp>
        <p:nvSpPr>
          <p:cNvPr id="35" name="Text 33"/>
          <p:cNvSpPr/>
          <p:nvPr/>
        </p:nvSpPr>
        <p:spPr>
          <a:xfrm>
            <a:off x="7013999" y="4331805"/>
            <a:ext cx="2134087"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910</a:t>
            </a:r>
            <a:endParaRPr lang="en-US" sz="1800" dirty="0"/>
          </a:p>
        </p:txBody>
      </p:sp>
      <p:sp>
        <p:nvSpPr>
          <p:cNvPr id="36" name="Shape 34"/>
          <p:cNvSpPr/>
          <p:nvPr/>
        </p:nvSpPr>
        <p:spPr>
          <a:xfrm>
            <a:off x="9262386" y="4697963"/>
            <a:ext cx="1830721" cy="9525"/>
          </a:xfrm>
          <a:prstGeom prst="rect">
            <a:avLst/>
          </a:prstGeom>
          <a:solidFill>
            <a:srgbClr val="102825">
              <a:alpha val="32000"/>
            </a:srgbClr>
          </a:solidFill>
          <a:ln/>
        </p:spPr>
        <p:txBody>
          <a:bodyPr/>
          <a:p/>
        </p:txBody>
      </p:sp>
      <p:sp>
        <p:nvSpPr>
          <p:cNvPr id="37" name="Text 35"/>
          <p:cNvSpPr/>
          <p:nvPr/>
        </p:nvSpPr>
        <p:spPr>
          <a:xfrm>
            <a:off x="9452886" y="4331805"/>
            <a:ext cx="1525921"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823</a:t>
            </a:r>
            <a:endParaRPr lang="en-US" sz="1800" dirty="0"/>
          </a:p>
        </p:txBody>
      </p:sp>
      <p:sp>
        <p:nvSpPr>
          <p:cNvPr id="38" name="Shape 36"/>
          <p:cNvSpPr/>
          <p:nvPr/>
        </p:nvSpPr>
        <p:spPr>
          <a:xfrm>
            <a:off x="11093107" y="4697963"/>
            <a:ext cx="2568909" cy="9525"/>
          </a:xfrm>
          <a:prstGeom prst="rect">
            <a:avLst/>
          </a:prstGeom>
          <a:solidFill>
            <a:srgbClr val="102825">
              <a:alpha val="32000"/>
            </a:srgbClr>
          </a:solidFill>
          <a:ln/>
        </p:spPr>
        <p:txBody>
          <a:bodyPr/>
          <a:p/>
        </p:txBody>
      </p:sp>
      <p:sp>
        <p:nvSpPr>
          <p:cNvPr id="39" name="Text 37"/>
          <p:cNvSpPr/>
          <p:nvPr/>
        </p:nvSpPr>
        <p:spPr>
          <a:xfrm>
            <a:off x="11283607" y="4331805"/>
            <a:ext cx="226497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9.6%</a:t>
            </a:r>
            <a:endParaRPr lang="en-US" sz="1800" dirty="0"/>
          </a:p>
        </p:txBody>
      </p:sp>
      <p:sp>
        <p:nvSpPr>
          <p:cNvPr id="40" name="Shape 38"/>
          <p:cNvSpPr/>
          <p:nvPr/>
        </p:nvSpPr>
        <p:spPr>
          <a:xfrm>
            <a:off x="13662015" y="4697963"/>
            <a:ext cx="3482984" cy="9525"/>
          </a:xfrm>
          <a:prstGeom prst="rect">
            <a:avLst/>
          </a:prstGeom>
          <a:solidFill>
            <a:srgbClr val="102825">
              <a:alpha val="32000"/>
            </a:srgbClr>
          </a:solidFill>
          <a:ln/>
        </p:spPr>
        <p:txBody>
          <a:bodyPr/>
          <a:p/>
        </p:txBody>
      </p:sp>
      <p:sp>
        <p:nvSpPr>
          <p:cNvPr id="41" name="Text 39"/>
          <p:cNvSpPr/>
          <p:nvPr/>
        </p:nvSpPr>
        <p:spPr>
          <a:xfrm>
            <a:off x="13852515" y="4331805"/>
            <a:ext cx="3396973"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PASS </a:t>
            </a:r>
            <a:pPr algn="l" indent="0" marL="0">
              <a:lnSpc>
                <a:spcPct val="108197"/>
              </a:lnSpc>
              <a:buNone/>
            </a:pPr>
            <a:r>
              <a:rPr lang="en-US" sz="1800" dirty="0">
                <a:solidFill>
                  <a:srgbClr val="5B7270"/>
                </a:solidFill>
                <a:latin typeface="Arial" pitchFamily="34" charset="0"/>
                <a:ea typeface="Arial" pitchFamily="34" charset="-122"/>
                <a:cs typeface="Arial" pitchFamily="34" charset="-120"/>
              </a:rPr>
              <a:t>— edge proven</a:t>
            </a:r>
            <a:endParaRPr lang="en-US" sz="1800" dirty="0"/>
          </a:p>
        </p:txBody>
      </p:sp>
      <p:sp>
        <p:nvSpPr>
          <p:cNvPr id="42" name="Shape 40"/>
          <p:cNvSpPr/>
          <p:nvPr/>
        </p:nvSpPr>
        <p:spPr>
          <a:xfrm>
            <a:off x="1143000" y="5148979"/>
            <a:ext cx="3794373" cy="9525"/>
          </a:xfrm>
          <a:prstGeom prst="rect">
            <a:avLst/>
          </a:prstGeom>
          <a:solidFill>
            <a:srgbClr val="102825">
              <a:alpha val="32000"/>
            </a:srgbClr>
          </a:solidFill>
          <a:ln/>
        </p:spPr>
        <p:txBody>
          <a:bodyPr/>
          <a:p/>
        </p:txBody>
      </p:sp>
      <p:sp>
        <p:nvSpPr>
          <p:cNvPr id="43" name="Text 41"/>
          <p:cNvSpPr/>
          <p:nvPr/>
        </p:nvSpPr>
        <p:spPr>
          <a:xfrm>
            <a:off x="1143000" y="4782822"/>
            <a:ext cx="3717704"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Saudi Arabia (Tadawul)</a:t>
            </a:r>
            <a:endParaRPr lang="en-US" sz="1800" dirty="0"/>
          </a:p>
        </p:txBody>
      </p:sp>
      <p:sp>
        <p:nvSpPr>
          <p:cNvPr id="44" name="Shape 42"/>
          <p:cNvSpPr/>
          <p:nvPr/>
        </p:nvSpPr>
        <p:spPr>
          <a:xfrm>
            <a:off x="4937373" y="5148979"/>
            <a:ext cx="1886126" cy="9525"/>
          </a:xfrm>
          <a:prstGeom prst="rect">
            <a:avLst/>
          </a:prstGeom>
          <a:solidFill>
            <a:srgbClr val="102825">
              <a:alpha val="32000"/>
            </a:srgbClr>
          </a:solidFill>
          <a:ln/>
        </p:spPr>
        <p:txBody>
          <a:bodyPr/>
          <a:p/>
        </p:txBody>
      </p:sp>
      <p:sp>
        <p:nvSpPr>
          <p:cNvPr id="45" name="Text 43"/>
          <p:cNvSpPr/>
          <p:nvPr/>
        </p:nvSpPr>
        <p:spPr>
          <a:xfrm>
            <a:off x="5127873" y="4782822"/>
            <a:ext cx="158132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13</a:t>
            </a:r>
            <a:endParaRPr lang="en-US" sz="1800" dirty="0"/>
          </a:p>
        </p:txBody>
      </p:sp>
      <p:sp>
        <p:nvSpPr>
          <p:cNvPr id="46" name="Shape 44"/>
          <p:cNvSpPr/>
          <p:nvPr/>
        </p:nvSpPr>
        <p:spPr>
          <a:xfrm>
            <a:off x="6823499" y="5148979"/>
            <a:ext cx="2438887" cy="9525"/>
          </a:xfrm>
          <a:prstGeom prst="rect">
            <a:avLst/>
          </a:prstGeom>
          <a:solidFill>
            <a:srgbClr val="102825">
              <a:alpha val="32000"/>
            </a:srgbClr>
          </a:solidFill>
          <a:ln/>
        </p:spPr>
        <p:txBody>
          <a:bodyPr/>
          <a:p/>
        </p:txBody>
      </p:sp>
      <p:sp>
        <p:nvSpPr>
          <p:cNvPr id="47" name="Text 45"/>
          <p:cNvSpPr/>
          <p:nvPr/>
        </p:nvSpPr>
        <p:spPr>
          <a:xfrm>
            <a:off x="7013999" y="4782822"/>
            <a:ext cx="2134087"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554</a:t>
            </a:r>
            <a:endParaRPr lang="en-US" sz="1800" dirty="0"/>
          </a:p>
        </p:txBody>
      </p:sp>
      <p:sp>
        <p:nvSpPr>
          <p:cNvPr id="48" name="Shape 46"/>
          <p:cNvSpPr/>
          <p:nvPr/>
        </p:nvSpPr>
        <p:spPr>
          <a:xfrm>
            <a:off x="9262386" y="5148979"/>
            <a:ext cx="1830721" cy="9525"/>
          </a:xfrm>
          <a:prstGeom prst="rect">
            <a:avLst/>
          </a:prstGeom>
          <a:solidFill>
            <a:srgbClr val="102825">
              <a:alpha val="32000"/>
            </a:srgbClr>
          </a:solidFill>
          <a:ln/>
        </p:spPr>
        <p:txBody>
          <a:bodyPr/>
          <a:p/>
        </p:txBody>
      </p:sp>
      <p:sp>
        <p:nvSpPr>
          <p:cNvPr id="49" name="Text 47"/>
          <p:cNvSpPr/>
          <p:nvPr/>
        </p:nvSpPr>
        <p:spPr>
          <a:xfrm>
            <a:off x="9452886" y="4782822"/>
            <a:ext cx="1525921"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482</a:t>
            </a:r>
            <a:endParaRPr lang="en-US" sz="1800" dirty="0"/>
          </a:p>
        </p:txBody>
      </p:sp>
      <p:sp>
        <p:nvSpPr>
          <p:cNvPr id="50" name="Shape 48"/>
          <p:cNvSpPr/>
          <p:nvPr/>
        </p:nvSpPr>
        <p:spPr>
          <a:xfrm>
            <a:off x="11093107" y="5148979"/>
            <a:ext cx="2568909" cy="9525"/>
          </a:xfrm>
          <a:prstGeom prst="rect">
            <a:avLst/>
          </a:prstGeom>
          <a:solidFill>
            <a:srgbClr val="102825">
              <a:alpha val="32000"/>
            </a:srgbClr>
          </a:solidFill>
          <a:ln/>
        </p:spPr>
        <p:txBody>
          <a:bodyPr/>
          <a:p/>
        </p:txBody>
      </p:sp>
      <p:sp>
        <p:nvSpPr>
          <p:cNvPr id="51" name="Text 49"/>
          <p:cNvSpPr/>
          <p:nvPr/>
        </p:nvSpPr>
        <p:spPr>
          <a:xfrm>
            <a:off x="11283607" y="4782822"/>
            <a:ext cx="226497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13.0%</a:t>
            </a:r>
            <a:endParaRPr lang="en-US" sz="1800" dirty="0"/>
          </a:p>
        </p:txBody>
      </p:sp>
      <p:sp>
        <p:nvSpPr>
          <p:cNvPr id="52" name="Shape 50"/>
          <p:cNvSpPr/>
          <p:nvPr/>
        </p:nvSpPr>
        <p:spPr>
          <a:xfrm>
            <a:off x="13662015" y="5148979"/>
            <a:ext cx="3482984" cy="9525"/>
          </a:xfrm>
          <a:prstGeom prst="rect">
            <a:avLst/>
          </a:prstGeom>
          <a:solidFill>
            <a:srgbClr val="102825">
              <a:alpha val="32000"/>
            </a:srgbClr>
          </a:solidFill>
          <a:ln/>
        </p:spPr>
        <p:txBody>
          <a:bodyPr/>
          <a:p/>
        </p:txBody>
      </p:sp>
      <p:sp>
        <p:nvSpPr>
          <p:cNvPr id="53" name="Text 51"/>
          <p:cNvSpPr/>
          <p:nvPr/>
        </p:nvSpPr>
        <p:spPr>
          <a:xfrm>
            <a:off x="13852515" y="4782822"/>
            <a:ext cx="3396973"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PARITY </a:t>
            </a:r>
            <a:pPr algn="l" indent="0" marL="0">
              <a:lnSpc>
                <a:spcPct val="108197"/>
              </a:lnSpc>
              <a:buNone/>
            </a:pPr>
            <a:r>
              <a:rPr lang="en-US" sz="1800" dirty="0">
                <a:solidFill>
                  <a:srgbClr val="5B7270"/>
                </a:solidFill>
                <a:latin typeface="Arial" pitchFamily="34" charset="0"/>
                <a:ea typeface="Arial" pitchFamily="34" charset="-122"/>
                <a:cs typeface="Arial" pitchFamily="34" charset="-120"/>
              </a:rPr>
              <a:t>— calibrated</a:t>
            </a:r>
            <a:endParaRPr lang="en-US" sz="1800" dirty="0"/>
          </a:p>
        </p:txBody>
      </p:sp>
      <p:sp>
        <p:nvSpPr>
          <p:cNvPr id="54" name="Shape 52"/>
          <p:cNvSpPr/>
          <p:nvPr/>
        </p:nvSpPr>
        <p:spPr>
          <a:xfrm>
            <a:off x="1143000" y="5599996"/>
            <a:ext cx="3794373" cy="9525"/>
          </a:xfrm>
          <a:prstGeom prst="rect">
            <a:avLst/>
          </a:prstGeom>
          <a:solidFill>
            <a:srgbClr val="102825">
              <a:alpha val="32000"/>
            </a:srgbClr>
          </a:solidFill>
          <a:ln/>
        </p:spPr>
        <p:txBody>
          <a:bodyPr/>
          <a:p/>
        </p:txBody>
      </p:sp>
      <p:sp>
        <p:nvSpPr>
          <p:cNvPr id="55" name="Text 53"/>
          <p:cNvSpPr/>
          <p:nvPr/>
        </p:nvSpPr>
        <p:spPr>
          <a:xfrm>
            <a:off x="1143000" y="5233839"/>
            <a:ext cx="3717704"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USA (NASDAQ)</a:t>
            </a:r>
            <a:endParaRPr lang="en-US" sz="1800" dirty="0"/>
          </a:p>
        </p:txBody>
      </p:sp>
      <p:sp>
        <p:nvSpPr>
          <p:cNvPr id="56" name="Shape 54"/>
          <p:cNvSpPr/>
          <p:nvPr/>
        </p:nvSpPr>
        <p:spPr>
          <a:xfrm>
            <a:off x="4937373" y="5599996"/>
            <a:ext cx="1886126" cy="9525"/>
          </a:xfrm>
          <a:prstGeom prst="rect">
            <a:avLst/>
          </a:prstGeom>
          <a:solidFill>
            <a:srgbClr val="102825">
              <a:alpha val="32000"/>
            </a:srgbClr>
          </a:solidFill>
          <a:ln/>
        </p:spPr>
        <p:txBody>
          <a:bodyPr/>
          <a:p/>
        </p:txBody>
      </p:sp>
      <p:sp>
        <p:nvSpPr>
          <p:cNvPr id="57" name="Text 55"/>
          <p:cNvSpPr/>
          <p:nvPr/>
        </p:nvSpPr>
        <p:spPr>
          <a:xfrm>
            <a:off x="5127873" y="5233839"/>
            <a:ext cx="158132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3</a:t>
            </a:r>
            <a:endParaRPr lang="en-US" sz="1800" dirty="0"/>
          </a:p>
        </p:txBody>
      </p:sp>
      <p:sp>
        <p:nvSpPr>
          <p:cNvPr id="58" name="Shape 56"/>
          <p:cNvSpPr/>
          <p:nvPr/>
        </p:nvSpPr>
        <p:spPr>
          <a:xfrm>
            <a:off x="6823499" y="5599996"/>
            <a:ext cx="2438887" cy="9525"/>
          </a:xfrm>
          <a:prstGeom prst="rect">
            <a:avLst/>
          </a:prstGeom>
          <a:solidFill>
            <a:srgbClr val="102825">
              <a:alpha val="32000"/>
            </a:srgbClr>
          </a:solidFill>
          <a:ln/>
        </p:spPr>
        <p:txBody>
          <a:bodyPr/>
          <a:p/>
        </p:txBody>
      </p:sp>
      <p:sp>
        <p:nvSpPr>
          <p:cNvPr id="59" name="Text 57"/>
          <p:cNvSpPr/>
          <p:nvPr/>
        </p:nvSpPr>
        <p:spPr>
          <a:xfrm>
            <a:off x="7013999" y="5233839"/>
            <a:ext cx="2134087"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174</a:t>
            </a:r>
            <a:endParaRPr lang="en-US" sz="1800" dirty="0"/>
          </a:p>
        </p:txBody>
      </p:sp>
      <p:sp>
        <p:nvSpPr>
          <p:cNvPr id="60" name="Shape 58"/>
          <p:cNvSpPr/>
          <p:nvPr/>
        </p:nvSpPr>
        <p:spPr>
          <a:xfrm>
            <a:off x="9262386" y="5599996"/>
            <a:ext cx="1830721" cy="9525"/>
          </a:xfrm>
          <a:prstGeom prst="rect">
            <a:avLst/>
          </a:prstGeom>
          <a:solidFill>
            <a:srgbClr val="102825">
              <a:alpha val="32000"/>
            </a:srgbClr>
          </a:solidFill>
          <a:ln/>
        </p:spPr>
        <p:txBody>
          <a:bodyPr/>
          <a:p/>
        </p:txBody>
      </p:sp>
      <p:sp>
        <p:nvSpPr>
          <p:cNvPr id="61" name="Text 59"/>
          <p:cNvSpPr/>
          <p:nvPr/>
        </p:nvSpPr>
        <p:spPr>
          <a:xfrm>
            <a:off x="9452886" y="5233839"/>
            <a:ext cx="1525921"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149</a:t>
            </a:r>
            <a:endParaRPr lang="en-US" sz="1800" dirty="0"/>
          </a:p>
        </p:txBody>
      </p:sp>
      <p:sp>
        <p:nvSpPr>
          <p:cNvPr id="62" name="Shape 60"/>
          <p:cNvSpPr/>
          <p:nvPr/>
        </p:nvSpPr>
        <p:spPr>
          <a:xfrm>
            <a:off x="11093107" y="5599996"/>
            <a:ext cx="2568909" cy="9525"/>
          </a:xfrm>
          <a:prstGeom prst="rect">
            <a:avLst/>
          </a:prstGeom>
          <a:solidFill>
            <a:srgbClr val="102825">
              <a:alpha val="32000"/>
            </a:srgbClr>
          </a:solidFill>
          <a:ln/>
        </p:spPr>
        <p:txBody>
          <a:bodyPr/>
          <a:p/>
        </p:txBody>
      </p:sp>
      <p:sp>
        <p:nvSpPr>
          <p:cNvPr id="63" name="Text 61"/>
          <p:cNvSpPr/>
          <p:nvPr/>
        </p:nvSpPr>
        <p:spPr>
          <a:xfrm>
            <a:off x="11283607" y="5233839"/>
            <a:ext cx="226497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14.4%</a:t>
            </a:r>
            <a:endParaRPr lang="en-US" sz="1800" dirty="0"/>
          </a:p>
        </p:txBody>
      </p:sp>
      <p:sp>
        <p:nvSpPr>
          <p:cNvPr id="64" name="Shape 62"/>
          <p:cNvSpPr/>
          <p:nvPr/>
        </p:nvSpPr>
        <p:spPr>
          <a:xfrm>
            <a:off x="13662015" y="5599996"/>
            <a:ext cx="3482984" cy="9525"/>
          </a:xfrm>
          <a:prstGeom prst="rect">
            <a:avLst/>
          </a:prstGeom>
          <a:solidFill>
            <a:srgbClr val="102825">
              <a:alpha val="32000"/>
            </a:srgbClr>
          </a:solidFill>
          <a:ln/>
        </p:spPr>
        <p:txBody>
          <a:bodyPr/>
          <a:p/>
        </p:txBody>
      </p:sp>
      <p:sp>
        <p:nvSpPr>
          <p:cNvPr id="65" name="Text 63"/>
          <p:cNvSpPr/>
          <p:nvPr/>
        </p:nvSpPr>
        <p:spPr>
          <a:xfrm>
            <a:off x="13852515" y="5233839"/>
            <a:ext cx="3396973"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PARITY </a:t>
            </a:r>
            <a:pPr algn="l" indent="0" marL="0">
              <a:lnSpc>
                <a:spcPct val="108197"/>
              </a:lnSpc>
              <a:buNone/>
            </a:pPr>
            <a:r>
              <a:rPr lang="en-US" sz="1800" dirty="0">
                <a:solidFill>
                  <a:srgbClr val="5B7270"/>
                </a:solidFill>
                <a:latin typeface="Arial" pitchFamily="34" charset="0"/>
                <a:ea typeface="Arial" pitchFamily="34" charset="-122"/>
                <a:cs typeface="Arial" pitchFamily="34" charset="-120"/>
              </a:rPr>
              <a:t>— calibrated</a:t>
            </a:r>
            <a:endParaRPr lang="en-US" sz="1800" dirty="0"/>
          </a:p>
        </p:txBody>
      </p:sp>
      <p:sp>
        <p:nvSpPr>
          <p:cNvPr id="66" name="Shape 64"/>
          <p:cNvSpPr/>
          <p:nvPr/>
        </p:nvSpPr>
        <p:spPr>
          <a:xfrm>
            <a:off x="1143000" y="6051013"/>
            <a:ext cx="3794373" cy="9525"/>
          </a:xfrm>
          <a:prstGeom prst="rect">
            <a:avLst/>
          </a:prstGeom>
          <a:solidFill>
            <a:srgbClr val="102825">
              <a:alpha val="32000"/>
            </a:srgbClr>
          </a:solidFill>
          <a:ln/>
        </p:spPr>
        <p:txBody>
          <a:bodyPr/>
          <a:p/>
        </p:txBody>
      </p:sp>
      <p:sp>
        <p:nvSpPr>
          <p:cNvPr id="67" name="Text 65"/>
          <p:cNvSpPr/>
          <p:nvPr/>
        </p:nvSpPr>
        <p:spPr>
          <a:xfrm>
            <a:off x="1143000" y="5684855"/>
            <a:ext cx="3717704"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India (NSE)</a:t>
            </a:r>
            <a:endParaRPr lang="en-US" sz="1800" dirty="0"/>
          </a:p>
        </p:txBody>
      </p:sp>
      <p:sp>
        <p:nvSpPr>
          <p:cNvPr id="68" name="Shape 66"/>
          <p:cNvSpPr/>
          <p:nvPr/>
        </p:nvSpPr>
        <p:spPr>
          <a:xfrm>
            <a:off x="4937373" y="6051013"/>
            <a:ext cx="1886126" cy="9525"/>
          </a:xfrm>
          <a:prstGeom prst="rect">
            <a:avLst/>
          </a:prstGeom>
          <a:solidFill>
            <a:srgbClr val="102825">
              <a:alpha val="32000"/>
            </a:srgbClr>
          </a:solidFill>
          <a:ln/>
        </p:spPr>
        <p:txBody>
          <a:bodyPr/>
          <a:p/>
        </p:txBody>
      </p:sp>
      <p:sp>
        <p:nvSpPr>
          <p:cNvPr id="69" name="Text 67"/>
          <p:cNvSpPr/>
          <p:nvPr/>
        </p:nvSpPr>
        <p:spPr>
          <a:xfrm>
            <a:off x="5127873" y="5684855"/>
            <a:ext cx="158132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3</a:t>
            </a:r>
            <a:endParaRPr lang="en-US" sz="1800" dirty="0"/>
          </a:p>
        </p:txBody>
      </p:sp>
      <p:sp>
        <p:nvSpPr>
          <p:cNvPr id="70" name="Shape 68"/>
          <p:cNvSpPr/>
          <p:nvPr/>
        </p:nvSpPr>
        <p:spPr>
          <a:xfrm>
            <a:off x="6823499" y="6051013"/>
            <a:ext cx="2438887" cy="9525"/>
          </a:xfrm>
          <a:prstGeom prst="rect">
            <a:avLst/>
          </a:prstGeom>
          <a:solidFill>
            <a:srgbClr val="102825">
              <a:alpha val="32000"/>
            </a:srgbClr>
          </a:solidFill>
          <a:ln/>
        </p:spPr>
        <p:txBody>
          <a:bodyPr/>
          <a:p/>
        </p:txBody>
      </p:sp>
      <p:sp>
        <p:nvSpPr>
          <p:cNvPr id="71" name="Text 69"/>
          <p:cNvSpPr/>
          <p:nvPr/>
        </p:nvSpPr>
        <p:spPr>
          <a:xfrm>
            <a:off x="7013999" y="5684855"/>
            <a:ext cx="2134087"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172</a:t>
            </a:r>
            <a:endParaRPr lang="en-US" sz="1800" dirty="0"/>
          </a:p>
        </p:txBody>
      </p:sp>
      <p:sp>
        <p:nvSpPr>
          <p:cNvPr id="72" name="Shape 70"/>
          <p:cNvSpPr/>
          <p:nvPr/>
        </p:nvSpPr>
        <p:spPr>
          <a:xfrm>
            <a:off x="9262386" y="6051013"/>
            <a:ext cx="1830721" cy="9525"/>
          </a:xfrm>
          <a:prstGeom prst="rect">
            <a:avLst/>
          </a:prstGeom>
          <a:solidFill>
            <a:srgbClr val="102825">
              <a:alpha val="32000"/>
            </a:srgbClr>
          </a:solidFill>
          <a:ln/>
        </p:spPr>
        <p:txBody>
          <a:bodyPr/>
          <a:p/>
        </p:txBody>
      </p:sp>
      <p:sp>
        <p:nvSpPr>
          <p:cNvPr id="73" name="Text 71"/>
          <p:cNvSpPr/>
          <p:nvPr/>
        </p:nvSpPr>
        <p:spPr>
          <a:xfrm>
            <a:off x="9452886" y="5684855"/>
            <a:ext cx="1525921"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151</a:t>
            </a:r>
            <a:endParaRPr lang="en-US" sz="1800" dirty="0"/>
          </a:p>
        </p:txBody>
      </p:sp>
      <p:sp>
        <p:nvSpPr>
          <p:cNvPr id="74" name="Shape 72"/>
          <p:cNvSpPr/>
          <p:nvPr/>
        </p:nvSpPr>
        <p:spPr>
          <a:xfrm>
            <a:off x="11093107" y="6051013"/>
            <a:ext cx="2568909" cy="9525"/>
          </a:xfrm>
          <a:prstGeom prst="rect">
            <a:avLst/>
          </a:prstGeom>
          <a:solidFill>
            <a:srgbClr val="102825">
              <a:alpha val="32000"/>
            </a:srgbClr>
          </a:solidFill>
          <a:ln/>
        </p:spPr>
        <p:txBody>
          <a:bodyPr/>
          <a:p/>
        </p:txBody>
      </p:sp>
      <p:sp>
        <p:nvSpPr>
          <p:cNvPr id="75" name="Text 73"/>
          <p:cNvSpPr/>
          <p:nvPr/>
        </p:nvSpPr>
        <p:spPr>
          <a:xfrm>
            <a:off x="11283607" y="5684855"/>
            <a:ext cx="226497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12.2%</a:t>
            </a:r>
            <a:endParaRPr lang="en-US" sz="1800" dirty="0"/>
          </a:p>
        </p:txBody>
      </p:sp>
      <p:sp>
        <p:nvSpPr>
          <p:cNvPr id="76" name="Shape 74"/>
          <p:cNvSpPr/>
          <p:nvPr/>
        </p:nvSpPr>
        <p:spPr>
          <a:xfrm>
            <a:off x="13662015" y="6051013"/>
            <a:ext cx="3482984" cy="9525"/>
          </a:xfrm>
          <a:prstGeom prst="rect">
            <a:avLst/>
          </a:prstGeom>
          <a:solidFill>
            <a:srgbClr val="102825">
              <a:alpha val="32000"/>
            </a:srgbClr>
          </a:solidFill>
          <a:ln/>
        </p:spPr>
        <p:txBody>
          <a:bodyPr/>
          <a:p/>
        </p:txBody>
      </p:sp>
      <p:sp>
        <p:nvSpPr>
          <p:cNvPr id="77" name="Text 75"/>
          <p:cNvSpPr/>
          <p:nvPr/>
        </p:nvSpPr>
        <p:spPr>
          <a:xfrm>
            <a:off x="13852515" y="5684855"/>
            <a:ext cx="3396973"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PARITY </a:t>
            </a:r>
            <a:pPr algn="l" indent="0" marL="0">
              <a:lnSpc>
                <a:spcPct val="108197"/>
              </a:lnSpc>
              <a:buNone/>
            </a:pPr>
            <a:r>
              <a:rPr lang="en-US" sz="1800" dirty="0">
                <a:solidFill>
                  <a:srgbClr val="5B7270"/>
                </a:solidFill>
                <a:latin typeface="Arial" pitchFamily="34" charset="0"/>
                <a:ea typeface="Arial" pitchFamily="34" charset="-122"/>
                <a:cs typeface="Arial" pitchFamily="34" charset="-120"/>
              </a:rPr>
              <a:t>— calibrated</a:t>
            </a:r>
            <a:endParaRPr lang="en-US" sz="1800" dirty="0"/>
          </a:p>
        </p:txBody>
      </p:sp>
      <p:sp>
        <p:nvSpPr>
          <p:cNvPr id="78" name="Shape 76"/>
          <p:cNvSpPr/>
          <p:nvPr/>
        </p:nvSpPr>
        <p:spPr>
          <a:xfrm>
            <a:off x="1143000" y="6502030"/>
            <a:ext cx="3794373" cy="9525"/>
          </a:xfrm>
          <a:prstGeom prst="rect">
            <a:avLst/>
          </a:prstGeom>
          <a:solidFill>
            <a:srgbClr val="102825">
              <a:alpha val="32000"/>
            </a:srgbClr>
          </a:solidFill>
          <a:ln/>
        </p:spPr>
        <p:txBody>
          <a:bodyPr/>
          <a:p/>
        </p:txBody>
      </p:sp>
      <p:sp>
        <p:nvSpPr>
          <p:cNvPr id="79" name="Text 77"/>
          <p:cNvSpPr/>
          <p:nvPr/>
        </p:nvSpPr>
        <p:spPr>
          <a:xfrm>
            <a:off x="1143000" y="6135872"/>
            <a:ext cx="3717704"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Korea (KRX)</a:t>
            </a:r>
            <a:endParaRPr lang="en-US" sz="1800" dirty="0"/>
          </a:p>
        </p:txBody>
      </p:sp>
      <p:sp>
        <p:nvSpPr>
          <p:cNvPr id="80" name="Shape 78"/>
          <p:cNvSpPr/>
          <p:nvPr/>
        </p:nvSpPr>
        <p:spPr>
          <a:xfrm>
            <a:off x="4937373" y="6502030"/>
            <a:ext cx="1886126" cy="9525"/>
          </a:xfrm>
          <a:prstGeom prst="rect">
            <a:avLst/>
          </a:prstGeom>
          <a:solidFill>
            <a:srgbClr val="102825">
              <a:alpha val="32000"/>
            </a:srgbClr>
          </a:solidFill>
          <a:ln/>
        </p:spPr>
        <p:txBody>
          <a:bodyPr/>
          <a:p/>
        </p:txBody>
      </p:sp>
      <p:sp>
        <p:nvSpPr>
          <p:cNvPr id="81" name="Text 79"/>
          <p:cNvSpPr/>
          <p:nvPr/>
        </p:nvSpPr>
        <p:spPr>
          <a:xfrm>
            <a:off x="5127873" y="6135872"/>
            <a:ext cx="158132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3</a:t>
            </a:r>
            <a:endParaRPr lang="en-US" sz="1800" dirty="0"/>
          </a:p>
        </p:txBody>
      </p:sp>
      <p:sp>
        <p:nvSpPr>
          <p:cNvPr id="82" name="Shape 80"/>
          <p:cNvSpPr/>
          <p:nvPr/>
        </p:nvSpPr>
        <p:spPr>
          <a:xfrm>
            <a:off x="6823499" y="6502030"/>
            <a:ext cx="2438887" cy="9525"/>
          </a:xfrm>
          <a:prstGeom prst="rect">
            <a:avLst/>
          </a:prstGeom>
          <a:solidFill>
            <a:srgbClr val="102825">
              <a:alpha val="32000"/>
            </a:srgbClr>
          </a:solidFill>
          <a:ln/>
        </p:spPr>
        <p:txBody>
          <a:bodyPr/>
          <a:p/>
        </p:txBody>
      </p:sp>
      <p:sp>
        <p:nvSpPr>
          <p:cNvPr id="83" name="Text 81"/>
          <p:cNvSpPr/>
          <p:nvPr/>
        </p:nvSpPr>
        <p:spPr>
          <a:xfrm>
            <a:off x="7013999" y="6135872"/>
            <a:ext cx="2134087"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125</a:t>
            </a:r>
            <a:endParaRPr lang="en-US" sz="1800" dirty="0"/>
          </a:p>
        </p:txBody>
      </p:sp>
      <p:sp>
        <p:nvSpPr>
          <p:cNvPr id="84" name="Shape 82"/>
          <p:cNvSpPr/>
          <p:nvPr/>
        </p:nvSpPr>
        <p:spPr>
          <a:xfrm>
            <a:off x="9262386" y="6502030"/>
            <a:ext cx="1830721" cy="9525"/>
          </a:xfrm>
          <a:prstGeom prst="rect">
            <a:avLst/>
          </a:prstGeom>
          <a:solidFill>
            <a:srgbClr val="102825">
              <a:alpha val="32000"/>
            </a:srgbClr>
          </a:solidFill>
          <a:ln/>
        </p:spPr>
        <p:txBody>
          <a:bodyPr/>
          <a:p/>
        </p:txBody>
      </p:sp>
      <p:sp>
        <p:nvSpPr>
          <p:cNvPr id="85" name="Text 83"/>
          <p:cNvSpPr/>
          <p:nvPr/>
        </p:nvSpPr>
        <p:spPr>
          <a:xfrm>
            <a:off x="9452886" y="6135872"/>
            <a:ext cx="1525921"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110</a:t>
            </a:r>
            <a:endParaRPr lang="en-US" sz="1800" dirty="0"/>
          </a:p>
        </p:txBody>
      </p:sp>
      <p:sp>
        <p:nvSpPr>
          <p:cNvPr id="86" name="Shape 84"/>
          <p:cNvSpPr/>
          <p:nvPr/>
        </p:nvSpPr>
        <p:spPr>
          <a:xfrm>
            <a:off x="11093107" y="6502030"/>
            <a:ext cx="2568909" cy="9525"/>
          </a:xfrm>
          <a:prstGeom prst="rect">
            <a:avLst/>
          </a:prstGeom>
          <a:solidFill>
            <a:srgbClr val="102825">
              <a:alpha val="32000"/>
            </a:srgbClr>
          </a:solidFill>
          <a:ln/>
        </p:spPr>
        <p:txBody>
          <a:bodyPr/>
          <a:p/>
        </p:txBody>
      </p:sp>
      <p:sp>
        <p:nvSpPr>
          <p:cNvPr id="87" name="Text 85"/>
          <p:cNvSpPr/>
          <p:nvPr/>
        </p:nvSpPr>
        <p:spPr>
          <a:xfrm>
            <a:off x="11283607" y="6135872"/>
            <a:ext cx="226497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12.0%</a:t>
            </a:r>
            <a:endParaRPr lang="en-US" sz="1800" dirty="0"/>
          </a:p>
        </p:txBody>
      </p:sp>
      <p:sp>
        <p:nvSpPr>
          <p:cNvPr id="88" name="Shape 86"/>
          <p:cNvSpPr/>
          <p:nvPr/>
        </p:nvSpPr>
        <p:spPr>
          <a:xfrm>
            <a:off x="13662015" y="6502030"/>
            <a:ext cx="3482984" cy="9525"/>
          </a:xfrm>
          <a:prstGeom prst="rect">
            <a:avLst/>
          </a:prstGeom>
          <a:solidFill>
            <a:srgbClr val="102825">
              <a:alpha val="32000"/>
            </a:srgbClr>
          </a:solidFill>
          <a:ln/>
        </p:spPr>
        <p:txBody>
          <a:bodyPr/>
          <a:p/>
        </p:txBody>
      </p:sp>
      <p:sp>
        <p:nvSpPr>
          <p:cNvPr id="89" name="Text 87"/>
          <p:cNvSpPr/>
          <p:nvPr/>
        </p:nvSpPr>
        <p:spPr>
          <a:xfrm>
            <a:off x="13852515" y="6135872"/>
            <a:ext cx="3396973"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PARITY </a:t>
            </a:r>
            <a:pPr algn="l" indent="0" marL="0">
              <a:lnSpc>
                <a:spcPct val="108197"/>
              </a:lnSpc>
              <a:buNone/>
            </a:pPr>
            <a:r>
              <a:rPr lang="en-US" sz="1800" dirty="0">
                <a:solidFill>
                  <a:srgbClr val="5B7270"/>
                </a:solidFill>
                <a:latin typeface="Arial" pitchFamily="34" charset="0"/>
                <a:ea typeface="Arial" pitchFamily="34" charset="-122"/>
                <a:cs typeface="Arial" pitchFamily="34" charset="-120"/>
              </a:rPr>
              <a:t>— calibrated</a:t>
            </a:r>
            <a:endParaRPr lang="en-US" sz="1800" dirty="0"/>
          </a:p>
        </p:txBody>
      </p:sp>
      <p:sp>
        <p:nvSpPr>
          <p:cNvPr id="90" name="Shape 88"/>
          <p:cNvSpPr/>
          <p:nvPr/>
        </p:nvSpPr>
        <p:spPr>
          <a:xfrm>
            <a:off x="1143000" y="6953047"/>
            <a:ext cx="3794373" cy="9525"/>
          </a:xfrm>
          <a:prstGeom prst="rect">
            <a:avLst/>
          </a:prstGeom>
          <a:solidFill>
            <a:srgbClr val="102825">
              <a:alpha val="32000"/>
            </a:srgbClr>
          </a:solidFill>
          <a:ln/>
        </p:spPr>
        <p:txBody>
          <a:bodyPr/>
          <a:p/>
        </p:txBody>
      </p:sp>
      <p:sp>
        <p:nvSpPr>
          <p:cNvPr id="91" name="Text 89"/>
          <p:cNvSpPr/>
          <p:nvPr/>
        </p:nvSpPr>
        <p:spPr>
          <a:xfrm>
            <a:off x="1143000" y="6586889"/>
            <a:ext cx="3717704"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Qatar (QSE)</a:t>
            </a:r>
            <a:endParaRPr lang="en-US" sz="1800" dirty="0"/>
          </a:p>
        </p:txBody>
      </p:sp>
      <p:sp>
        <p:nvSpPr>
          <p:cNvPr id="92" name="Shape 90"/>
          <p:cNvSpPr/>
          <p:nvPr/>
        </p:nvSpPr>
        <p:spPr>
          <a:xfrm>
            <a:off x="4937373" y="6953047"/>
            <a:ext cx="1886126" cy="9525"/>
          </a:xfrm>
          <a:prstGeom prst="rect">
            <a:avLst/>
          </a:prstGeom>
          <a:solidFill>
            <a:srgbClr val="102825">
              <a:alpha val="32000"/>
            </a:srgbClr>
          </a:solidFill>
          <a:ln/>
        </p:spPr>
        <p:txBody>
          <a:bodyPr/>
          <a:p/>
        </p:txBody>
      </p:sp>
      <p:sp>
        <p:nvSpPr>
          <p:cNvPr id="93" name="Text 91"/>
          <p:cNvSpPr/>
          <p:nvPr/>
        </p:nvSpPr>
        <p:spPr>
          <a:xfrm>
            <a:off x="5127873" y="6586889"/>
            <a:ext cx="158132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3</a:t>
            </a:r>
            <a:endParaRPr lang="en-US" sz="1800" dirty="0"/>
          </a:p>
        </p:txBody>
      </p:sp>
      <p:sp>
        <p:nvSpPr>
          <p:cNvPr id="94" name="Shape 92"/>
          <p:cNvSpPr/>
          <p:nvPr/>
        </p:nvSpPr>
        <p:spPr>
          <a:xfrm>
            <a:off x="6823499" y="6953047"/>
            <a:ext cx="2438887" cy="9525"/>
          </a:xfrm>
          <a:prstGeom prst="rect">
            <a:avLst/>
          </a:prstGeom>
          <a:solidFill>
            <a:srgbClr val="102825">
              <a:alpha val="32000"/>
            </a:srgbClr>
          </a:solidFill>
          <a:ln/>
        </p:spPr>
        <p:txBody>
          <a:bodyPr/>
          <a:p/>
        </p:txBody>
      </p:sp>
      <p:sp>
        <p:nvSpPr>
          <p:cNvPr id="95" name="Text 93"/>
          <p:cNvSpPr/>
          <p:nvPr/>
        </p:nvSpPr>
        <p:spPr>
          <a:xfrm>
            <a:off x="7013999" y="6586889"/>
            <a:ext cx="2134087"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174</a:t>
            </a:r>
            <a:endParaRPr lang="en-US" sz="1800" dirty="0"/>
          </a:p>
        </p:txBody>
      </p:sp>
      <p:sp>
        <p:nvSpPr>
          <p:cNvPr id="96" name="Shape 94"/>
          <p:cNvSpPr/>
          <p:nvPr/>
        </p:nvSpPr>
        <p:spPr>
          <a:xfrm>
            <a:off x="9262386" y="6953047"/>
            <a:ext cx="1830721" cy="9525"/>
          </a:xfrm>
          <a:prstGeom prst="rect">
            <a:avLst/>
          </a:prstGeom>
          <a:solidFill>
            <a:srgbClr val="102825">
              <a:alpha val="32000"/>
            </a:srgbClr>
          </a:solidFill>
          <a:ln/>
        </p:spPr>
        <p:txBody>
          <a:bodyPr/>
          <a:p/>
        </p:txBody>
      </p:sp>
      <p:sp>
        <p:nvSpPr>
          <p:cNvPr id="97" name="Text 95"/>
          <p:cNvSpPr/>
          <p:nvPr/>
        </p:nvSpPr>
        <p:spPr>
          <a:xfrm>
            <a:off x="9452886" y="6586889"/>
            <a:ext cx="1525921"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162</a:t>
            </a:r>
            <a:endParaRPr lang="en-US" sz="1800" dirty="0"/>
          </a:p>
        </p:txBody>
      </p:sp>
      <p:sp>
        <p:nvSpPr>
          <p:cNvPr id="98" name="Shape 96"/>
          <p:cNvSpPr/>
          <p:nvPr/>
        </p:nvSpPr>
        <p:spPr>
          <a:xfrm>
            <a:off x="11093107" y="6953047"/>
            <a:ext cx="2568909" cy="9525"/>
          </a:xfrm>
          <a:prstGeom prst="rect">
            <a:avLst/>
          </a:prstGeom>
          <a:solidFill>
            <a:srgbClr val="102825">
              <a:alpha val="32000"/>
            </a:srgbClr>
          </a:solidFill>
          <a:ln/>
        </p:spPr>
        <p:txBody>
          <a:bodyPr/>
          <a:p/>
        </p:txBody>
      </p:sp>
      <p:sp>
        <p:nvSpPr>
          <p:cNvPr id="99" name="Text 97"/>
          <p:cNvSpPr/>
          <p:nvPr/>
        </p:nvSpPr>
        <p:spPr>
          <a:xfrm>
            <a:off x="11283607" y="6586889"/>
            <a:ext cx="226497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6.9%</a:t>
            </a:r>
            <a:endParaRPr lang="en-US" sz="1800" dirty="0"/>
          </a:p>
        </p:txBody>
      </p:sp>
      <p:sp>
        <p:nvSpPr>
          <p:cNvPr id="100" name="Shape 98"/>
          <p:cNvSpPr/>
          <p:nvPr/>
        </p:nvSpPr>
        <p:spPr>
          <a:xfrm>
            <a:off x="13662015" y="6953047"/>
            <a:ext cx="3482984" cy="9525"/>
          </a:xfrm>
          <a:prstGeom prst="rect">
            <a:avLst/>
          </a:prstGeom>
          <a:solidFill>
            <a:srgbClr val="102825">
              <a:alpha val="32000"/>
            </a:srgbClr>
          </a:solidFill>
          <a:ln/>
        </p:spPr>
        <p:txBody>
          <a:bodyPr/>
          <a:p/>
        </p:txBody>
      </p:sp>
      <p:sp>
        <p:nvSpPr>
          <p:cNvPr id="101" name="Text 99"/>
          <p:cNvSpPr/>
          <p:nvPr/>
        </p:nvSpPr>
        <p:spPr>
          <a:xfrm>
            <a:off x="13852515" y="6586889"/>
            <a:ext cx="3396973"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PARITY </a:t>
            </a:r>
            <a:pPr algn="l" indent="0" marL="0">
              <a:lnSpc>
                <a:spcPct val="108197"/>
              </a:lnSpc>
              <a:buNone/>
            </a:pPr>
            <a:r>
              <a:rPr lang="en-US" sz="1800" dirty="0">
                <a:solidFill>
                  <a:srgbClr val="5B7270"/>
                </a:solidFill>
                <a:latin typeface="Arial" pitchFamily="34" charset="0"/>
                <a:ea typeface="Arial" pitchFamily="34" charset="-122"/>
                <a:cs typeface="Arial" pitchFamily="34" charset="-120"/>
              </a:rPr>
              <a:t>— calibrated</a:t>
            </a:r>
            <a:endParaRPr lang="en-US" sz="1800" dirty="0"/>
          </a:p>
        </p:txBody>
      </p:sp>
      <p:sp>
        <p:nvSpPr>
          <p:cNvPr id="102" name="Shape 100"/>
          <p:cNvSpPr/>
          <p:nvPr/>
        </p:nvSpPr>
        <p:spPr>
          <a:xfrm>
            <a:off x="1143000" y="7404064"/>
            <a:ext cx="3794373" cy="9525"/>
          </a:xfrm>
          <a:prstGeom prst="rect">
            <a:avLst/>
          </a:prstGeom>
          <a:solidFill>
            <a:srgbClr val="102825">
              <a:alpha val="32000"/>
            </a:srgbClr>
          </a:solidFill>
          <a:ln/>
        </p:spPr>
        <p:txBody>
          <a:bodyPr/>
          <a:p/>
        </p:txBody>
      </p:sp>
      <p:sp>
        <p:nvSpPr>
          <p:cNvPr id="103" name="Text 101"/>
          <p:cNvSpPr/>
          <p:nvPr/>
        </p:nvSpPr>
        <p:spPr>
          <a:xfrm>
            <a:off x="1143000" y="7037906"/>
            <a:ext cx="3717704"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Metals (Au · Ag · Pt)</a:t>
            </a:r>
            <a:endParaRPr lang="en-US" sz="1800" dirty="0"/>
          </a:p>
        </p:txBody>
      </p:sp>
      <p:sp>
        <p:nvSpPr>
          <p:cNvPr id="104" name="Shape 102"/>
          <p:cNvSpPr/>
          <p:nvPr/>
        </p:nvSpPr>
        <p:spPr>
          <a:xfrm>
            <a:off x="4937373" y="7404064"/>
            <a:ext cx="1886126" cy="9525"/>
          </a:xfrm>
          <a:prstGeom prst="rect">
            <a:avLst/>
          </a:prstGeom>
          <a:solidFill>
            <a:srgbClr val="102825">
              <a:alpha val="32000"/>
            </a:srgbClr>
          </a:solidFill>
          <a:ln/>
        </p:spPr>
        <p:txBody>
          <a:bodyPr/>
          <a:p/>
        </p:txBody>
      </p:sp>
      <p:sp>
        <p:nvSpPr>
          <p:cNvPr id="105" name="Text 103"/>
          <p:cNvSpPr/>
          <p:nvPr/>
        </p:nvSpPr>
        <p:spPr>
          <a:xfrm>
            <a:off x="5127873" y="7037906"/>
            <a:ext cx="158132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3</a:t>
            </a:r>
            <a:endParaRPr lang="en-US" sz="1800" dirty="0"/>
          </a:p>
        </p:txBody>
      </p:sp>
      <p:sp>
        <p:nvSpPr>
          <p:cNvPr id="106" name="Shape 104"/>
          <p:cNvSpPr/>
          <p:nvPr/>
        </p:nvSpPr>
        <p:spPr>
          <a:xfrm>
            <a:off x="6823499" y="7404064"/>
            <a:ext cx="2438887" cy="9525"/>
          </a:xfrm>
          <a:prstGeom prst="rect">
            <a:avLst/>
          </a:prstGeom>
          <a:solidFill>
            <a:srgbClr val="102825">
              <a:alpha val="32000"/>
            </a:srgbClr>
          </a:solidFill>
          <a:ln/>
        </p:spPr>
        <p:txBody>
          <a:bodyPr/>
          <a:p/>
        </p:txBody>
      </p:sp>
      <p:sp>
        <p:nvSpPr>
          <p:cNvPr id="107" name="Text 105"/>
          <p:cNvSpPr/>
          <p:nvPr/>
        </p:nvSpPr>
        <p:spPr>
          <a:xfrm>
            <a:off x="7013999" y="7037906"/>
            <a:ext cx="2134087"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178</a:t>
            </a:r>
            <a:endParaRPr lang="en-US" sz="1800" dirty="0"/>
          </a:p>
        </p:txBody>
      </p:sp>
      <p:sp>
        <p:nvSpPr>
          <p:cNvPr id="108" name="Shape 106"/>
          <p:cNvSpPr/>
          <p:nvPr/>
        </p:nvSpPr>
        <p:spPr>
          <a:xfrm>
            <a:off x="9262386" y="7404064"/>
            <a:ext cx="1830721" cy="9525"/>
          </a:xfrm>
          <a:prstGeom prst="rect">
            <a:avLst/>
          </a:prstGeom>
          <a:solidFill>
            <a:srgbClr val="102825">
              <a:alpha val="32000"/>
            </a:srgbClr>
          </a:solidFill>
          <a:ln/>
        </p:spPr>
        <p:txBody>
          <a:bodyPr/>
          <a:p/>
        </p:txBody>
      </p:sp>
      <p:sp>
        <p:nvSpPr>
          <p:cNvPr id="109" name="Text 107"/>
          <p:cNvSpPr/>
          <p:nvPr/>
        </p:nvSpPr>
        <p:spPr>
          <a:xfrm>
            <a:off x="9452886" y="7037906"/>
            <a:ext cx="1525921"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167</a:t>
            </a:r>
            <a:endParaRPr lang="en-US" sz="1800" dirty="0"/>
          </a:p>
        </p:txBody>
      </p:sp>
      <p:sp>
        <p:nvSpPr>
          <p:cNvPr id="110" name="Shape 108"/>
          <p:cNvSpPr/>
          <p:nvPr/>
        </p:nvSpPr>
        <p:spPr>
          <a:xfrm>
            <a:off x="11093107" y="7404064"/>
            <a:ext cx="2568909" cy="9525"/>
          </a:xfrm>
          <a:prstGeom prst="rect">
            <a:avLst/>
          </a:prstGeom>
          <a:solidFill>
            <a:srgbClr val="102825">
              <a:alpha val="32000"/>
            </a:srgbClr>
          </a:solidFill>
          <a:ln/>
        </p:spPr>
        <p:txBody>
          <a:bodyPr/>
          <a:p/>
        </p:txBody>
      </p:sp>
      <p:sp>
        <p:nvSpPr>
          <p:cNvPr id="111" name="Text 109"/>
          <p:cNvSpPr/>
          <p:nvPr/>
        </p:nvSpPr>
        <p:spPr>
          <a:xfrm>
            <a:off x="11283607" y="7037906"/>
            <a:ext cx="2264976"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dirty="0">
                <a:solidFill>
                  <a:srgbClr val="0E2726"/>
                </a:solidFill>
                <a:latin typeface="Arial" pitchFamily="34" charset="0"/>
                <a:ea typeface="Arial" pitchFamily="34" charset="-122"/>
                <a:cs typeface="Arial" pitchFamily="34" charset="-120"/>
              </a:rPr>
              <a:t>6.2%</a:t>
            </a:r>
            <a:endParaRPr lang="en-US" sz="1800" dirty="0"/>
          </a:p>
        </p:txBody>
      </p:sp>
      <p:sp>
        <p:nvSpPr>
          <p:cNvPr id="112" name="Shape 110"/>
          <p:cNvSpPr/>
          <p:nvPr/>
        </p:nvSpPr>
        <p:spPr>
          <a:xfrm>
            <a:off x="13662015" y="7404064"/>
            <a:ext cx="3482984" cy="9525"/>
          </a:xfrm>
          <a:prstGeom prst="rect">
            <a:avLst/>
          </a:prstGeom>
          <a:solidFill>
            <a:srgbClr val="102825">
              <a:alpha val="32000"/>
            </a:srgbClr>
          </a:solidFill>
          <a:ln/>
        </p:spPr>
        <p:txBody>
          <a:bodyPr/>
          <a:p/>
        </p:txBody>
      </p:sp>
      <p:sp>
        <p:nvSpPr>
          <p:cNvPr id="113" name="Text 111"/>
          <p:cNvSpPr/>
          <p:nvPr/>
        </p:nvSpPr>
        <p:spPr>
          <a:xfrm>
            <a:off x="13852515" y="7037906"/>
            <a:ext cx="3396973" cy="32805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PARITY </a:t>
            </a:r>
            <a:pPr algn="l" indent="0" marL="0">
              <a:lnSpc>
                <a:spcPct val="108197"/>
              </a:lnSpc>
              <a:buNone/>
            </a:pPr>
            <a:r>
              <a:rPr lang="en-US" sz="1800" dirty="0">
                <a:solidFill>
                  <a:srgbClr val="5B7270"/>
                </a:solidFill>
                <a:latin typeface="Arial" pitchFamily="34" charset="0"/>
                <a:ea typeface="Arial" pitchFamily="34" charset="-122"/>
                <a:cs typeface="Arial" pitchFamily="34" charset="-120"/>
              </a:rPr>
              <a:t>— calibrated</a:t>
            </a:r>
            <a:endParaRPr lang="en-US" sz="1800" dirty="0"/>
          </a:p>
        </p:txBody>
      </p:sp>
      <p:sp>
        <p:nvSpPr>
          <p:cNvPr id="114" name="Shape 112"/>
          <p:cNvSpPr/>
          <p:nvPr/>
        </p:nvSpPr>
        <p:spPr>
          <a:xfrm>
            <a:off x="1143000" y="7850751"/>
            <a:ext cx="3794373" cy="9525"/>
          </a:xfrm>
          <a:prstGeom prst="rect">
            <a:avLst/>
          </a:prstGeom>
          <a:solidFill>
            <a:srgbClr val="102825">
              <a:alpha val="32000"/>
            </a:srgbClr>
          </a:solidFill>
          <a:ln/>
        </p:spPr>
        <p:txBody>
          <a:bodyPr/>
          <a:p/>
        </p:txBody>
      </p:sp>
      <p:sp>
        <p:nvSpPr>
          <p:cNvPr id="115" name="Text 113"/>
          <p:cNvSpPr/>
          <p:nvPr/>
        </p:nvSpPr>
        <p:spPr>
          <a:xfrm>
            <a:off x="1143000" y="7488923"/>
            <a:ext cx="3717704" cy="32372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TOTAL</a:t>
            </a:r>
            <a:endParaRPr lang="en-US" sz="1800" dirty="0"/>
          </a:p>
        </p:txBody>
      </p:sp>
      <p:sp>
        <p:nvSpPr>
          <p:cNvPr id="116" name="Shape 114"/>
          <p:cNvSpPr/>
          <p:nvPr/>
        </p:nvSpPr>
        <p:spPr>
          <a:xfrm>
            <a:off x="4937373" y="7850751"/>
            <a:ext cx="1886126" cy="9525"/>
          </a:xfrm>
          <a:prstGeom prst="rect">
            <a:avLst/>
          </a:prstGeom>
          <a:solidFill>
            <a:srgbClr val="102825">
              <a:alpha val="32000"/>
            </a:srgbClr>
          </a:solidFill>
          <a:ln/>
        </p:spPr>
        <p:txBody>
          <a:bodyPr/>
          <a:p/>
        </p:txBody>
      </p:sp>
      <p:sp>
        <p:nvSpPr>
          <p:cNvPr id="117" name="Text 115"/>
          <p:cNvSpPr/>
          <p:nvPr/>
        </p:nvSpPr>
        <p:spPr>
          <a:xfrm>
            <a:off x="5127873" y="7488923"/>
            <a:ext cx="1581326" cy="32372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93</a:t>
            </a:r>
            <a:endParaRPr lang="en-US" sz="1800" dirty="0"/>
          </a:p>
        </p:txBody>
      </p:sp>
      <p:sp>
        <p:nvSpPr>
          <p:cNvPr id="118" name="Shape 116"/>
          <p:cNvSpPr/>
          <p:nvPr/>
        </p:nvSpPr>
        <p:spPr>
          <a:xfrm>
            <a:off x="6823499" y="7850751"/>
            <a:ext cx="2438887" cy="9525"/>
          </a:xfrm>
          <a:prstGeom prst="rect">
            <a:avLst/>
          </a:prstGeom>
          <a:solidFill>
            <a:srgbClr val="102825">
              <a:alpha val="32000"/>
            </a:srgbClr>
          </a:solidFill>
          <a:ln/>
        </p:spPr>
        <p:txBody>
          <a:bodyPr/>
          <a:p/>
        </p:txBody>
      </p:sp>
      <p:sp>
        <p:nvSpPr>
          <p:cNvPr id="119" name="Text 117"/>
          <p:cNvSpPr/>
          <p:nvPr/>
        </p:nvSpPr>
        <p:spPr>
          <a:xfrm>
            <a:off x="7013999" y="7488923"/>
            <a:ext cx="2134087" cy="32372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4,081</a:t>
            </a:r>
            <a:endParaRPr lang="en-US" sz="1800" dirty="0"/>
          </a:p>
        </p:txBody>
      </p:sp>
      <p:sp>
        <p:nvSpPr>
          <p:cNvPr id="120" name="Shape 118"/>
          <p:cNvSpPr/>
          <p:nvPr/>
        </p:nvSpPr>
        <p:spPr>
          <a:xfrm>
            <a:off x="9262386" y="7850751"/>
            <a:ext cx="1830721" cy="9525"/>
          </a:xfrm>
          <a:prstGeom prst="rect">
            <a:avLst/>
          </a:prstGeom>
          <a:solidFill>
            <a:srgbClr val="102825">
              <a:alpha val="32000"/>
            </a:srgbClr>
          </a:solidFill>
          <a:ln/>
        </p:spPr>
        <p:txBody>
          <a:bodyPr/>
          <a:p/>
        </p:txBody>
      </p:sp>
      <p:sp>
        <p:nvSpPr>
          <p:cNvPr id="121" name="Text 119"/>
          <p:cNvSpPr/>
          <p:nvPr/>
        </p:nvSpPr>
        <p:spPr>
          <a:xfrm>
            <a:off x="9452886" y="7488923"/>
            <a:ext cx="1525921" cy="32372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3,709</a:t>
            </a:r>
            <a:endParaRPr lang="en-US" sz="1800" dirty="0"/>
          </a:p>
        </p:txBody>
      </p:sp>
      <p:sp>
        <p:nvSpPr>
          <p:cNvPr id="122" name="Shape 120"/>
          <p:cNvSpPr/>
          <p:nvPr/>
        </p:nvSpPr>
        <p:spPr>
          <a:xfrm>
            <a:off x="11093107" y="7850751"/>
            <a:ext cx="2568909" cy="9525"/>
          </a:xfrm>
          <a:prstGeom prst="rect">
            <a:avLst/>
          </a:prstGeom>
          <a:solidFill>
            <a:srgbClr val="102825">
              <a:alpha val="32000"/>
            </a:srgbClr>
          </a:solidFill>
          <a:ln/>
        </p:spPr>
        <p:txBody>
          <a:bodyPr/>
          <a:p/>
        </p:txBody>
      </p:sp>
      <p:sp>
        <p:nvSpPr>
          <p:cNvPr id="123" name="Text 121"/>
          <p:cNvSpPr/>
          <p:nvPr/>
        </p:nvSpPr>
        <p:spPr>
          <a:xfrm>
            <a:off x="11283607" y="7488923"/>
            <a:ext cx="2264976" cy="32372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9.1%</a:t>
            </a:r>
            <a:endParaRPr lang="en-US" sz="1800" dirty="0"/>
          </a:p>
        </p:txBody>
      </p:sp>
      <p:sp>
        <p:nvSpPr>
          <p:cNvPr id="124" name="Shape 122"/>
          <p:cNvSpPr/>
          <p:nvPr/>
        </p:nvSpPr>
        <p:spPr>
          <a:xfrm>
            <a:off x="13662015" y="7850751"/>
            <a:ext cx="3482984" cy="9525"/>
          </a:xfrm>
          <a:prstGeom prst="rect">
            <a:avLst/>
          </a:prstGeom>
          <a:solidFill>
            <a:srgbClr val="102825">
              <a:alpha val="32000"/>
            </a:srgbClr>
          </a:solidFill>
          <a:ln/>
        </p:spPr>
        <p:txBody>
          <a:bodyPr/>
          <a:p/>
        </p:txBody>
      </p:sp>
      <p:sp>
        <p:nvSpPr>
          <p:cNvPr id="125" name="Text 123"/>
          <p:cNvSpPr/>
          <p:nvPr/>
        </p:nvSpPr>
        <p:spPr>
          <a:xfrm>
            <a:off x="13852515" y="7488923"/>
            <a:ext cx="3396973" cy="323728"/>
          </a:xfrm>
          <a:prstGeom prst="rect">
            <a:avLst/>
          </a:prstGeom>
          <a:noFill/>
          <a:ln/>
        </p:spPr>
        <p:txBody>
          <a:bodyPr wrap="square" lIns="25400" tIns="25400" rIns="25400" bIns="25400" rtlCol="0" anchor="ctr">
            <a:normAutofit/>
          </a:bodyPr>
          <a:lstStyle/>
          <a:p>
            <a:pPr algn="l" indent="0" marL="0">
              <a:lnSpc>
                <a:spcPct val="108197"/>
              </a:lnSpc>
              <a:buNone/>
            </a:pPr>
            <a:r>
              <a:rPr lang="en-US" sz="1800" b="1" dirty="0">
                <a:solidFill>
                  <a:srgbClr val="0E2726"/>
                </a:solidFill>
                <a:latin typeface="Arial" pitchFamily="34" charset="0"/>
                <a:ea typeface="Arial" pitchFamily="34" charset="-122"/>
                <a:cs typeface="Arial" pitchFamily="34" charset="-120"/>
              </a:rPr>
              <a:t>—</a:t>
            </a:r>
            <a:endParaRPr lang="en-US" sz="1800" dirty="0"/>
          </a:p>
        </p:txBody>
      </p:sp>
      <p:sp>
        <p:nvSpPr>
          <p:cNvPr id="126" name="Shape 124"/>
          <p:cNvSpPr/>
          <p:nvPr/>
        </p:nvSpPr>
        <p:spPr>
          <a:xfrm>
            <a:off x="1143000" y="8035162"/>
            <a:ext cx="14859000" cy="17318"/>
          </a:xfrm>
          <a:prstGeom prst="rect">
            <a:avLst/>
          </a:prstGeom>
          <a:solidFill>
            <a:srgbClr val="102825">
              <a:alpha val="32000"/>
            </a:srgbClr>
          </a:solidFill>
          <a:ln/>
        </p:spPr>
        <p:txBody>
          <a:bodyPr/>
          <a:p/>
        </p:txBody>
      </p:sp>
      <p:sp>
        <p:nvSpPr>
          <p:cNvPr id="127" name="Text 125"/>
          <p:cNvSpPr/>
          <p:nvPr/>
        </p:nvSpPr>
        <p:spPr>
          <a:xfrm>
            <a:off x="1143000" y="8166740"/>
            <a:ext cx="15304770" cy="963743"/>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5B7270"/>
                </a:solidFill>
                <a:latin typeface="Arial" pitchFamily="34" charset="0"/>
                <a:ea typeface="Arial" pitchFamily="34" charset="-122"/>
                <a:cs typeface="Arial" pitchFamily="34" charset="-120"/>
              </a:rPr>
              <a:t>A PARITY market still delivers its full product — calibrated cones, graded in public. Four name-level robust FAILs — EXTRA (Tadawul), CLHO (EGX), and newcomers BOROUGE and EMPOWER (ADX), the latter two flagged on arrival by the 23-Aug material-change review — kept, unedited. Metals is the weakest calibration and we say so: gold is a single-name self-fit, silver borrows gold’s fit until its history is long enough.</a:t>
            </a:r>
            <a:endParaRPr lang="en-US" sz="1800" dirty="0"/>
          </a:p>
        </p:txBody>
      </p:sp>
      <p:sp>
        <p:nvSpPr>
          <p:cNvPr id="128" name="Text 126"/>
          <p:cNvSpPr/>
          <p:nvPr/>
        </p:nvSpPr>
        <p:spPr>
          <a:xfrm>
            <a:off x="1143000" y="9149479"/>
            <a:ext cx="16344900" cy="346648"/>
          </a:xfrm>
          <a:prstGeom prst="rect">
            <a:avLst/>
          </a:prstGeom>
          <a:noFill/>
          <a:ln/>
        </p:spPr>
        <p:txBody>
          <a:bodyPr wrap="square" lIns="25400" tIns="25400" rIns="25400" bIns="25400" rtlCol="0" anchor="t">
            <a:normAutofit/>
          </a:bodyPr>
          <a:lstStyle/>
          <a:p>
            <a:pPr algn="l" indent="0" marL="0">
              <a:lnSpc>
                <a:spcPct val="116852"/>
              </a:lnSpc>
              <a:buNone/>
            </a:pPr>
            <a:r>
              <a:rPr lang="en-US" sz="1800" dirty="0">
                <a:solidFill>
                  <a:srgbClr val="0E5C51"/>
                </a:solidFill>
                <a:latin typeface="Arial" pitchFamily="34" charset="0"/>
                <a:ea typeface="Arial" pitchFamily="34" charset="-122"/>
                <a:cs typeface="Arial" pitchFamily="34" charset="-120"/>
              </a:rPr>
              <a:t>Run: 24 Aug 2026, production panels, calendar 3-month walk-forward windows, up to 15 years per name. Live per-name detail: testahil.com/ledger</a:t>
            </a:r>
            <a:endParaRPr lang="en-US" sz="1800" dirty="0"/>
          </a:p>
        </p:txBody>
      </p:sp>
      <p:sp>
        <p:nvSpPr>
          <p:cNvPr id="129" name="Text 127"/>
          <p:cNvSpPr/>
          <p:nvPr/>
        </p:nvSpPr>
        <p:spPr>
          <a:xfrm>
            <a:off x="13142268" y="9761298"/>
            <a:ext cx="4002732" cy="335215"/>
          </a:xfrm>
          <a:prstGeom prst="rect">
            <a:avLst/>
          </a:prstGeom>
          <a:noFill/>
          <a:ln/>
        </p:spPr>
        <p:txBody>
          <a:bodyPr wrap="square" lIns="25400" tIns="25400" rIns="25400" bIns="25400" rtlCol="0" anchor="t">
            <a:normAutofit/>
          </a:bodyPr>
          <a:lstStyle/>
          <a:p>
            <a:pPr algn="r" indent="0" marL="0">
              <a:lnSpc>
                <a:spcPct val="112525"/>
              </a:lnSpc>
              <a:buNone/>
            </a:pPr>
            <a:r>
              <a:rPr lang="en-US" sz="1800" dirty="0">
                <a:solidFill>
                  <a:srgbClr val="5A7270">
                    <a:alpha val="85000"/>
                  </a:srgbClr>
                </a:solidFill>
                <a:latin typeface="Arial" pitchFamily="34" charset="0"/>
                <a:ea typeface="Arial" pitchFamily="34" charset="-122"/>
                <a:cs typeface="Arial" pitchFamily="34" charset="-120"/>
              </a:rPr>
              <a:t>Testahil — distributions, not tips · 15</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2026-08-24T16:05:16Z</dcterms:created>
  <dcterms:modified xsi:type="dcterms:W3CDTF">2026-08-24T16:05:16Z</dcterms:modified>
</cp:coreProperties>
</file>