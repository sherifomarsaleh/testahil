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of windows inside the 90% band</c:v>
                </c:pt>
              </c:strCache>
            </c:strRef>
          </c:tx>
          <c:spPr>
            <a:solidFill>
              <a:srgbClr val="12796B"/>
            </a:solidFill>
            <a:effectLst/>
          </c:spPr>
          <c:invertIfNegative val="0"/>
          <c:dLbls>
            <c:numFmt formatCode="0.0&quot;%&quot;" sourceLinked="0"/>
            <c:txPr>
              <a:bodyPr/>
              <a:lstStyle/>
              <a:p>
                <a:pPr>
                  <a:defRPr b="0" i="0" strike="noStrike" sz="1000" u="none">
                    <a:solidFill>
                      <a:srgbClr val="0F5147"/>
                    </a:solidFill>
                    <a:latin typeface="Arial"/>
                  </a:defRPr>
                </a:pPr>
              </a:p>
            </c:txPr>
            <c:dLblPos val="outEnd"/>
            <c:showLegendKey val="0"/>
            <c:showVal val="1"/>
            <c:showCatName val="0"/>
            <c:showSerName val="0"/>
            <c:showPercent val="0"/>
            <c:showBubbleSize val="0"/>
            <c:showLeaderLines val="0"/>
          </c:dLbls>
          <c:cat>
            <c:multiLvlStrRef>
              <c:f>Sheet1!$A$2:$A$9</c:f>
              <c:multiLvlStrCache>
                <c:ptCount val="8"/>
                <c:lvl>
                  <c:pt idx="0">
                    <c:v>Egypt</c:v>
                  </c:pt>
                  <c:pt idx="1">
                    <c:v>UAE</c:v>
                  </c:pt>
                  <c:pt idx="2">
                    <c:v>Saudi</c:v>
                  </c:pt>
                  <c:pt idx="3">
                    <c:v>USA</c:v>
                  </c:pt>
                  <c:pt idx="4">
                    <c:v>Korea</c:v>
                  </c:pt>
                  <c:pt idx="5">
                    <c:v>India</c:v>
                  </c:pt>
                  <c:pt idx="6">
                    <c:v>Qatar</c:v>
                  </c:pt>
                  <c:pt idx="7">
                    <c:v>Metals</c:v>
                  </c:pt>
                </c:lvl>
              </c:multiLvlStrCache>
            </c:multiLvlStrRef>
          </c:cat>
          <c:val>
            <c:numRef>
              <c:f>Sheet1!$B$2:$B$9</c:f>
              <c:numCache>
                <c:formatCode>General</c:formatCode>
                <c:ptCount val="8"/>
                <c:pt idx="0">
                  <c:v>92.6</c:v>
                </c:pt>
                <c:pt idx="1">
                  <c:v>89.5</c:v>
                </c:pt>
                <c:pt idx="2">
                  <c:v>86.4</c:v>
                </c:pt>
                <c:pt idx="3">
                  <c:v>85.6</c:v>
                </c:pt>
                <c:pt idx="4">
                  <c:v>88</c:v>
                </c:pt>
                <c:pt idx="5">
                  <c:v>87.8</c:v>
                </c:pt>
                <c:pt idx="6">
                  <c:v>93.1</c:v>
                </c:pt>
                <c:pt idx="7">
                  <c:v>93.8</c:v>
                </c:pt>
              </c:numCache>
            </c:numRef>
          </c:val>
        </c:ser>
        <c:dLbls>
          <c:numFmt formatCode="0.0&quot;%&quot;" sourceLinked="0"/>
          <c:txPr>
            <a:bodyPr/>
            <a:lstStyle/>
            <a:p>
              <a:pPr>
                <a:defRPr b="0" i="0" strike="noStrike" sz="1000" u="none">
                  <a:solidFill>
                    <a:srgbClr val="0F5147"/>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design target 90%</c:v>
                </c:pt>
              </c:strCache>
            </c:strRef>
          </c:tx>
          <c:spPr>
            <a:solidFill>
              <a:srgbClr val="C0A45F"/>
            </a:solidFill>
            <a:ln w="31750" cap="flat">
              <a:solidFill>
                <a:srgbClr val="C0A45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A45F"/>
              </a:solidFill>
              <a:ln w="9525" cap="flat">
                <a:solidFill>
                  <a:srgbClr val="C0A45F"/>
                </a:solidFill>
                <a:prstDash val="solid"/>
                <a:round/>
              </a:ln>
              <a:effectLst/>
            </c:spPr>
          </c:marker>
          <c:cat>
            <c:multiLvlStrRef>
              <c:f>Sheet1!$A$2:$A$9</c:f>
              <c:multiLvlStrCache>
                <c:ptCount val="8"/>
                <c:lvl>
                  <c:pt idx="0">
                    <c:v>Egypt</c:v>
                  </c:pt>
                  <c:pt idx="1">
                    <c:v>UAE</c:v>
                  </c:pt>
                  <c:pt idx="2">
                    <c:v>Saudi</c:v>
                  </c:pt>
                  <c:pt idx="3">
                    <c:v>USA</c:v>
                  </c:pt>
                  <c:pt idx="4">
                    <c:v>Korea</c:v>
                  </c:pt>
                  <c:pt idx="5">
                    <c:v>India</c:v>
                  </c:pt>
                  <c:pt idx="6">
                    <c:v>Qatar</c:v>
                  </c:pt>
                  <c:pt idx="7">
                    <c:v>Metals</c:v>
                  </c:pt>
                </c:lvl>
              </c:multiLvlStrCache>
            </c:multiLvlStrRef>
          </c:cat>
          <c:val>
            <c:numRef>
              <c:f>Sheet1!$C$2:$C$9</c:f>
              <c:numCache>
                <c:formatCode>General</c:formatCode>
                <c:ptCount val="8"/>
                <c:pt idx="0">
                  <c:v>90</c:v>
                </c:pt>
                <c:pt idx="1">
                  <c:v>90</c:v>
                </c:pt>
                <c:pt idx="2">
                  <c:v>90</c:v>
                </c:pt>
                <c:pt idx="3">
                  <c:v>90</c:v>
                </c:pt>
                <c:pt idx="4">
                  <c:v>90</c:v>
                </c:pt>
                <c:pt idx="5">
                  <c:v>90</c:v>
                </c:pt>
                <c:pt idx="6">
                  <c:v>90</c:v>
                </c:pt>
                <c:pt idx="7">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max val="100"/>
          <c:min val="80"/>
        </c:scaling>
        <c:delete val="0"/>
        <c:axPos val="l"/>
        <c:majorGridlines>
          <c:spPr>
            <a:ln w="9525" cap="flat">
              <a:solidFill>
                <a:srgbClr val="E3EC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3 Aug 2026</c:v>
                </c:pt>
              </c:strCache>
            </c:strRef>
          </c:tx>
          <c:spPr>
            <a:solidFill>
              <a:srgbClr val="8FA8A2"/>
            </a:solidFill>
            <a:effectLst/>
          </c:spPr>
          <c:invertIfNegative val="0"/>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cat>
            <c:multiLvlStrRef>
              <c:f>Sheet1!$A$2:$A$3</c:f>
              <c:multiLvlStrCache>
                <c:ptCount val="2"/>
                <c:lvl>
                  <c:pt idx="0">
                    <c:v>Instruments covered</c:v>
                  </c:pt>
                  <c:pt idx="1">
                    <c:v>Public forecasts</c:v>
                  </c:pt>
                </c:lvl>
              </c:multiLvlStrCache>
            </c:multiLvlStrRef>
          </c:cat>
          <c:val>
            <c:numRef>
              <c:f>Sheet1!$B$2:$B$3</c:f>
              <c:numCache>
                <c:formatCode>General</c:formatCode>
                <c:ptCount val="2"/>
                <c:pt idx="0">
                  <c:v>74</c:v>
                </c:pt>
                <c:pt idx="1">
                  <c:v>161</c:v>
                </c:pt>
              </c:numCache>
            </c:numRef>
          </c:val>
        </c:ser>
        <c:ser>
          <c:idx val="1"/>
          <c:order val="1"/>
          <c:tx>
            <c:strRef>
              <c:f>Sheet1!$C$1</c:f>
              <c:strCache>
                <c:ptCount val="1"/>
                <c:pt idx="0">
                  <c:v>18 Aug 2026</c:v>
                </c:pt>
              </c:strCache>
            </c:strRef>
          </c:tx>
          <c:spPr>
            <a:solidFill>
              <a:srgbClr val="12796B"/>
            </a:solidFill>
            <a:effectLst/>
          </c:spPr>
          <c:invertIfNegative val="0"/>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cat>
            <c:multiLvlStrRef>
              <c:f>Sheet1!$A$2:$A$3</c:f>
              <c:multiLvlStrCache>
                <c:ptCount val="2"/>
                <c:lvl>
                  <c:pt idx="0">
                    <c:v>Instruments covered</c:v>
                  </c:pt>
                  <c:pt idx="1">
                    <c:v>Public forecasts</c:v>
                  </c:pt>
                </c:lvl>
              </c:multiLvlStrCache>
            </c:multiLvlStrRef>
          </c:cat>
          <c:val>
            <c:numRef>
              <c:f>Sheet1!$C$2:$C$3</c:f>
              <c:numCache>
                <c:formatCode>General</c:formatCode>
                <c:ptCount val="2"/>
                <c:pt idx="0">
                  <c:v>91</c:v>
                </c:pt>
                <c:pt idx="1">
                  <c:v>199</c:v>
                </c:pt>
              </c:numCache>
            </c:numRef>
          </c:val>
        </c:ser>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gapWidth val="90"/>
        <c:overlap val="-2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C6B70"/>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v2 of the partnership deck — restruck 18-Aug-2026 on live repo state; v1 (3-Aug) carried 74 / 3,373 / 89.6% / 161.
——— JARGON ON THIS SLIDE ———
Distribution (vs. a tip) — a tip is one number ("buy at 50, target 65"). A distribution is the whole spread of where the price could land, with a probability on each zone. We sell the spread, never the single number.
The 90% band — the price range expected to contain the real outcome nine times out of ten. A promise about frequency across many forecasts, not a guarantee about any one stock.
Backtest window — one historical test: stand at a past date, forecast forward using only what was known then, then check what actually happened.
Time-stamped / graded in public — dated the moment it publishes; scored right or wrong on the site when it matures; never deleted.
"One in ten lands outside — by design" — the headline defence. A 90% band that never missed would simply be too wide to be worth anything.
——— HOW THESE NUMBERS WERE COMPUTED (18-Aug-2026, live repo) ———
91 — instruments in the persistent library engine/raw_ohlc/{MARKET}/: EG 37, AE 28 (19 ADX + 9 DFM), SA 11, IN/KR/QA/US 3 each, gold+silver 2, platinum 1. 8 markets = 7 equity markets + metals.
"A full study behind every one" — 91 distinct names carry a Valuation_Study PDF in files/ (80 with the _public suffix + the Aug-2026 batch without it); every one of the 88 equities also has a live fair value in assets/data.js (fair.base present for 88 of 88).
3,944 / 90.6% — sum of rows / in90=True rows across all 88 engine/panels/{MKT}_{NAME}_3m.csv files, the walk-forward panels the unattended pipeline itself maintains (content-hashed, refit whenever a name posts). 3,572 of 3,944 inside → 90.57%. The three ADX names published 17-Aug (ADNOCDIST, ADNOCDRILL, ADNOCLS) enter the panels at their market's next refit.
199 — LEDGER.length in assets/data.js (104 one-month, 93 three-month, 2 twelve-month rows; earliest anchor 11-Jun-2026).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pain, zoomed out (Prof G: start where the emotion is — money being lost at scale). Research exists but is inaccessible; squeeze and result stated plainly; the Egypt stat as the one real anchor. The broker-economics critique gets its own slide next.
——— JARGON ON THIS SLIDE ———
Retail investor — an individual trading their own money, as opposed to a fund or institution.
Churn — a client who signs up, loses money, and leaves. The platform has spent its acquisition budget and got nothing back.
Registered investors — people holding an active brokerage account on the exchange.
Market cap — the combined market value of all listed companies; moves with prices AND new listings/capital increases, so it is not the same thing as the EGX 30 index return (~+40% in 2025).
——— SOURCES / CAVEATS (carried from v1, still open) ———
276,000 (stock of accounts, ~+20% y/y) and market cap +42% (2025) are as attributed on-slide to the EGX Chairman via Al Arabiya, 29-Dec-2025 — attach the primary EGX/FRA release before an institutional audience; a bank analyst will look them up.
Independent cross-checks on the public record: ~123,000 NEW retail investors in H1-2025 (flow, EGX chairman, Aug-2025 wires); Q1-2026 registrations up sharply y/y (waya.media); EGX 30 ≈ +40% over 2025. Stock vs flow distinction matters if questioned: both can be true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broker slide — three failure modes reframed as economics, not blame: the reach ceiling, blurred timelines, deterministic language. Critical when pitching a brokerage house: their research is trusted; this extends its reach into names their analysts will never economically cover.
——— JARGON ON THIS SLIDE ———
Coverage — the formal list of stocks an analyst follows. A human desk carries a few dozen names with depth, not a market.
The long tail — the hundreds of smaller, thinly-covered stocks where retail actually trades, and where nobody writes research.
Fundamentals / technicals — the company's economics (a slow story, measured in years) vs patterns in the price chart itself (a fast story, days and weeks). Blurred into one number, the client cannot tell invest from trade.
Deterministic — stated as a single certain figure with no odds attached. The opposite of this product.
Context (notes only, verify before quoting aloud): EFG writes research on ~232 stocks across 9 Arab markets, not all kept current — the regional ceiling in one line.
——— HOW THESE NUMBERS WERE COMPUTED ———
91 — the raw_ohlc library count (cover note). "A full ground-up study behind every one" — 91 distinct study PDFs in files/ (method on cover note). Bar lengths are schematic for 50 / several hundred / 91 — the labels carry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in the listener's framing: fundamental = the 1-year clock, technical = the short-term chart, and above all the simulation. The right side SHOWS it instead of claiming it: the cone, then the site's own probability read for one live name.
——— JARGON ON THIS SLIDE ———
Fair value — what the business is worth on its own economics, published as a range, never a point.
Official filings — the company's own published, audited accounts. No data vendors, no broker estimates, ever, for a company's reported history.
Monte Carlo / path — run the future 50,000 times with randomness; each run is a full price journey; the counts across runs become the probabilities.
Calibrated — tuned on that stock's own market history so stated odds match observed frequencies.
50% band / 1-in-20 — the middle half of outcomes / the 5th and 95th percentile single outcomes.
"Odds, not orders" — the elevator line: how likely and by when; never buy or sell.
——— HOW THESE NUMBERS WERE COMPUTED ———
ADNOC L&amp;S card — transcribed verbatim from the live homepage probability read ("The odds — where the latest study could go", ADNOCLS at 3 months): AED 6.16 close 7-Aug-2026; 51% higher; 24% vs 22% (≈1.1:1); worst/best 1-in-20 4.95 / 7.73 (−20%/+25%); 50% band 5.67–6.73; simulation computed 10-Aug-2026. Re-read the site before reusing — these refresh with every library update.
The cone graphic is schematic (drawn for this deck); every real cone on the site is computed per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news since v1 of this deck. The Picker is the two-clocks thesis turned into a screen: the 1-year fair value and the 1–3-month odds, finally on one row, ranked by whether the gap is closable in the time given.
——— JARGON ON THIS SLIDE ———
Reachability — how far fair value sits from the price measured in that stock's own volatility, and the odds of touching it within the horizon. The table's default sort.
P(touch fair value) — the probability, from the same 50,000 published paths, that the price touches fair value at any point inside the horizon; "already there" marks names trading at or through it.
Cash hurdle — each market's own risk-free rate; a case that cannot beat local cash is flagged (Egypt's hurdle reads 19.5% on the live page today — volatile, re-read before quoting).
Filters — only in-reach / only beats-local-cash / only undervalued.
——— HOW THESE NUMBERS WERE COMPUTED ———
Screenshot — the live page rendered from the repo at 18-Aug-2026 (Chromium, light theme), EGX group, 3-month horizon, cropped to the first ~15 rows; column with truncated as-of dates trimmed. Real rows, e.g. Palm Hills +6% gap · 76% touch; Egypt Aluminum −17% gap · 20%.
"~783 graded observations; we have 5" and "verdict ~2027" — the page's own read-this-first disclosure, quoted, not our claim recomputed. Shipped 10-Aug-2026 (PR #133, "Ticker Picker carries every market, per-row engine fits").
Site tabs now: Home · Stocks · Metals · Compare · Trade · Portfolio · Ticker Picker · Calculator · Ledger · Methodology (a daily EGX news brief also publishes at /news.html, and a Real-Return Calculator answers "CDs, gold, or dollars?"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evidence slide, Prof G style: one chart, one baseline (the gold 90% line — a number means nothing without its target), one giant stat. "Exams" is the honest metaphor: each window is a forecast made blind and then graded.
——— JARGON ON THIS SLIDE ———
Walk-forward backtest — stand at a past date, use only information available then, forecast, check the real outcome, walk forward, repeat. No period reused.
Design target — 90% was the specification. Landing at 90.6% means the machine did what it promised; never say "exactly".
Over-coverage — a market ABOVE the gold line (Qatar 93.1%, Metals 93.8%, Egypt 92.6%) is arguably too wide, not too good — we say that out loud; it is what an un-gamed system looks like.
——— HOW THESE NUMBERS WERE COMPUTED ———
Per-market bars — inside/windows per engine/panels/{MKT}_*_3m.csv, 18-Aug-2026: Egypt 1,654/1,787 (92.6%), UAE 759/848 (89.5%), Saudi 420/486 (86.4%), USA 149/174 (85.6%), Korea 110/125 (88.0%), India 151/172 (87.8%), Qatar 162/174 (93.1%), Metals 167/178 (93.8%). Total 3,572/3,944 = 90.57%.
These are the pipeline's own stored in-band flags, i.e. each market scored under its live fitted (ν, width_cal) as of its last refit — not re-simulated for this deck.
12/13 banner — screenshot of the live site's own scoreboard strip (12 of 13 graded ledger forecasts inside; the miss is Samsung).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honesty moment — full ink, the deck's dramatic center (Prof G: make them feel something; here, the feeling is trust through a named failure). Designed against the hurricane-cone containment effect: showing the Samsung miss converts the one blemish into the strongest credibility asset.
——— JARGON ON THIS SLIDE ———
Cone / anchored / published band / realized — the forecast drawn widening into the future; its launch date and price; the range stated in advance; what the price actually did on the end date.
Calibration — stated odds matching reality. A properly calibrated 90% band MUST miss about one time in ten; misses arriving on schedule is evidence the system works.
₩ — Korean won; Samsung trades in Seoul.
——— HOW THESE NUMBERS WERE COMPUTED ———
1 in 10 — the complement of the 90% design target (live backtest miss rate 9.4%), the illustrative fraction, not a separately-computed number.
Samsung figures — that ledger row's own immutable fields (anchor 26-Jun-2026 at 339,500; band 277,676–430,413; realized 254,000; graded 27-Jul-2026). Unchanged since grading.
12 of 13 — assets/data.js LEDGER rows with realized_close populated: 13 graded (all 1-month so far), 12 inside their [p5,p95]. The graded names: PHDC, TMGH, EMFD, OCDI, ORHD, COMI, Gold, Silver, Samsung (miss), Kakao, LGES, TMPV, QNB.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velocity slide (Prof G: show, don't claim — the machine's growth rate IS the moat demo). Self-aware title on purpose: the deck aging in 15 days is the pitch.
——— JARGON ON THIS SLIDE ———
Unattended pipeline — post one refreshed price file and the system re-tests, re-fits and re-publishes that entire market in seconds, no human in the loop. It is why 17 names in 15 days is routine, not a sprint.
95% of daily traded value — deliberately NOT "95% of listed companies": the stocks accounting for 95% of the money actually changing hands. A far shorter list than it sounds.
Arabic — roadmap, not shipped: the public site is English today (an /ar URL layer is staged but redirects). Say it plainly if asked.
——— HOW THESE NUMBERS WERE COMPUTED ———
74 → 91 instruments and 161 → 199 ledger rows — v1 deck's own stated numbers (computed 30-Jul/3-Aug) vs today's live counts (cover note method).
12 new studies — new-coverage publishes merged 9–17 Aug per git history: MODON, AMR, FERTIGLB, PHAR, EGCH, EMPOWER, AIRARABIA, BOROUGE, DU, ADNOCDIST, ADNOCDRILL, ADNOCLS (re-publishes of existing names not counted).
Ticker Picker — merged 10-Aug-2026 (PR #133).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Monetization: (1) grow the investor base itself — accessible odds create new market entrants; (2) licence the platform per country / language / feature tier, white-label or API, under the bank's umbrella. No invented pricing — the model shape, not fabricated numbers.
——— JARGON ON THIS SLIDE ———
Licence — a recurring fee for the right to run the engine, not research reports bought one at a time.
White-label / API — under the bank's own brand with the Testahil name invisible / a data pipe the bank's own app renders inside its own interface.
Feature tier — pricing steps: base cones at one level; Ticker Picker, Compare, Trade, Portfolio in higher tiers.
Marginal cost — what one more market, language or stock costs. Near zero once the engine exists — the whole economics of the model.
First-mover — the first bank in the region to OWN publicly graded AI research, before a competitor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on light paper (the dark closer is the demo slide). Three phases: pilot, umbrella integration, joint model board plus resourced full-MENA expansion.
——— JARGON ON THIS SLIDE ———
Pilot / audited — a fixed-length trial (90 days, 25 names) where their own people check every result as it happens.
"The 25 names your clients hold most" — the pilot runs on their actual book, so the test is relevant to them rather than flattering to us.
Data room / verification script — the full calibration archive plus code their quants run to reproduce the headline 90.6% themselves before trusting it.
Under your umbrella / licensed perimeter — inside the partner's brand, systems and regulatory licence; advice only ever happens there, given by them.
Model board — a standing joint committee approving engine changes: oversight, not a vendor relationship.
Note the number updates with the record: v1 offered reproduction of 89.6% on 3,373 windows; the live archive now reproduces 90.6% on 3,944.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slide exists: a free pilot with no pre-agreed price, no named budget holder and no procurement timeline is unpaid consulting. Banks convert pilots when someone with budget authority commits in advance; they stall when the budget conversation is deferred to the end.
——— JARGON ON THIS SLIDE ———
Budget holder — the person who can actually authorise the spend; usually not the person who runs the pilot.
Procurement timeline — the bank's internal purchasing calendar; budgets are typically fixed annually, months in advance.
Build-operate-transfer / revenue share — Testahil builds and runs it, the partner takes ownership later at a price agreed today / the fee is a percentage of the revenue the engine helps generate.
——— ON PRICE (notes only, deliberate) ———
No figure appears on the slide. Arrive with a range settled in your own mind — "The gate" commits to an agreed price before day one and the question WILL be asked. If they ask for a number first, ask for scope first (markets, languages, tiers, seats); price follows scope. If they name a number first, do not accept or reject in the room — take it away, price the scope, come back. A single buyer with no competing bid sets the price only if you let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transition to the live demo — instead of talking about the math, look at the engine. Demo route that lands hardest, in order: (1) the Ticker Picker (the new thing — sort by reachability, flip the horizon, show the red read-this-first box: honesty as a feature); (2) one ticker page (Fertiglobe or ADNOC L&amp;S: the odds card, the cone, "Open the study/model/source register" buttons); (3) the Ledger ("Were we right?" — 12/13, the countdown to the next grading, Samsung kept red on the record).
——— JARGON ON THIS SLIDE ———
Validation study / leave-behind — a full worked example on one company (Tata Motors) with every assumption and source on the record, handed over for their specialists to attack afterwards.
"The same number the public sees" — nothing in the demo is a special build. It is the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built to be forwarded. The buyer's compliance, model-risk and vendor-risk teams decide this deal long before any regulator is consulted, and they will read the deck without Sherif in the room. Three answers: what publishes (ranges, never recommendations), who is accountable (a named human reviewer — under integration, the partner's own analyst), what can be inspected (fixed seed, documentation, the rejected-technique list, an append-only ledger).
——— LIKELY QUESTIONS ———
"What if you are hit by a bus?" — the pipeline is documented to the standard where an independent quant can reproduce it. Offer the reproduction test as evidence.
"Is this AI making recommendations?" — no. It publishes distributions. The recommendation, if any, is made by the partner's licensed staff.
"Data residency in Saudi or the UAE?" — market data and filings are public; nothing touches client data unless the partner asks for it, and residency is priced per market.
——— JARGON ———
Education only — general information, explicitly not a personal recommendation; the distinction that keeps the public site outside advice regulation.
Fixed seed — the simulation's randomness is reproducible; a reviewer re-running it gets our exact numbers back.
Append-only ledger — records are added, never altered or deleted; corrections are new entries with a named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 validation, and filings-only fundamentals — one page for the AI/quant reader.
——— JARGON ON THIS SLIDE ———
Carry / carry-anchored — the return for simply holding the asset (local risk-free minus yield); the simulation is centred on it, not on a predicted direction.
YZ / HAR / t — volatility measured from open-high-low-close (captures overnight gaps); blended across daily/weekly/monthly speeds (volatility clusters); fat-tailed bell curve (extreme moves rare but real). Tail and width fitted PER MARKET — Cairo and New York do not crash the same way.
Data-quality gate — every price file passes an automated check first: each exchange's own daily price limit defines what one session can physically do (Egypt ±20%, Korea ±30%), so impossible moves are caught without a guessed global threshold.
PASS / PARITY / FAIL — beats a carry-anchored random-walk benchmark with confidence / honestly calibrated but no proven edge yet / benchmark won. All published.
The rejected list — techniques built, tested and thrown out; named publicly because what a research shop rejected says as much as what it kept. CRPS-tuning looked better in-sample and LOST out of sample — the standing promotion rule exists because of it.
The beta rule — adopted 10-Aug-2026: every beta regresses on the exchange's published index (EGX30, FADGI, TASI, …), never a composite of covered names; every legacy beta was re-derived. On the first name run both ways the composite understated beta ~40% and overstated fair value 21.6%.
——— NUMBER PROVENANCE ———
"One robust name-level FAIL" — EXTRA (United Electronics, Tadawul), read live from the fit registry 18-Aug-2026; kept on the record, unedited. v1 said "three" from an older registry state — the count is volatile; always re-read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dense per-market table, recomputed live 18-Aug-2026 from engine/panels (the same counts as slide 6's chart).
——— JARGON ON THIS SLIDE ———
Windows / inside / miss rate — completed historical test periods; how many landed within the stated 90% band; the share outside (supposed to be ~10% — a market at 6.2% is arguably too wide, not too good).
Verdict — a DIFFERENT computation from the miss-rate column: the calibration gate's scale-normalized CRPS-skill test against a carry-anchored benchmark (band containment can be bought with width; skill cannot). That is why Qatar reads PARITY despite a near-target miss rate.
Robust FAIL — a failure that survives re-testing across bootstrap configurations, not one unlucky slice. EXTRA (SA) carries the one current name-level robust FAIL (skill −0.037, CI excluding zero), read live from the fit registry.
——— HOW THESE NUMBERS WERE COMPUTED ———
Names/Windows/Inside — row counts and in90 flags per engine/panels/{MKT}_{NAME}_3m.csv summed per market (the pipeline's own stored scoring under each market's live fit). Verdicts — market_verdict per market in the live fit registry: Egypt PASS, all others PARITY.
Deliberate footnotes: the UAE panel lag (3 names await their first refit) and the metals honesty line are on the slide, not buried here — a bank's quant WILL find both, so we say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the objection every bank raises. Order matters: concede the category first (vendors are paid B2B businesses, brokers already budget for exactly this — the strongest evidence the spend is normal), then narrow (their coverage is developed-market and feed-built; it does not reach EGX/ADX/Tadawul small-mids built from local filings). Never argue you are better at what they already do well.
——— IF PRESSED ———
"They could add local coverage." They could. It would take the same fifteen years of restated local price history and the same filings work, and their public record would still start at zero.
"Their brand is stronger." Yes. That is why this is offered under YOUR brand, not ours.
——— JARGON ———
Vendor feed — pre-packaged price and fundamentals data, a step removed from the filed accounts.
Model risk on your balance sheet — build it yourself and you own its failures; buy it and part of that sits with the supplier.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Operate under the partner's umbrella. Three verbs — Integrate (their own AI-wealth-tech playbook), License (advice enabled inside their perimeter; the public site stays education-only), Govern (the joint model board — it doubles as the partner's oversight and comfort).
——— JARGON ———
Advisor desktop / flagship app — the internal screen relationship managers use with a client / the bank's main customer-facing mobile app.
Suitability-aware — matched to that individual's risk tolerance, objectives and circumstances, as regulators require.
Regulated perimeter — the boundary of the partner's licence: inside it our calibrated numbers can power genuine advice from their licensed teams; outside it they stay educational.
Calibration audit — checking a stated 90% band really contains ~90% of outcomes; the board's core oversight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intelligence only — both Top-3 lists exactly as the site's own data computes them on 18-Aug-2026. The two-clocks disagreement is framed as the product, and the "not picks" guard stays.
——— JARGON ON THIS SLIDE ———
Gap to fair value — how far today's price sits below the study's fair value. "+72.1%" means fair value sits 72.1% above the price — NOT a prediction it gets there (that is exactly what the Ticker Picker's reachability column tests).
3-month median move — the middle of the 50,000 simulated outcomes: half land above, half below. The centre of the odds, not a target.
Lens — which method produced a number (Fundamental / Simulation / Chart); every figure on the site carries its tag.
——— HOW THESE NUMBERS WERE COMPUTED ———
Both lists — sorting the live TICKERS object in assets/data.js: fundamental by (fair.base/spot − 1) descending → EMFD +72.1% (spot close 28-Jul), BURJEEL +54.2% (24-Jul), ISPH +51.6% (22-Jul); simulation by (dist.t60.p50/spot − 1) descending → BTFH +4.9%, SCEM +4.8%, KABO +4.8%. vs the 30-Jul v1 read: fundamental unchanged; SCEM entered the simulation list at #2 (was RAYA).
Spot dates differ per name (each name's last posted close) — the "as computed" honesty matters more than false simultaneity.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726"/>
        </a:solidFill>
      </p:bgPr>
    </p:bg>
    <p:spTree>
      <p:nvGrpSpPr>
        <p:cNvPr id="1" name=""/>
        <p:cNvGrpSpPr/>
        <p:nvPr/>
      </p:nvGrpSpPr>
      <p:grpSpPr>
        <a:xfrm>
          <a:off x="0" y="0"/>
          <a:ext cx="0" cy="0"/>
          <a:chOff x="0" y="0"/>
          <a:chExt cx="0" cy="0"/>
        </a:xfrm>
      </p:grpSpPr>
      <p:pic>
        <p:nvPicPr>
          <p:cNvPr id="2" name="Image 0" descr="asset_cover_fan.png">    </p:cNvPr>
          <p:cNvPicPr>
            <a:picLocks noChangeAspect="1"/>
          </p:cNvPicPr>
          <p:nvPr/>
        </p:nvPicPr>
        <p:blipFill>
          <a:blip r:embed="rId1">
            <a:alphaModFix amt="78000"/>
          </a:blip>
          <a:stretch>
            <a:fillRect/>
          </a:stretch>
        </p:blipFill>
        <p:spPr>
          <a:xfrm>
            <a:off x="5239512" y="3090672"/>
            <a:ext cx="6949440" cy="3767328"/>
          </a:xfrm>
          <a:prstGeom prst="rect">
            <a:avLst/>
          </a:prstGeom>
        </p:spPr>
      </p:pic>
      <p:sp>
        <p:nvSpPr>
          <p:cNvPr id="3"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INDEPENDENT VALUATION STUDIES · PARTNERSHIP BRIEF</a:t>
            </a:r>
            <a:endParaRPr lang="en-US" sz="1100" dirty="0"/>
          </a:p>
        </p:txBody>
      </p:sp>
      <p:sp>
        <p:nvSpPr>
          <p:cNvPr id="4" name="Text 1"/>
          <p:cNvSpPr/>
          <p:nvPr/>
        </p:nvSpPr>
        <p:spPr>
          <a:xfrm>
            <a:off x="594360" y="841248"/>
            <a:ext cx="7315200" cy="91440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testahil</a:t>
            </a:r>
            <a:pPr indent="0" marL="0">
              <a:buNone/>
            </a:pPr>
            <a:r>
              <a:rPr lang="en-US" sz="5200" b="1" dirty="0">
                <a:solidFill>
                  <a:srgbClr val="C0A45F"/>
                </a:solidFill>
                <a:latin typeface="Arial" pitchFamily="34" charset="0"/>
                <a:ea typeface="Arial" pitchFamily="34" charset="-122"/>
                <a:cs typeface="Arial" pitchFamily="34" charset="-120"/>
              </a:rPr>
              <a:t>?</a:t>
            </a:r>
            <a:endParaRPr lang="en-US" sz="5200" dirty="0"/>
          </a:p>
        </p:txBody>
      </p:sp>
      <p:sp>
        <p:nvSpPr>
          <p:cNvPr id="5" name="Text 2"/>
          <p:cNvSpPr/>
          <p:nvPr/>
        </p:nvSpPr>
        <p:spPr>
          <a:xfrm>
            <a:off x="594360" y="1847088"/>
            <a:ext cx="9144000" cy="73152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Distributions, not tips.</a:t>
            </a:r>
            <a:endParaRPr lang="en-US" sz="3800" dirty="0"/>
          </a:p>
        </p:txBody>
      </p:sp>
      <p:sp>
        <p:nvSpPr>
          <p:cNvPr id="6" name="Text 3"/>
          <p:cNvSpPr/>
          <p:nvPr/>
        </p:nvSpPr>
        <p:spPr>
          <a:xfrm>
            <a:off x="594360" y="2670048"/>
            <a:ext cx="6492240" cy="1005840"/>
          </a:xfrm>
          <a:prstGeom prst="rect">
            <a:avLst/>
          </a:prstGeom>
          <a:noFill/>
          <a:ln/>
        </p:spPr>
        <p:txBody>
          <a:bodyPr wrap="square" lIns="0" tIns="0" rIns="0" bIns="0" rtlCol="0" anchor="ctr"/>
          <a:lstStyle/>
          <a:p>
            <a:pPr indent="0" marL="0">
              <a:buNone/>
            </a:pPr>
            <a:r>
              <a:rPr lang="en-US" sz="1400" dirty="0">
                <a:solidFill>
                  <a:srgbClr val="C9D6D2"/>
                </a:solidFill>
                <a:latin typeface="Arial" pitchFamily="34" charset="0"/>
                <a:ea typeface="Arial" pitchFamily="34" charset="-122"/>
                <a:cs typeface="Arial" pitchFamily="34" charset="-120"/>
              </a:rPr>
              <a:t>Independent, probabilistic research for the modern wealth platform — machine-generated, analyst-reviewed, every forecast published, time-stamped and graded in public. Never edited.</a:t>
            </a:r>
            <a:endParaRPr lang="en-US" sz="1400" dirty="0"/>
          </a:p>
        </p:txBody>
      </p:sp>
      <p:sp>
        <p:nvSpPr>
          <p:cNvPr id="7" name="Text 4"/>
          <p:cNvSpPr/>
          <p:nvPr/>
        </p:nvSpPr>
        <p:spPr>
          <a:xfrm>
            <a:off x="594360"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91</a:t>
            </a:r>
            <a:endParaRPr lang="en-US" sz="4400" dirty="0"/>
          </a:p>
        </p:txBody>
      </p:sp>
      <p:sp>
        <p:nvSpPr>
          <p:cNvPr id="8" name="Text 5"/>
          <p:cNvSpPr/>
          <p:nvPr/>
        </p:nvSpPr>
        <p:spPr>
          <a:xfrm>
            <a:off x="594360" y="4846320"/>
            <a:ext cx="2615184" cy="685800"/>
          </a:xfrm>
          <a:prstGeom prst="rect">
            <a:avLst/>
          </a:prstGeom>
          <a:noFill/>
          <a:ln/>
        </p:spPr>
        <p:txBody>
          <a:bodyPr wrap="square" lIns="0" tIns="0" rIns="0" bIns="0" rtlCol="0" anchor="ctr"/>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INSTRUMENTS · 8 MARKETS —</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A FULL STUDY BEHIND EVERY ONE</a:t>
            </a:r>
            <a:endParaRPr lang="en-US" sz="950" dirty="0"/>
          </a:p>
        </p:txBody>
      </p:sp>
      <p:sp>
        <p:nvSpPr>
          <p:cNvPr id="9" name="Text 6"/>
          <p:cNvSpPr/>
          <p:nvPr/>
        </p:nvSpPr>
        <p:spPr>
          <a:xfrm>
            <a:off x="3392424"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3,944</a:t>
            </a:r>
            <a:endParaRPr lang="en-US" sz="4400" dirty="0"/>
          </a:p>
        </p:txBody>
      </p:sp>
      <p:sp>
        <p:nvSpPr>
          <p:cNvPr id="10" name="Text 7"/>
          <p:cNvSpPr/>
          <p:nvPr/>
        </p:nvSpPr>
        <p:spPr>
          <a:xfrm>
            <a:off x="3392424" y="4846320"/>
            <a:ext cx="2615184" cy="685800"/>
          </a:xfrm>
          <a:prstGeom prst="rect">
            <a:avLst/>
          </a:prstGeom>
          <a:noFill/>
          <a:ln/>
        </p:spPr>
        <p:txBody>
          <a:bodyPr wrap="square" lIns="0" tIns="0" rIns="0" bIns="0" rtlCol="0" anchor="ctr"/>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BACKTEST WINDOWS ·</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UP TO 15 YEARS PER NAME</a:t>
            </a:r>
            <a:endParaRPr lang="en-US" sz="950" dirty="0"/>
          </a:p>
        </p:txBody>
      </p:sp>
      <p:sp>
        <p:nvSpPr>
          <p:cNvPr id="11" name="Text 8"/>
          <p:cNvSpPr/>
          <p:nvPr/>
        </p:nvSpPr>
        <p:spPr>
          <a:xfrm>
            <a:off x="6190488"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90.6%</a:t>
            </a:r>
            <a:endParaRPr lang="en-US" sz="4400" dirty="0"/>
          </a:p>
        </p:txBody>
      </p:sp>
      <p:sp>
        <p:nvSpPr>
          <p:cNvPr id="12" name="Text 9"/>
          <p:cNvSpPr/>
          <p:nvPr/>
        </p:nvSpPr>
        <p:spPr>
          <a:xfrm>
            <a:off x="6190488" y="4846320"/>
            <a:ext cx="2615184" cy="685800"/>
          </a:xfrm>
          <a:prstGeom prst="rect">
            <a:avLst/>
          </a:prstGeom>
          <a:noFill/>
          <a:ln/>
        </p:spPr>
        <p:txBody>
          <a:bodyPr wrap="square" lIns="0" tIns="0" rIns="0" bIns="0" rtlCol="0" anchor="ctr"/>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LANDED INSIDE THE</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STATED 90% BAND</a:t>
            </a:r>
            <a:endParaRPr lang="en-US" sz="950" dirty="0"/>
          </a:p>
        </p:txBody>
      </p:sp>
      <p:sp>
        <p:nvSpPr>
          <p:cNvPr id="13" name="Text 10"/>
          <p:cNvSpPr/>
          <p:nvPr/>
        </p:nvSpPr>
        <p:spPr>
          <a:xfrm>
            <a:off x="8988552"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199</a:t>
            </a:r>
            <a:endParaRPr lang="en-US" sz="4400" dirty="0"/>
          </a:p>
        </p:txBody>
      </p:sp>
      <p:sp>
        <p:nvSpPr>
          <p:cNvPr id="14" name="Text 11"/>
          <p:cNvSpPr/>
          <p:nvPr/>
        </p:nvSpPr>
        <p:spPr>
          <a:xfrm>
            <a:off x="8988552" y="4846320"/>
            <a:ext cx="2615184" cy="685800"/>
          </a:xfrm>
          <a:prstGeom prst="rect">
            <a:avLst/>
          </a:prstGeom>
          <a:noFill/>
          <a:ln/>
        </p:spPr>
        <p:txBody>
          <a:bodyPr wrap="square" lIns="0" tIns="0" rIns="0" bIns="0" rtlCol="0" anchor="ctr"/>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PUBLIC FORECASTS</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SINCE JUN-2026</a:t>
            </a:r>
            <a:endParaRPr lang="en-US" sz="950" dirty="0"/>
          </a:p>
        </p:txBody>
      </p:sp>
      <p:sp>
        <p:nvSpPr>
          <p:cNvPr id="15" name="Text 12"/>
          <p:cNvSpPr/>
          <p:nvPr/>
        </p:nvSpPr>
        <p:spPr>
          <a:xfrm>
            <a:off x="594360" y="5742432"/>
            <a:ext cx="8229600" cy="457200"/>
          </a:xfrm>
          <a:prstGeom prst="rect">
            <a:avLst/>
          </a:prstGeom>
          <a:noFill/>
          <a:ln/>
        </p:spPr>
        <p:txBody>
          <a:bodyPr wrap="square" lIns="0" tIns="0" rIns="0" bIns="0" rtlCol="0" anchor="ctr"/>
          <a:lstStyle/>
          <a:p>
            <a:pPr indent="0" marL="0">
              <a:buNone/>
            </a:pPr>
            <a:r>
              <a:rPr lang="en-US" sz="1700" i="1" dirty="0">
                <a:solidFill>
                  <a:srgbClr val="FFFFFF"/>
                </a:solidFill>
                <a:latin typeface="Arial" pitchFamily="34" charset="0"/>
                <a:ea typeface="Arial" pitchFamily="34" charset="-122"/>
                <a:cs typeface="Arial" pitchFamily="34" charset="-120"/>
              </a:rPr>
              <a:t>One in ten lands outside — by design.</a:t>
            </a:r>
            <a:endParaRPr lang="en-US" sz="1700" dirty="0"/>
          </a:p>
        </p:txBody>
      </p:sp>
      <p:sp>
        <p:nvSpPr>
          <p:cNvPr id="16" name="Text 13"/>
          <p:cNvSpPr/>
          <p:nvPr/>
        </p:nvSpPr>
        <p:spPr>
          <a:xfrm>
            <a:off x="594360" y="6446520"/>
            <a:ext cx="8229600" cy="274320"/>
          </a:xfrm>
          <a:prstGeom prst="rect">
            <a:avLst/>
          </a:prstGeom>
          <a:noFill/>
          <a:ln/>
        </p:spPr>
        <p:txBody>
          <a:bodyPr wrap="square" lIns="0" tIns="0" rIns="0" bIns="0" rtlCol="0" anchor="ctr"/>
          <a:lstStyle/>
          <a:p>
            <a:pPr indent="0" marL="0">
              <a:buNone/>
            </a:pPr>
            <a:r>
              <a:rPr lang="en-US" sz="1000" dirty="0">
                <a:solidFill>
                  <a:srgbClr val="9FB4AF"/>
                </a:solidFill>
                <a:latin typeface="Arial" pitchFamily="34" charset="0"/>
                <a:ea typeface="Arial" pitchFamily="34" charset="-122"/>
                <a:cs typeface="Arial" pitchFamily="34" charset="-120"/>
              </a:rPr>
              <a:t>Prepared for partnership discussion · August 2026 · testahil.com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02 · THE PAIN</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Retail is booming. Research can’t reach it.</a:t>
            </a:r>
            <a:endParaRPr lang="en-US" sz="3400" dirty="0"/>
          </a:p>
        </p:txBody>
      </p:sp>
      <p:sp>
        <p:nvSpPr>
          <p:cNvPr id="4" name="Text 2"/>
          <p:cNvSpPr/>
          <p:nvPr/>
        </p:nvSpPr>
        <p:spPr>
          <a:xfrm>
            <a:off x="594360" y="1481328"/>
            <a:ext cx="6400800" cy="685800"/>
          </a:xfrm>
          <a:prstGeom prst="rect">
            <a:avLst/>
          </a:prstGeom>
          <a:noFill/>
          <a:ln/>
        </p:spPr>
        <p:txBody>
          <a:bodyPr wrap="square" lIns="0" tIns="0" rIns="0" bIns="0" rtlCol="0" anchor="ctr"/>
          <a:lstStyle/>
          <a:p>
            <a:pPr indent="0" marL="0">
              <a:buNone/>
            </a:pPr>
            <a:r>
              <a:rPr lang="en-US" sz="1500" dirty="0">
                <a:solidFill>
                  <a:srgbClr val="5C6B70"/>
                </a:solidFill>
                <a:latin typeface="Arial" pitchFamily="34" charset="0"/>
                <a:ea typeface="Arial" pitchFamily="34" charset="-122"/>
                <a:cs typeface="Arial" pitchFamily="34" charset="-120"/>
              </a:rPr>
              <a:t>Excellent research already exists — written for institutions, in twenty-page reports a first-time investor will never open.</a:t>
            </a:r>
            <a:endParaRPr lang="en-US" sz="1500" dirty="0"/>
          </a:p>
        </p:txBody>
      </p:sp>
      <p:sp>
        <p:nvSpPr>
          <p:cNvPr id="5" name="Text 3"/>
          <p:cNvSpPr/>
          <p:nvPr/>
        </p:nvSpPr>
        <p:spPr>
          <a:xfrm>
            <a:off x="594360" y="2487168"/>
            <a:ext cx="2743200" cy="274320"/>
          </a:xfrm>
          <a:prstGeom prst="rect">
            <a:avLst/>
          </a:prstGeom>
          <a:noFill/>
          <a:ln/>
        </p:spPr>
        <p:txBody>
          <a:bodyPr wrap="square" lIns="0" tIns="0" rIns="0" bIns="0" rtlCol="0" anchor="ctr"/>
          <a:lstStyle/>
          <a:p>
            <a:pPr indent="0" marL="0">
              <a:buNone/>
            </a:pPr>
            <a:r>
              <a:rPr lang="en-US" sz="1250" b="1" spc="200" kern="0" dirty="0">
                <a:solidFill>
                  <a:srgbClr val="12796B"/>
                </a:solidFill>
                <a:latin typeface="Arial" pitchFamily="34" charset="0"/>
                <a:ea typeface="Arial" pitchFamily="34" charset="-122"/>
                <a:cs typeface="Arial" pitchFamily="34" charset="-120"/>
              </a:rPr>
              <a:t>THE SQUEEZE</a:t>
            </a:r>
            <a:endParaRPr lang="en-US" sz="1250" dirty="0"/>
          </a:p>
        </p:txBody>
      </p:sp>
      <p:sp>
        <p:nvSpPr>
          <p:cNvPr id="6" name="Text 4"/>
          <p:cNvSpPr/>
          <p:nvPr/>
        </p:nvSpPr>
        <p:spPr>
          <a:xfrm>
            <a:off x="594360" y="2816352"/>
            <a:ext cx="6309360" cy="960120"/>
          </a:xfrm>
          <a:prstGeom prst="rect">
            <a:avLst/>
          </a:prstGeom>
          <a:noFill/>
          <a:ln/>
        </p:spPr>
        <p:txBody>
          <a:bodyPr wrap="square" lIns="0" tIns="0" rIns="0" bIns="0" rtlCol="0" anchor="t"/>
          <a:lstStyle/>
          <a:p>
            <a:pPr indent="0" marL="0">
              <a:buNone/>
            </a:pPr>
            <a:r>
              <a:rPr lang="en-US" sz="1450" dirty="0">
                <a:solidFill>
                  <a:srgbClr val="0E2726"/>
                </a:solidFill>
                <a:latin typeface="Arial" pitchFamily="34" charset="0"/>
                <a:ea typeface="Arial" pitchFamily="34" charset="-122"/>
                <a:cs typeface="Arial" pitchFamily="34" charset="-120"/>
              </a:rPr>
              <a:t>A record wave of first-time investors is entering Middle East and emerging-market exchanges — faster than any research desk can be grown to meet them.</a:t>
            </a:r>
            <a:endParaRPr lang="en-US" sz="1450" dirty="0"/>
          </a:p>
        </p:txBody>
      </p:sp>
      <p:sp>
        <p:nvSpPr>
          <p:cNvPr id="7" name="Text 5"/>
          <p:cNvSpPr/>
          <p:nvPr/>
        </p:nvSpPr>
        <p:spPr>
          <a:xfrm>
            <a:off x="594360" y="3904488"/>
            <a:ext cx="2743200" cy="274320"/>
          </a:xfrm>
          <a:prstGeom prst="rect">
            <a:avLst/>
          </a:prstGeom>
          <a:noFill/>
          <a:ln/>
        </p:spPr>
        <p:txBody>
          <a:bodyPr wrap="square" lIns="0" tIns="0" rIns="0" bIns="0" rtlCol="0" anchor="ctr"/>
          <a:lstStyle/>
          <a:p>
            <a:pPr indent="0" marL="0">
              <a:buNone/>
            </a:pPr>
            <a:r>
              <a:rPr lang="en-US" sz="1250" b="1" spc="200" kern="0" dirty="0">
                <a:solidFill>
                  <a:srgbClr val="12796B"/>
                </a:solidFill>
                <a:latin typeface="Arial" pitchFamily="34" charset="0"/>
                <a:ea typeface="Arial" pitchFamily="34" charset="-122"/>
                <a:cs typeface="Arial" pitchFamily="34" charset="-120"/>
              </a:rPr>
              <a:t>THE RESULT</a:t>
            </a:r>
            <a:endParaRPr lang="en-US" sz="1250" dirty="0"/>
          </a:p>
        </p:txBody>
      </p:sp>
      <p:sp>
        <p:nvSpPr>
          <p:cNvPr id="8" name="Text 6"/>
          <p:cNvSpPr/>
          <p:nvPr/>
        </p:nvSpPr>
        <p:spPr>
          <a:xfrm>
            <a:off x="594360" y="4233672"/>
            <a:ext cx="6309360" cy="960120"/>
          </a:xfrm>
          <a:prstGeom prst="rect">
            <a:avLst/>
          </a:prstGeom>
          <a:noFill/>
          <a:ln/>
        </p:spPr>
        <p:txBody>
          <a:bodyPr wrap="square" lIns="0" tIns="0" rIns="0" bIns="0" rtlCol="0" anchor="t"/>
          <a:lstStyle/>
          <a:p>
            <a:pPr indent="0" marL="0">
              <a:buNone/>
            </a:pPr>
            <a:r>
              <a:rPr lang="en-US" sz="1450" dirty="0">
                <a:solidFill>
                  <a:srgbClr val="0E2726"/>
                </a:solidFill>
                <a:latin typeface="Arial" pitchFamily="34" charset="0"/>
                <a:ea typeface="Arial" pitchFamily="34" charset="-122"/>
                <a:cs typeface="Arial" pitchFamily="34" charset="-120"/>
              </a:rPr>
              <a:t>They trade without guidance, lose money, and churn — and the most expensive client a platform can acquire is the one who leaves burned.</a:t>
            </a:r>
            <a:endParaRPr lang="en-US" sz="1450" dirty="0"/>
          </a:p>
        </p:txBody>
      </p:sp>
      <p:sp>
        <p:nvSpPr>
          <p:cNvPr id="9" name="Shape 7"/>
          <p:cNvSpPr/>
          <p:nvPr/>
        </p:nvSpPr>
        <p:spPr>
          <a:xfrm>
            <a:off x="7406640" y="1481328"/>
            <a:ext cx="4187952" cy="3703320"/>
          </a:xfrm>
          <a:prstGeom prst="roundRect">
            <a:avLst>
              <a:gd name="adj" fmla="val 1975"/>
            </a:avLst>
          </a:prstGeom>
          <a:solidFill>
            <a:srgbClr val="FFFFFF"/>
          </a:solidFill>
          <a:ln w="12700">
            <a:solidFill>
              <a:srgbClr val="D9E4E1"/>
            </a:solidFill>
            <a:prstDash val="solid"/>
          </a:ln>
        </p:spPr>
      </p:sp>
      <p:sp>
        <p:nvSpPr>
          <p:cNvPr id="10" name="Text 8"/>
          <p:cNvSpPr/>
          <p:nvPr/>
        </p:nvSpPr>
        <p:spPr>
          <a:xfrm>
            <a:off x="7772400" y="1783080"/>
            <a:ext cx="3566160" cy="731520"/>
          </a:xfrm>
          <a:prstGeom prst="rect">
            <a:avLst/>
          </a:prstGeom>
          <a:noFill/>
          <a:ln/>
        </p:spPr>
        <p:txBody>
          <a:bodyPr wrap="square" lIns="0" tIns="0" rIns="0" bIns="0" rtlCol="0" anchor="ctr"/>
          <a:lstStyle/>
          <a:p>
            <a:pPr indent="0" marL="0">
              <a:buNone/>
            </a:pPr>
            <a:r>
              <a:rPr lang="en-US" sz="4700" b="1" dirty="0">
                <a:solidFill>
                  <a:srgbClr val="12796B"/>
                </a:solidFill>
                <a:latin typeface="Arial" pitchFamily="34" charset="0"/>
                <a:ea typeface="Arial" pitchFamily="34" charset="-122"/>
                <a:cs typeface="Arial" pitchFamily="34" charset="-120"/>
              </a:rPr>
              <a:t>276,000</a:t>
            </a:r>
            <a:endParaRPr lang="en-US" sz="4700" dirty="0"/>
          </a:p>
        </p:txBody>
      </p:sp>
      <p:sp>
        <p:nvSpPr>
          <p:cNvPr id="11" name="Text 9"/>
          <p:cNvSpPr/>
          <p:nvPr/>
        </p:nvSpPr>
        <p:spPr>
          <a:xfrm>
            <a:off x="7772400" y="2542032"/>
            <a:ext cx="3474720" cy="502920"/>
          </a:xfrm>
          <a:prstGeom prst="rect">
            <a:avLst/>
          </a:prstGeom>
          <a:noFill/>
          <a:ln/>
        </p:spPr>
        <p:txBody>
          <a:bodyPr wrap="square" lIns="0" tIns="0" rIns="0" bIns="0" rtlCol="0" anchor="ctr"/>
          <a:lstStyle/>
          <a:p>
            <a:pPr indent="0" marL="0">
              <a:buNone/>
            </a:pPr>
            <a:r>
              <a:rPr lang="en-US" sz="1200" dirty="0">
                <a:solidFill>
                  <a:srgbClr val="5C6B70"/>
                </a:solidFill>
                <a:latin typeface="Arial" pitchFamily="34" charset="0"/>
                <a:ea typeface="Arial" pitchFamily="34" charset="-122"/>
                <a:cs typeface="Arial" pitchFamily="34" charset="-120"/>
              </a:rPr>
              <a:t>registered investors in Egypt — up ~20% in one year</a:t>
            </a:r>
            <a:endParaRPr lang="en-US" sz="1200" dirty="0"/>
          </a:p>
        </p:txBody>
      </p:sp>
      <p:sp>
        <p:nvSpPr>
          <p:cNvPr id="12" name="Text 10"/>
          <p:cNvSpPr/>
          <p:nvPr/>
        </p:nvSpPr>
        <p:spPr>
          <a:xfrm>
            <a:off x="7772400" y="3310128"/>
            <a:ext cx="3566160" cy="731520"/>
          </a:xfrm>
          <a:prstGeom prst="rect">
            <a:avLst/>
          </a:prstGeom>
          <a:noFill/>
          <a:ln/>
        </p:spPr>
        <p:txBody>
          <a:bodyPr wrap="square" lIns="0" tIns="0" rIns="0" bIns="0" rtlCol="0" anchor="ctr"/>
          <a:lstStyle/>
          <a:p>
            <a:pPr indent="0" marL="0">
              <a:buNone/>
            </a:pPr>
            <a:r>
              <a:rPr lang="en-US" sz="4700" b="1" dirty="0">
                <a:solidFill>
                  <a:srgbClr val="C0A45F"/>
                </a:solidFill>
                <a:latin typeface="Arial" pitchFamily="34" charset="0"/>
                <a:ea typeface="Arial" pitchFamily="34" charset="-122"/>
                <a:cs typeface="Arial" pitchFamily="34" charset="-120"/>
              </a:rPr>
              <a:t>+42%</a:t>
            </a:r>
            <a:endParaRPr lang="en-US" sz="4700" dirty="0"/>
          </a:p>
        </p:txBody>
      </p:sp>
      <p:sp>
        <p:nvSpPr>
          <p:cNvPr id="13" name="Text 11"/>
          <p:cNvSpPr/>
          <p:nvPr/>
        </p:nvSpPr>
        <p:spPr>
          <a:xfrm>
            <a:off x="7772400" y="4069080"/>
            <a:ext cx="3474720" cy="365760"/>
          </a:xfrm>
          <a:prstGeom prst="rect">
            <a:avLst/>
          </a:prstGeom>
          <a:noFill/>
          <a:ln/>
        </p:spPr>
        <p:txBody>
          <a:bodyPr wrap="square" lIns="0" tIns="0" rIns="0" bIns="0" rtlCol="0" anchor="ctr"/>
          <a:lstStyle/>
          <a:p>
            <a:pPr indent="0" marL="0">
              <a:buNone/>
            </a:pPr>
            <a:r>
              <a:rPr lang="en-US" sz="1200" dirty="0">
                <a:solidFill>
                  <a:srgbClr val="5C6B70"/>
                </a:solidFill>
                <a:latin typeface="Arial" pitchFamily="34" charset="0"/>
                <a:ea typeface="Arial" pitchFamily="34" charset="-122"/>
                <a:cs typeface="Arial" pitchFamily="34" charset="-120"/>
              </a:rPr>
              <a:t>Egyptian market capitalisation, 2025</a:t>
            </a:r>
            <a:endParaRPr lang="en-US" sz="1200" dirty="0"/>
          </a:p>
        </p:txBody>
      </p:sp>
      <p:sp>
        <p:nvSpPr>
          <p:cNvPr id="14" name="Text 12"/>
          <p:cNvSpPr/>
          <p:nvPr/>
        </p:nvSpPr>
        <p:spPr>
          <a:xfrm>
            <a:off x="7772400" y="4736592"/>
            <a:ext cx="3566160" cy="320040"/>
          </a:xfrm>
          <a:prstGeom prst="rect">
            <a:avLst/>
          </a:prstGeom>
          <a:noFill/>
          <a:ln/>
        </p:spPr>
        <p:txBody>
          <a:bodyPr wrap="square" lIns="0" tIns="0" rIns="0" bIns="0" rtlCol="0" anchor="ctr"/>
          <a:lstStyle/>
          <a:p>
            <a:pPr indent="0" marL="0">
              <a:buNone/>
            </a:pPr>
            <a:r>
              <a:rPr lang="en-US" sz="900" i="1" dirty="0">
                <a:solidFill>
                  <a:srgbClr val="7A8A86"/>
                </a:solidFill>
                <a:latin typeface="Arial" pitchFamily="34" charset="0"/>
                <a:ea typeface="Arial" pitchFamily="34" charset="-122"/>
                <a:cs typeface="Arial" pitchFamily="34" charset="-120"/>
              </a:rPr>
              <a:t>EGX Chairman · Al Arabiya · 29 Dec 2025</a:t>
            </a:r>
            <a:endParaRPr lang="en-US" sz="900" dirty="0"/>
          </a:p>
        </p:txBody>
      </p:sp>
      <p:sp>
        <p:nvSpPr>
          <p:cNvPr id="15" name="Text 13"/>
          <p:cNvSpPr/>
          <p:nvPr/>
        </p:nvSpPr>
        <p:spPr>
          <a:xfrm>
            <a:off x="594360" y="5806440"/>
            <a:ext cx="10058400" cy="411480"/>
          </a:xfrm>
          <a:prstGeom prst="rect">
            <a:avLst/>
          </a:prstGeom>
          <a:noFill/>
          <a:ln/>
        </p:spPr>
        <p:txBody>
          <a:bodyPr wrap="square" lIns="0" tIns="0" rIns="0" bIns="0" rtlCol="0" anchor="ctr"/>
          <a:lstStyle/>
          <a:p>
            <a:pPr indent="0" marL="0">
              <a:buNone/>
            </a:pPr>
            <a:r>
              <a:rPr lang="en-US" sz="1600" i="1" dirty="0">
                <a:solidFill>
                  <a:srgbClr val="0E2726"/>
                </a:solidFill>
                <a:latin typeface="Arial" pitchFamily="34" charset="0"/>
                <a:ea typeface="Arial" pitchFamily="34" charset="-122"/>
                <a:cs typeface="Arial" pitchFamily="34" charset="-120"/>
              </a:rPr>
              <a:t>The wave is the opportunity — and, unguided, it is also the churn machine.</a:t>
            </a:r>
            <a:endParaRPr lang="en-US" sz="1600" dirty="0"/>
          </a:p>
        </p:txBody>
      </p:sp>
      <p:sp>
        <p:nvSpPr>
          <p:cNvPr id="16" name="Text 14"/>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03 · THE PAIN</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Not a quality problem. An arithmetic one.</a:t>
            </a:r>
            <a:endParaRPr lang="en-US" sz="3400" dirty="0"/>
          </a:p>
        </p:txBody>
      </p:sp>
      <p:sp>
        <p:nvSpPr>
          <p:cNvPr id="4" name="Shape 2"/>
          <p:cNvSpPr/>
          <p:nvPr/>
        </p:nvSpPr>
        <p:spPr>
          <a:xfrm>
            <a:off x="594360" y="1627632"/>
            <a:ext cx="2331720" cy="475488"/>
          </a:xfrm>
          <a:prstGeom prst="roundRect">
            <a:avLst>
              <a:gd name="adj" fmla="val 11538"/>
            </a:avLst>
          </a:prstGeom>
          <a:solidFill>
            <a:srgbClr val="5C6B70"/>
          </a:solidFill>
          <a:ln/>
        </p:spPr>
      </p:sp>
      <p:sp>
        <p:nvSpPr>
          <p:cNvPr id="5" name="Text 3"/>
          <p:cNvSpPr/>
          <p:nvPr/>
        </p:nvSpPr>
        <p:spPr>
          <a:xfrm>
            <a:off x="758952" y="1645920"/>
            <a:ext cx="210312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40–60</a:t>
            </a:r>
            <a:endParaRPr lang="en-US" sz="1700" dirty="0"/>
          </a:p>
        </p:txBody>
      </p:sp>
      <p:sp>
        <p:nvSpPr>
          <p:cNvPr id="6" name="Text 4"/>
          <p:cNvSpPr/>
          <p:nvPr/>
        </p:nvSpPr>
        <p:spPr>
          <a:xfrm>
            <a:off x="3127248" y="1645920"/>
            <a:ext cx="846734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names one desk of analysts can carry with real depth</a:t>
            </a:r>
            <a:endParaRPr lang="en-US" sz="1250" dirty="0"/>
          </a:p>
        </p:txBody>
      </p:sp>
      <p:sp>
        <p:nvSpPr>
          <p:cNvPr id="7" name="Shape 5"/>
          <p:cNvSpPr/>
          <p:nvPr/>
        </p:nvSpPr>
        <p:spPr>
          <a:xfrm>
            <a:off x="594360" y="2596896"/>
            <a:ext cx="8321040" cy="475488"/>
          </a:xfrm>
          <a:prstGeom prst="roundRect">
            <a:avLst>
              <a:gd name="adj" fmla="val 11538"/>
            </a:avLst>
          </a:prstGeom>
          <a:solidFill>
            <a:srgbClr val="C0A45F"/>
          </a:solidFill>
          <a:ln/>
        </p:spPr>
      </p:sp>
      <p:sp>
        <p:nvSpPr>
          <p:cNvPr id="8" name="Text 6"/>
          <p:cNvSpPr/>
          <p:nvPr/>
        </p:nvSpPr>
        <p:spPr>
          <a:xfrm>
            <a:off x="758952" y="2615184"/>
            <a:ext cx="809244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hundreds</a:t>
            </a:r>
            <a:endParaRPr lang="en-US" sz="1700" dirty="0"/>
          </a:p>
        </p:txBody>
      </p:sp>
      <p:sp>
        <p:nvSpPr>
          <p:cNvPr id="9" name="Text 7"/>
          <p:cNvSpPr/>
          <p:nvPr/>
        </p:nvSpPr>
        <p:spPr>
          <a:xfrm>
            <a:off x="9116568" y="2615184"/>
            <a:ext cx="247802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names retail actually trades — the long tail no bank can staff</a:t>
            </a:r>
            <a:endParaRPr lang="en-US" sz="1250" dirty="0"/>
          </a:p>
        </p:txBody>
      </p:sp>
      <p:sp>
        <p:nvSpPr>
          <p:cNvPr id="10" name="Shape 8"/>
          <p:cNvSpPr/>
          <p:nvPr/>
        </p:nvSpPr>
        <p:spPr>
          <a:xfrm>
            <a:off x="594360" y="3566160"/>
            <a:ext cx="3749040" cy="475488"/>
          </a:xfrm>
          <a:prstGeom prst="roundRect">
            <a:avLst>
              <a:gd name="adj" fmla="val 11538"/>
            </a:avLst>
          </a:prstGeom>
          <a:solidFill>
            <a:srgbClr val="12796B"/>
          </a:solidFill>
          <a:ln/>
        </p:spPr>
      </p:sp>
      <p:sp>
        <p:nvSpPr>
          <p:cNvPr id="11" name="Text 9"/>
          <p:cNvSpPr/>
          <p:nvPr/>
        </p:nvSpPr>
        <p:spPr>
          <a:xfrm>
            <a:off x="758952" y="3584448"/>
            <a:ext cx="352044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91</a:t>
            </a:r>
            <a:endParaRPr lang="en-US" sz="1700" dirty="0"/>
          </a:p>
        </p:txBody>
      </p:sp>
      <p:sp>
        <p:nvSpPr>
          <p:cNvPr id="12" name="Text 10"/>
          <p:cNvSpPr/>
          <p:nvPr/>
        </p:nvSpPr>
        <p:spPr>
          <a:xfrm>
            <a:off x="4544568" y="3584448"/>
            <a:ext cx="705002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instruments Testahil covers today — a full ground-up study behind every one</a:t>
            </a:r>
            <a:endParaRPr lang="en-US" sz="1250" dirty="0"/>
          </a:p>
        </p:txBody>
      </p:sp>
      <p:sp>
        <p:nvSpPr>
          <p:cNvPr id="13" name="Text 11"/>
          <p:cNvSpPr/>
          <p:nvPr/>
        </p:nvSpPr>
        <p:spPr>
          <a:xfrm>
            <a:off x="594360" y="4681728"/>
            <a:ext cx="5303520" cy="274320"/>
          </a:xfrm>
          <a:prstGeom prst="rect">
            <a:avLst/>
          </a:prstGeom>
          <a:noFill/>
          <a:ln/>
        </p:spPr>
        <p:txBody>
          <a:bodyPr wrap="square" lIns="0" tIns="0" rIns="0" bIns="0" rtlCol="0" anchor="ctr"/>
          <a:lstStyle/>
          <a:p>
            <a:pPr indent="0" marL="0">
              <a:buNone/>
            </a:pPr>
            <a:r>
              <a:rPr lang="en-US" sz="1250" b="1" spc="200" kern="0" dirty="0">
                <a:solidFill>
                  <a:srgbClr val="12796B"/>
                </a:solidFill>
                <a:latin typeface="Arial" pitchFamily="34" charset="0"/>
                <a:ea typeface="Arial" pitchFamily="34" charset="-122"/>
                <a:cs typeface="Arial" pitchFamily="34" charset="-120"/>
              </a:rPr>
              <a:t>TWO CLOCKS, ONE NUMBER</a:t>
            </a:r>
            <a:endParaRPr lang="en-US" sz="1250" dirty="0"/>
          </a:p>
        </p:txBody>
      </p:sp>
      <p:sp>
        <p:nvSpPr>
          <p:cNvPr id="14" name="Text 12"/>
          <p:cNvSpPr/>
          <p:nvPr/>
        </p:nvSpPr>
        <p:spPr>
          <a:xfrm>
            <a:off x="594360" y="4992624"/>
            <a:ext cx="534924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Fundamentals move on a one-year clock; technicals on a three-month one. Delivered as a single figure, the client cannot tell an investment from a trade.</a:t>
            </a:r>
            <a:endParaRPr lang="en-US" sz="1250" dirty="0"/>
          </a:p>
        </p:txBody>
      </p:sp>
      <p:sp>
        <p:nvSpPr>
          <p:cNvPr id="15" name="Text 13"/>
          <p:cNvSpPr/>
          <p:nvPr/>
        </p:nvSpPr>
        <p:spPr>
          <a:xfrm>
            <a:off x="6263640" y="4681728"/>
            <a:ext cx="5303520" cy="274320"/>
          </a:xfrm>
          <a:prstGeom prst="rect">
            <a:avLst/>
          </a:prstGeom>
          <a:noFill/>
          <a:ln/>
        </p:spPr>
        <p:txBody>
          <a:bodyPr wrap="square" lIns="0" tIns="0" rIns="0" bIns="0" rtlCol="0" anchor="ctr"/>
          <a:lstStyle/>
          <a:p>
            <a:pPr indent="0" marL="0">
              <a:buNone/>
            </a:pPr>
            <a:r>
              <a:rPr lang="en-US" sz="1250" b="1" spc="200" kern="0" dirty="0">
                <a:solidFill>
                  <a:srgbClr val="12796B"/>
                </a:solidFill>
                <a:latin typeface="Arial" pitchFamily="34" charset="0"/>
                <a:ea typeface="Arial" pitchFamily="34" charset="-122"/>
                <a:cs typeface="Arial" pitchFamily="34" charset="-120"/>
              </a:rPr>
              <a:t>FROM TARGETS TO ODDS</a:t>
            </a:r>
            <a:endParaRPr lang="en-US" sz="1250" dirty="0"/>
          </a:p>
        </p:txBody>
      </p:sp>
      <p:sp>
        <p:nvSpPr>
          <p:cNvPr id="16" name="Text 14"/>
          <p:cNvSpPr/>
          <p:nvPr/>
        </p:nvSpPr>
        <p:spPr>
          <a:xfrm>
            <a:off x="6263640" y="4992624"/>
            <a:ext cx="534924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A price target is one number. The question clients actually ask is how likely, and by when — which no point estimate can answer, however good the analyst behind it.</a:t>
            </a:r>
            <a:endParaRPr lang="en-US" sz="1250" dirty="0"/>
          </a:p>
        </p:txBody>
      </p:sp>
      <p:sp>
        <p:nvSpPr>
          <p:cNvPr id="17" name="Text 15"/>
          <p:cNvSpPr/>
          <p:nvPr/>
        </p:nvSpPr>
        <p:spPr>
          <a:xfrm>
            <a:off x="594360" y="6053328"/>
            <a:ext cx="10607040" cy="384048"/>
          </a:xfrm>
          <a:prstGeom prst="rect">
            <a:avLst/>
          </a:prstGeom>
          <a:noFill/>
          <a:ln/>
        </p:spPr>
        <p:txBody>
          <a:bodyPr wrap="square" lIns="0" tIns="0" rIns="0" bIns="0" rtlCol="0" anchor="ctr"/>
          <a:lstStyle/>
          <a:p>
            <a:pPr indent="0" marL="0">
              <a:buNone/>
            </a:pPr>
            <a:r>
              <a:rPr lang="en-US" sz="1600" i="1" dirty="0">
                <a:solidFill>
                  <a:srgbClr val="0E2726"/>
                </a:solidFill>
                <a:latin typeface="Arial" pitchFamily="34" charset="0"/>
                <a:ea typeface="Arial" pitchFamily="34" charset="-122"/>
                <a:cs typeface="Arial" pitchFamily="34" charset="-120"/>
              </a:rPr>
              <a:t>The long tail isn’t neglected — it is uneconomic to cover by hand. At any bank.</a:t>
            </a:r>
            <a:endParaRPr lang="en-US" sz="1600" dirty="0"/>
          </a:p>
        </p:txBody>
      </p:sp>
      <p:sp>
        <p:nvSpPr>
          <p:cNvPr id="18" name="Text 16"/>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04 · THE SOLUTION</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AI research for every stock — odds, not orders.</a:t>
            </a:r>
            <a:endParaRPr lang="en-US" sz="3400" dirty="0"/>
          </a:p>
        </p:txBody>
      </p:sp>
      <p:sp>
        <p:nvSpPr>
          <p:cNvPr id="4" name="Text 2"/>
          <p:cNvSpPr/>
          <p:nvPr/>
        </p:nvSpPr>
        <p:spPr>
          <a:xfrm>
            <a:off x="594360" y="1572768"/>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FUNDAMENTAL — THE 1-YEAR CLOCK</a:t>
            </a:r>
            <a:endParaRPr lang="en-US" sz="1250" dirty="0"/>
          </a:p>
        </p:txBody>
      </p:sp>
      <p:sp>
        <p:nvSpPr>
          <p:cNvPr id="5" name="Text 3"/>
          <p:cNvSpPr/>
          <p:nvPr/>
        </p:nvSpPr>
        <p:spPr>
          <a:xfrm>
            <a:off x="594360" y="1892808"/>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A fair-value range built from official filings only — product by product, volume × price — checked by an analyst before it publishes. The story behind the stock.</a:t>
            </a:r>
            <a:endParaRPr lang="en-US" sz="1250" dirty="0"/>
          </a:p>
        </p:txBody>
      </p:sp>
      <p:sp>
        <p:nvSpPr>
          <p:cNvPr id="6" name="Text 4"/>
          <p:cNvSpPr/>
          <p:nvPr/>
        </p:nvSpPr>
        <p:spPr>
          <a:xfrm>
            <a:off x="594360" y="2871216"/>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TECHNICAL — THE SHORT-TERM CHART</a:t>
            </a:r>
            <a:endParaRPr lang="en-US" sz="1250" dirty="0"/>
          </a:p>
        </p:txBody>
      </p:sp>
      <p:sp>
        <p:nvSpPr>
          <p:cNvPr id="7" name="Text 5"/>
          <p:cNvSpPr/>
          <p:nvPr/>
        </p:nvSpPr>
        <p:spPr>
          <a:xfrm>
            <a:off x="594360" y="3191256"/>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Support, resistance, trend — the levels traders actually watch, computed from the same cleaned series, refreshed with every data update.</a:t>
            </a:r>
            <a:endParaRPr lang="en-US" sz="1250" dirty="0"/>
          </a:p>
        </p:txBody>
      </p:sp>
      <p:sp>
        <p:nvSpPr>
          <p:cNvPr id="8" name="Text 6"/>
          <p:cNvSpPr/>
          <p:nvPr/>
        </p:nvSpPr>
        <p:spPr>
          <a:xfrm>
            <a:off x="594360" y="4169664"/>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SIMULATION — ABOVE ALL, THE ODDS</a:t>
            </a:r>
            <a:endParaRPr lang="en-US" sz="1250" dirty="0"/>
          </a:p>
        </p:txBody>
      </p:sp>
      <p:sp>
        <p:nvSpPr>
          <p:cNvPr id="9" name="Text 7"/>
          <p:cNvSpPr/>
          <p:nvPr/>
        </p:nvSpPr>
        <p:spPr>
          <a:xfrm>
            <a:off x="594360" y="4489704"/>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50,000 Monte-Carlo paths per name, calibrated on up to 15 years of that stock’s own market — the probability of every price bracket, 1–3 months out.</a:t>
            </a:r>
            <a:endParaRPr lang="en-US" sz="1250" dirty="0"/>
          </a:p>
        </p:txBody>
      </p:sp>
      <p:pic>
        <p:nvPicPr>
          <p:cNvPr id="10" name="Image 0" descr="asset_cone_light.png">    </p:cNvPr>
          <p:cNvPicPr>
            <a:picLocks noChangeAspect="1"/>
          </p:cNvPicPr>
          <p:nvPr/>
        </p:nvPicPr>
        <p:blipFill>
          <a:blip r:embed="rId1"/>
          <a:stretch>
            <a:fillRect/>
          </a:stretch>
        </p:blipFill>
        <p:spPr>
          <a:xfrm>
            <a:off x="5989320" y="1463040"/>
            <a:ext cx="5623560" cy="2743200"/>
          </a:xfrm>
          <a:prstGeom prst="rect">
            <a:avLst/>
          </a:prstGeom>
        </p:spPr>
      </p:pic>
      <p:sp>
        <p:nvSpPr>
          <p:cNvPr id="11" name="Shape 8"/>
          <p:cNvSpPr/>
          <p:nvPr/>
        </p:nvSpPr>
        <p:spPr>
          <a:xfrm>
            <a:off x="5989320" y="4315968"/>
            <a:ext cx="5623560" cy="1700784"/>
          </a:xfrm>
          <a:prstGeom prst="roundRect">
            <a:avLst>
              <a:gd name="adj" fmla="val 3226"/>
            </a:avLst>
          </a:prstGeom>
          <a:solidFill>
            <a:srgbClr val="FFFFFF"/>
          </a:solidFill>
          <a:ln w="12700">
            <a:solidFill>
              <a:srgbClr val="D9E4E1"/>
            </a:solidFill>
            <a:prstDash val="solid"/>
          </a:ln>
        </p:spPr>
      </p:sp>
      <p:sp>
        <p:nvSpPr>
          <p:cNvPr id="12" name="Text 9"/>
          <p:cNvSpPr/>
          <p:nvPr/>
        </p:nvSpPr>
        <p:spPr>
          <a:xfrm>
            <a:off x="6217920" y="4425696"/>
            <a:ext cx="5212080" cy="237744"/>
          </a:xfrm>
          <a:prstGeom prst="rect">
            <a:avLst/>
          </a:prstGeom>
          <a:noFill/>
          <a:ln/>
        </p:spPr>
        <p:txBody>
          <a:bodyPr wrap="square" lIns="0" tIns="0" rIns="0" bIns="0" rtlCol="0" anchor="ctr"/>
          <a:lstStyle/>
          <a:p>
            <a:pPr indent="0" marL="0">
              <a:buNone/>
            </a:pPr>
            <a:r>
              <a:rPr lang="en-US" sz="950" b="1" spc="150" kern="0" dirty="0">
                <a:solidFill>
                  <a:srgbClr val="12796B"/>
                </a:solidFill>
                <a:latin typeface="Arial" pitchFamily="34" charset="0"/>
                <a:ea typeface="Arial" pitchFamily="34" charset="-122"/>
                <a:cs typeface="Arial" pitchFamily="34" charset="-120"/>
              </a:rPr>
              <a:t>THE LIVE READ — ADNOC LOGISTICS &amp; SERVICES · 3 MONTHS</a:t>
            </a:r>
            <a:endParaRPr lang="en-US" sz="950" dirty="0"/>
          </a:p>
        </p:txBody>
      </p:sp>
      <p:sp>
        <p:nvSpPr>
          <p:cNvPr id="13" name="Text 10"/>
          <p:cNvSpPr/>
          <p:nvPr/>
        </p:nvSpPr>
        <p:spPr>
          <a:xfrm>
            <a:off x="6217920" y="4736592"/>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Latest price</a:t>
            </a:r>
            <a:endParaRPr lang="en-US" sz="1000" dirty="0"/>
          </a:p>
        </p:txBody>
      </p:sp>
      <p:sp>
        <p:nvSpPr>
          <p:cNvPr id="14" name="Text 11"/>
          <p:cNvSpPr/>
          <p:nvPr/>
        </p:nvSpPr>
        <p:spPr>
          <a:xfrm>
            <a:off x="8686800" y="4736592"/>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AED 6.16 · close 7 Aug 2026</a:t>
            </a:r>
            <a:endParaRPr lang="en-US" sz="1000" dirty="0"/>
          </a:p>
        </p:txBody>
      </p:sp>
      <p:sp>
        <p:nvSpPr>
          <p:cNvPr id="15" name="Text 12"/>
          <p:cNvSpPr/>
          <p:nvPr/>
        </p:nvSpPr>
        <p:spPr>
          <a:xfrm>
            <a:off x="6217920" y="4978908"/>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Chance higher than today</a:t>
            </a:r>
            <a:endParaRPr lang="en-US" sz="1000" dirty="0"/>
          </a:p>
        </p:txBody>
      </p:sp>
      <p:sp>
        <p:nvSpPr>
          <p:cNvPr id="16" name="Text 13"/>
          <p:cNvSpPr/>
          <p:nvPr/>
        </p:nvSpPr>
        <p:spPr>
          <a:xfrm>
            <a:off x="8686800" y="4978908"/>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51%</a:t>
            </a:r>
            <a:endParaRPr lang="en-US" sz="1000" dirty="0"/>
          </a:p>
        </p:txBody>
      </p:sp>
      <p:sp>
        <p:nvSpPr>
          <p:cNvPr id="17" name="Text 14"/>
          <p:cNvSpPr/>
          <p:nvPr/>
        </p:nvSpPr>
        <p:spPr>
          <a:xfrm>
            <a:off x="6217920" y="5221224"/>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+10% or better vs −10% or worse</a:t>
            </a:r>
            <a:endParaRPr lang="en-US" sz="1000" dirty="0"/>
          </a:p>
        </p:txBody>
      </p:sp>
      <p:sp>
        <p:nvSpPr>
          <p:cNvPr id="18" name="Text 15"/>
          <p:cNvSpPr/>
          <p:nvPr/>
        </p:nvSpPr>
        <p:spPr>
          <a:xfrm>
            <a:off x="8686800" y="5221224"/>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24% vs 22% · ≈ 1.1:1 up</a:t>
            </a:r>
            <a:endParaRPr lang="en-US" sz="1000" dirty="0"/>
          </a:p>
        </p:txBody>
      </p:sp>
      <p:sp>
        <p:nvSpPr>
          <p:cNvPr id="19" name="Text 16"/>
          <p:cNvSpPr/>
          <p:nvPr/>
        </p:nvSpPr>
        <p:spPr>
          <a:xfrm>
            <a:off x="6217920" y="5463540"/>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Bad case · good case (1-in-20)</a:t>
            </a:r>
            <a:endParaRPr lang="en-US" sz="1000" dirty="0"/>
          </a:p>
        </p:txBody>
      </p:sp>
      <p:sp>
        <p:nvSpPr>
          <p:cNvPr id="20" name="Text 17"/>
          <p:cNvSpPr/>
          <p:nvPr/>
        </p:nvSpPr>
        <p:spPr>
          <a:xfrm>
            <a:off x="8686800" y="5463540"/>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4.95 · 7.73 (−20% / +25%)</a:t>
            </a:r>
            <a:endParaRPr lang="en-US" sz="1000" dirty="0"/>
          </a:p>
        </p:txBody>
      </p:sp>
      <p:sp>
        <p:nvSpPr>
          <p:cNvPr id="21" name="Text 18"/>
          <p:cNvSpPr/>
          <p:nvPr/>
        </p:nvSpPr>
        <p:spPr>
          <a:xfrm>
            <a:off x="6217920" y="5705856"/>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Most likely zone (50% band)</a:t>
            </a:r>
            <a:endParaRPr lang="en-US" sz="1000" dirty="0"/>
          </a:p>
        </p:txBody>
      </p:sp>
      <p:sp>
        <p:nvSpPr>
          <p:cNvPr id="22" name="Text 19"/>
          <p:cNvSpPr/>
          <p:nvPr/>
        </p:nvSpPr>
        <p:spPr>
          <a:xfrm>
            <a:off x="8686800" y="5705856"/>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AED 5.67 – 6.73</a:t>
            </a:r>
            <a:endParaRPr lang="en-US" sz="1000" dirty="0"/>
          </a:p>
        </p:txBody>
      </p:sp>
      <p:sp>
        <p:nvSpPr>
          <p:cNvPr id="23" name="Text 20"/>
          <p:cNvSpPr/>
          <p:nvPr/>
        </p:nvSpPr>
        <p:spPr>
          <a:xfrm>
            <a:off x="594360" y="6108192"/>
            <a:ext cx="10607040" cy="384048"/>
          </a:xfrm>
          <a:prstGeom prst="rect">
            <a:avLst/>
          </a:prstGeom>
          <a:noFill/>
          <a:ln/>
        </p:spPr>
        <p:txBody>
          <a:bodyPr wrap="square" lIns="0" tIns="0" rIns="0" bIns="0" rtlCol="0" anchor="ctr"/>
          <a:lstStyle/>
          <a:p>
            <a:pPr indent="0" marL="0">
              <a:buNone/>
            </a:pPr>
            <a:r>
              <a:rPr lang="en-US" sz="1600" i="1" dirty="0">
                <a:solidFill>
                  <a:srgbClr val="0E2726"/>
                </a:solidFill>
                <a:latin typeface="Arial" pitchFamily="34" charset="0"/>
                <a:ea typeface="Arial" pitchFamily="34" charset="-122"/>
                <a:cs typeface="Arial" pitchFamily="34" charset="-120"/>
              </a:rPr>
              <a:t>It doesn’t just say the fair value is X — it says how likely, and by when.</a:t>
            </a:r>
            <a:endParaRPr lang="en-US" sz="1600" dirty="0"/>
          </a:p>
        </p:txBody>
      </p:sp>
      <p:sp>
        <p:nvSpPr>
          <p:cNvPr id="24" name="Text 21"/>
          <p:cNvSpPr/>
          <p:nvPr/>
        </p:nvSpPr>
        <p:spPr>
          <a:xfrm>
            <a:off x="594360" y="6510528"/>
            <a:ext cx="694944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Live read as computed by testahil.com on the 7-Aug close (simulation run 10 Aug 2026) — the same numbers the public sees.</a:t>
            </a:r>
            <a:endParaRPr lang="en-US" sz="850" dirty="0"/>
          </a:p>
        </p:txBody>
      </p:sp>
      <p:sp>
        <p:nvSpPr>
          <p:cNvPr id="25" name="Text 22"/>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05 · NEW THIS MONTH</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Ticker Picker: can it get there in time?</a:t>
            </a:r>
            <a:endParaRPr lang="en-US" sz="3400" dirty="0"/>
          </a:p>
        </p:txBody>
      </p:sp>
      <p:sp>
        <p:nvSpPr>
          <p:cNvPr id="4" name="Text 2"/>
          <p:cNvSpPr/>
          <p:nvPr/>
        </p:nvSpPr>
        <p:spPr>
          <a:xfrm>
            <a:off x="594360" y="1517904"/>
            <a:ext cx="5989320" cy="1600200"/>
          </a:xfrm>
          <a:prstGeom prst="rect">
            <a:avLst/>
          </a:prstGeom>
          <a:noFill/>
          <a:ln/>
        </p:spPr>
        <p:txBody>
          <a:bodyPr wrap="square" lIns="0" tIns="0" rIns="0" bIns="0" rtlCol="0" anchor="t"/>
          <a:lstStyle/>
          <a:p>
            <a:pPr indent="0" marL="0">
              <a:lnSpc>
                <a:spcPct val="112000"/>
              </a:lnSpc>
              <a:buNone/>
            </a:pPr>
            <a:r>
              <a:rPr lang="en-US" sz="1350" dirty="0">
                <a:solidFill>
                  <a:srgbClr val="0E2726"/>
                </a:solidFill>
                <a:latin typeface="Arial" pitchFamily="34" charset="0"/>
                <a:ea typeface="Arial" pitchFamily="34" charset="-122"/>
                <a:cs typeface="Arial" pitchFamily="34" charset="-120"/>
              </a:rPr>
              <a:t>Every covered stock publishes two objects: a fair value from its study, and a simulated price range from its calibrated Monte Carlo. The new </a:t>
            </a:r>
            <a:pPr indent="0" marL="0">
              <a:lnSpc>
                <a:spcPct val="112000"/>
              </a:lnSpc>
              <a:buNone/>
            </a:pPr>
            <a:r>
              <a:rPr lang="en-US" sz="1350" b="1" dirty="0">
                <a:solidFill>
                  <a:srgbClr val="0F5147"/>
                </a:solidFill>
                <a:latin typeface="Arial" pitchFamily="34" charset="0"/>
                <a:ea typeface="Arial" pitchFamily="34" charset="-122"/>
                <a:cs typeface="Arial" pitchFamily="34" charset="-120"/>
              </a:rPr>
              <a:t>Ticker Picker</a:t>
            </a:r>
            <a:pPr indent="0" marL="0">
              <a:lnSpc>
                <a:spcPct val="112000"/>
              </a:lnSpc>
              <a:buNone/>
            </a:pPr>
            <a:r>
              <a:rPr lang="en-US" sz="1350" dirty="0">
                <a:solidFill>
                  <a:srgbClr val="0E2726"/>
                </a:solidFill>
                <a:latin typeface="Arial" pitchFamily="34" charset="0"/>
                <a:ea typeface="Arial" pitchFamily="34" charset="-122"/>
                <a:cs typeface="Arial" pitchFamily="34" charset="-120"/>
              </a:rPr>
              <a:t> reads them together and asks the one question neither answers alone: </a:t>
            </a:r>
            <a:pPr indent="0" marL="0">
              <a:lnSpc>
                <a:spcPct val="112000"/>
              </a:lnSpc>
              <a:buNone/>
            </a:pPr>
            <a:r>
              <a:rPr lang="en-US" sz="1350" b="1" dirty="0">
                <a:solidFill>
                  <a:srgbClr val="0E2726"/>
                </a:solidFill>
                <a:latin typeface="Arial" pitchFamily="34" charset="0"/>
                <a:ea typeface="Arial" pitchFamily="34" charset="-122"/>
                <a:cs typeface="Arial" pitchFamily="34" charset="-120"/>
              </a:rPr>
              <a:t>is the fair value even reachable within 1–3 months, given how much this stock actually moves?</a:t>
            </a:r>
            <a:endParaRPr lang="en-US" sz="1350" dirty="0"/>
          </a:p>
        </p:txBody>
      </p:sp>
      <p:sp>
        <p:nvSpPr>
          <p:cNvPr id="5" name="Text 3"/>
          <p:cNvSpPr/>
          <p:nvPr/>
        </p:nvSpPr>
        <p:spPr>
          <a:xfrm>
            <a:off x="594360" y="3200400"/>
            <a:ext cx="5989320" cy="1234440"/>
          </a:xfrm>
          <a:prstGeom prst="rect">
            <a:avLst/>
          </a:prstGeom>
          <a:noFill/>
          <a:ln/>
        </p:spPr>
        <p:txBody>
          <a:bodyPr wrap="square" lIns="0" tIns="0" rIns="0" bIns="0" rtlCol="0" anchor="t"/>
          <a:lstStyle/>
          <a:p>
            <a:pPr indent="0" marL="0">
              <a:lnSpc>
                <a:spcPct val="112000"/>
              </a:lnSpc>
              <a:buNone/>
            </a:pPr>
            <a:r>
              <a:rPr lang="en-US" sz="1350" dirty="0">
                <a:solidFill>
                  <a:srgbClr val="0E2726"/>
                </a:solidFill>
                <a:latin typeface="Arial" pitchFamily="34" charset="0"/>
                <a:ea typeface="Arial" pitchFamily="34" charset="-122"/>
                <a:cs typeface="Arial" pitchFamily="34" charset="-120"/>
              </a:rPr>
              <a:t>It sorts the whole coverage by </a:t>
            </a:r>
            <a:pPr indent="0" marL="0">
              <a:lnSpc>
                <a:spcPct val="112000"/>
              </a:lnSpc>
              <a:buNone/>
            </a:pPr>
            <a:r>
              <a:rPr lang="en-US" sz="1350" b="1" dirty="0">
                <a:solidFill>
                  <a:srgbClr val="0E2726"/>
                </a:solidFill>
                <a:latin typeface="Arial" pitchFamily="34" charset="0"/>
                <a:ea typeface="Arial" pitchFamily="34" charset="-122"/>
                <a:cs typeface="Arial" pitchFamily="34" charset="-120"/>
              </a:rPr>
              <a:t>reachability, not headline upside</a:t>
            </a:r>
            <a:pPr indent="0" marL="0">
              <a:lnSpc>
                <a:spcPct val="112000"/>
              </a:lnSpc>
              <a:buNone/>
            </a:pPr>
            <a:r>
              <a:rPr lang="en-US" sz="1350" dirty="0">
                <a:solidFill>
                  <a:srgbClr val="0E2726"/>
                </a:solidFill>
                <a:latin typeface="Arial" pitchFamily="34" charset="0"/>
                <a:ea typeface="Arial" pitchFamily="34" charset="-122"/>
                <a:cs typeface="Arial" pitchFamily="34" charset="-120"/>
              </a:rPr>
              <a:t> — at short horizons, the two rankings are nearly opposite. A stock 70% below fair value cannot close that gap in a month no matter how right the study is; a stock 6% below can.</a:t>
            </a:r>
            <a:endParaRPr lang="en-US" sz="1350" dirty="0"/>
          </a:p>
        </p:txBody>
      </p:sp>
      <p:sp>
        <p:nvSpPr>
          <p:cNvPr id="6" name="Text 4"/>
          <p:cNvSpPr/>
          <p:nvPr/>
        </p:nvSpPr>
        <p:spPr>
          <a:xfrm>
            <a:off x="594360" y="4480560"/>
            <a:ext cx="5989320" cy="548640"/>
          </a:xfrm>
          <a:prstGeom prst="rect">
            <a:avLst/>
          </a:prstGeom>
          <a:noFill/>
          <a:ln/>
        </p:spPr>
        <p:txBody>
          <a:bodyPr wrap="square" lIns="0" tIns="0" rIns="0" bIns="0" rtlCol="0" anchor="ctr"/>
          <a:lstStyle/>
          <a:p>
            <a:pPr indent="0" marL="0">
              <a:buNone/>
            </a:pPr>
            <a:r>
              <a:rPr lang="en-US" sz="1250" dirty="0">
                <a:solidFill>
                  <a:srgbClr val="5C6B70"/>
                </a:solidFill>
                <a:latin typeface="Arial" pitchFamily="34" charset="0"/>
                <a:ea typeface="Arial" pitchFamily="34" charset="-122"/>
                <a:cs typeface="Arial" pitchFamily="34" charset="-120"/>
              </a:rPr>
              <a:t>Every case is also tested against its own market’s cash rate — in Egypt today that hurdle is 19.5%.</a:t>
            </a:r>
            <a:endParaRPr lang="en-US" sz="1250" dirty="0"/>
          </a:p>
        </p:txBody>
      </p:sp>
      <p:sp>
        <p:nvSpPr>
          <p:cNvPr id="7" name="Shape 5"/>
          <p:cNvSpPr/>
          <p:nvPr/>
        </p:nvSpPr>
        <p:spPr>
          <a:xfrm>
            <a:off x="594360" y="5138928"/>
            <a:ext cx="5989320" cy="1152144"/>
          </a:xfrm>
          <a:prstGeom prst="roundRect">
            <a:avLst>
              <a:gd name="adj" fmla="val 4762"/>
            </a:avLst>
          </a:prstGeom>
          <a:solidFill>
            <a:srgbClr val="E7F0EE"/>
          </a:solidFill>
          <a:ln w="12700">
            <a:solidFill>
              <a:srgbClr val="D9E4E1"/>
            </a:solidFill>
            <a:prstDash val="solid"/>
          </a:ln>
        </p:spPr>
      </p:sp>
      <p:sp>
        <p:nvSpPr>
          <p:cNvPr id="8" name="Text 6"/>
          <p:cNvSpPr/>
          <p:nvPr/>
        </p:nvSpPr>
        <p:spPr>
          <a:xfrm>
            <a:off x="795528" y="5248656"/>
            <a:ext cx="5623560" cy="960120"/>
          </a:xfrm>
          <a:prstGeom prst="rect">
            <a:avLst/>
          </a:prstGeom>
          <a:noFill/>
          <a:ln/>
        </p:spPr>
        <p:txBody>
          <a:bodyPr wrap="square" lIns="0" tIns="0" rIns="0" bIns="0" rtlCol="0" anchor="t"/>
          <a:lstStyle/>
          <a:p>
            <a:pPr indent="0" marL="0">
              <a:lnSpc>
                <a:spcPct val="110000"/>
              </a:lnSpc>
              <a:buNone/>
            </a:pPr>
            <a:r>
              <a:rPr lang="en-US" sz="1150" b="1" dirty="0">
                <a:solidFill>
                  <a:srgbClr val="0F5147"/>
                </a:solidFill>
                <a:latin typeface="Arial" pitchFamily="34" charset="0"/>
                <a:ea typeface="Arial" pitchFamily="34" charset="-122"/>
                <a:cs typeface="Arial" pitchFamily="34" charset="-120"/>
              </a:rPr>
              <a:t>Honest by construction: </a:t>
            </a:r>
            <a:pPr indent="0" marL="0">
              <a:lnSpc>
                <a:spcPct val="110000"/>
              </a:lnSpc>
              <a:buNone/>
            </a:pPr>
            <a:r>
              <a:rPr lang="en-US" sz="1150" dirty="0">
                <a:solidFill>
                  <a:srgbClr val="0E2726"/>
                </a:solidFill>
                <a:latin typeface="Arial" pitchFamily="34" charset="0"/>
                <a:ea typeface="Arial" pitchFamily="34" charset="-122"/>
                <a:cs typeface="Arial" pitchFamily="34" charset="-120"/>
              </a:rPr>
              <a:t>the odds machinery is graded on the public ledger. Whether fair values predict returns is not yet provable — the page itself says it needs ~783 graded observations and has 5, verdict expected around 2027. In red, before the table.</a:t>
            </a:r>
            <a:endParaRPr lang="en-US" sz="1150" dirty="0"/>
          </a:p>
        </p:txBody>
      </p:sp>
      <p:pic>
        <p:nvPicPr>
          <p:cNvPr id="9" name="Image 0" descr="asset_picker.png">    </p:cNvPr>
          <p:cNvPicPr>
            <a:picLocks noChangeAspect="1"/>
          </p:cNvPicPr>
          <p:nvPr/>
        </p:nvPicPr>
        <p:blipFill>
          <a:blip r:embed="rId1"/>
          <a:stretch>
            <a:fillRect/>
          </a:stretch>
        </p:blipFill>
        <p:spPr>
          <a:xfrm>
            <a:off x="7461504" y="1463040"/>
            <a:ext cx="4133088" cy="4846320"/>
          </a:xfrm>
          <a:prstGeom prst="rect">
            <a:avLst/>
          </a:prstGeom>
        </p:spPr>
      </p:pic>
      <p:sp>
        <p:nvSpPr>
          <p:cNvPr id="10" name="Shape 7"/>
          <p:cNvSpPr/>
          <p:nvPr/>
        </p:nvSpPr>
        <p:spPr>
          <a:xfrm>
            <a:off x="7461504" y="1463040"/>
            <a:ext cx="4133088" cy="4846320"/>
          </a:xfrm>
          <a:prstGeom prst="rect">
            <a:avLst/>
          </a:prstGeom>
          <a:ln w="19050">
            <a:solidFill>
              <a:srgbClr val="D9E4E1"/>
            </a:solidFill>
            <a:prstDash val="solid"/>
          </a:ln>
        </p:spPr>
      </p:sp>
      <p:sp>
        <p:nvSpPr>
          <p:cNvPr id="11" name="Text 8"/>
          <p:cNvSpPr/>
          <p:nvPr/>
        </p:nvSpPr>
        <p:spPr>
          <a:xfrm>
            <a:off x="594360" y="6510528"/>
            <a:ext cx="786384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The live table — Egypt group, 3-month horizon, sorted by reachability · testahil.com/picker · shipped 10 Aug 2026</a:t>
            </a:r>
            <a:endParaRPr lang="en-US" sz="850" dirty="0"/>
          </a:p>
        </p:txBody>
      </p:sp>
      <p:sp>
        <p:nvSpPr>
          <p:cNvPr id="12"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06 · THE EVIDENCE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3,944 exams. Graded in public.</a:t>
            </a:r>
            <a:endParaRPr lang="en-US" sz="3400" dirty="0"/>
          </a:p>
        </p:txBody>
      </p:sp>
      <p:graphicFrame>
        <p:nvGraphicFramePr>
          <p:cNvPr id="4" name="Chart 0" descr=""/>
          <p:cNvGraphicFramePr/>
          <p:nvPr/>
        </p:nvGraphicFramePr>
        <p:xfrm>
          <a:off x="594360"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94360" y="5779008"/>
            <a:ext cx="6858000" cy="566928"/>
          </a:xfrm>
          <a:prstGeom prst="rect">
            <a:avLst/>
          </a:prstGeom>
          <a:noFill/>
          <a:ln/>
        </p:spPr>
        <p:txBody>
          <a:bodyPr wrap="square" lIns="0" tIns="0" rIns="0" bIns="0" rtlCol="0" anchor="ctr"/>
          <a:lstStyle/>
          <a:p>
            <a:pPr indent="0" marL="0">
              <a:buNone/>
            </a:pPr>
            <a:r>
              <a:rPr lang="en-US" sz="1000" i="1" dirty="0">
                <a:solidFill>
                  <a:srgbClr val="7A8A86"/>
                </a:solidFill>
                <a:latin typeface="Arial" pitchFamily="34" charset="0"/>
                <a:ea typeface="Arial" pitchFamily="34" charset="-122"/>
                <a:cs typeface="Arial" pitchFamily="34" charset="-120"/>
              </a:rPr>
              <a:t>Axis zoomed to 80–100 so the differences show: every market sits within five points of the target. The gold dashes are the 90% design spec.</a:t>
            </a:r>
            <a:endParaRPr lang="en-US" sz="1000" dirty="0"/>
          </a:p>
        </p:txBody>
      </p:sp>
      <p:sp>
        <p:nvSpPr>
          <p:cNvPr id="6" name="Text 3"/>
          <p:cNvSpPr/>
          <p:nvPr/>
        </p:nvSpPr>
        <p:spPr>
          <a:xfrm>
            <a:off x="7818120" y="1572768"/>
            <a:ext cx="3794760" cy="1737360"/>
          </a:xfrm>
          <a:prstGeom prst="rect">
            <a:avLst/>
          </a:prstGeom>
          <a:noFill/>
          <a:ln/>
        </p:spPr>
        <p:txBody>
          <a:bodyPr wrap="square" lIns="0" tIns="0" rIns="0" bIns="0" rtlCol="0" anchor="t"/>
          <a:lstStyle/>
          <a:p>
            <a:pPr indent="0" marL="0">
              <a:lnSpc>
                <a:spcPct val="108000"/>
              </a:lnSpc>
              <a:buNone/>
            </a:pPr>
            <a:r>
              <a:rPr lang="en-US" sz="4000" b="1" dirty="0">
                <a:solidFill>
                  <a:srgbClr val="12796B"/>
                </a:solidFill>
                <a:latin typeface="Arial" pitchFamily="34" charset="0"/>
                <a:ea typeface="Arial" pitchFamily="34" charset="-122"/>
                <a:cs typeface="Arial" pitchFamily="34" charset="-120"/>
              </a:rPr>
              <a:t>90.6%</a:t>
            </a:r>
            <a:endParaRPr lang="en-US" sz="4000" dirty="0"/>
          </a:p>
          <a:p>
            <a:pPr indent="0" marL="0">
              <a:lnSpc>
                <a:spcPct val="108000"/>
              </a:lnSpc>
              <a:buNone/>
            </a:pPr>
            <a:r>
              <a:rPr lang="en-US" sz="1250" dirty="0">
                <a:solidFill>
                  <a:srgbClr val="0E2726"/>
                </a:solidFill>
                <a:latin typeface="Arial" pitchFamily="34" charset="0"/>
                <a:ea typeface="Arial" pitchFamily="34" charset="-122"/>
                <a:cs typeface="Arial" pitchFamily="34" charset="-120"/>
              </a:rPr>
              <a:t>of 3,944 walk-forward windows landed inside the stated 90% band — the design target, not a discovery.</a:t>
            </a:r>
            <a:endParaRPr lang="en-US" sz="4000" dirty="0"/>
          </a:p>
        </p:txBody>
      </p:sp>
      <p:sp>
        <p:nvSpPr>
          <p:cNvPr id="7" name="Text 4"/>
          <p:cNvSpPr/>
          <p:nvPr/>
        </p:nvSpPr>
        <p:spPr>
          <a:xfrm>
            <a:off x="7818120" y="3246120"/>
            <a:ext cx="3794760" cy="1051560"/>
          </a:xfrm>
          <a:prstGeom prst="rect">
            <a:avLst/>
          </a:prstGeom>
          <a:noFill/>
          <a:ln/>
        </p:spPr>
        <p:txBody>
          <a:bodyPr wrap="square" lIns="0" tIns="0" rIns="0" bIns="0" rtlCol="0" anchor="t"/>
          <a:lstStyle/>
          <a:p>
            <a:pPr indent="0" marL="0">
              <a:buNone/>
            </a:pPr>
            <a:r>
              <a:rPr lang="en-US" sz="1200" dirty="0">
                <a:solidFill>
                  <a:srgbClr val="5C6B70"/>
                </a:solidFill>
                <a:latin typeface="Arial" pitchFamily="34" charset="0"/>
                <a:ea typeface="Arial" pitchFamily="34" charset="-122"/>
                <a:cs typeface="Arial" pitchFamily="34" charset="-120"/>
              </a:rPr>
              <a:t>The windows span up to fifteen years per name — through the 2011 revolution, the 2016 EGP float, COVID, and the 2022–24 devaluations. The band held.</a:t>
            </a:r>
            <a:endParaRPr lang="en-US" sz="1200" dirty="0"/>
          </a:p>
        </p:txBody>
      </p:sp>
      <p:pic>
        <p:nvPicPr>
          <p:cNvPr id="8" name="Image 0" descr="crop_1213_banner.png">    </p:cNvPr>
          <p:cNvPicPr>
            <a:picLocks noChangeAspect="1"/>
          </p:cNvPicPr>
          <p:nvPr/>
        </p:nvPicPr>
        <p:blipFill>
          <a:blip r:embed="rId2"/>
          <a:stretch>
            <a:fillRect/>
          </a:stretch>
        </p:blipFill>
        <p:spPr>
          <a:xfrm>
            <a:off x="7818120" y="4526280"/>
            <a:ext cx="3794760" cy="448056"/>
          </a:xfrm>
          <a:prstGeom prst="rect">
            <a:avLst/>
          </a:prstGeom>
        </p:spPr>
      </p:pic>
      <p:sp>
        <p:nvSpPr>
          <p:cNvPr id="9" name="Text 5"/>
          <p:cNvSpPr/>
          <p:nvPr/>
        </p:nvSpPr>
        <p:spPr>
          <a:xfrm>
            <a:off x="7818120" y="5047488"/>
            <a:ext cx="3794760" cy="320040"/>
          </a:xfrm>
          <a:prstGeom prst="rect">
            <a:avLst/>
          </a:prstGeom>
          <a:noFill/>
          <a:ln/>
        </p:spPr>
        <p:txBody>
          <a:bodyPr wrap="square" lIns="0" tIns="0" rIns="0" bIns="0" rtlCol="0" anchor="ctr"/>
          <a:lstStyle/>
          <a:p>
            <a:pPr indent="0" marL="0">
              <a:buNone/>
            </a:pPr>
            <a:r>
              <a:rPr lang="en-US" sz="1000" i="1" dirty="0">
                <a:solidFill>
                  <a:srgbClr val="7A8A86"/>
                </a:solidFill>
                <a:latin typeface="Arial" pitchFamily="34" charset="0"/>
                <a:ea typeface="Arial" pitchFamily="34" charset="-122"/>
                <a:cs typeface="Arial" pitchFamily="34" charset="-120"/>
              </a:rPr>
              <a:t>The live ledger so far. The one miss is the next slide.</a:t>
            </a:r>
            <a:endParaRPr lang="en-US" sz="1000" dirty="0"/>
          </a:p>
        </p:txBody>
      </p:sp>
      <p:sp>
        <p:nvSpPr>
          <p:cNvPr id="10" name="Text 6"/>
          <p:cNvSpPr/>
          <p:nvPr/>
        </p:nvSpPr>
        <p:spPr>
          <a:xfrm>
            <a:off x="594360" y="6510528"/>
            <a:ext cx="749808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Backtest panels as maintained by the unattended pipeline (engine/panels), read live 18 Aug 2026 · per-market table and verdicts: appendix.</a:t>
            </a:r>
            <a:endParaRPr lang="en-US" sz="850" dirty="0"/>
          </a:p>
        </p:txBody>
      </p:sp>
      <p:sp>
        <p:nvSpPr>
          <p:cNvPr id="11" name="Text 7"/>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2726"/>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07 · THE MISS</a:t>
            </a:r>
            <a:endParaRPr lang="en-US" sz="1100" dirty="0"/>
          </a:p>
        </p:txBody>
      </p:sp>
      <p:sp>
        <p:nvSpPr>
          <p:cNvPr id="3" name="Text 1"/>
          <p:cNvSpPr/>
          <p:nvPr/>
        </p:nvSpPr>
        <p:spPr>
          <a:xfrm>
            <a:off x="594360" y="713232"/>
            <a:ext cx="10972800" cy="1051560"/>
          </a:xfrm>
          <a:prstGeom prst="rect">
            <a:avLst/>
          </a:prstGeom>
          <a:noFill/>
          <a:ln/>
        </p:spPr>
        <p:txBody>
          <a:bodyPr wrap="square" lIns="0" tIns="0" rIns="0" bIns="0" rtlCol="0" anchor="b"/>
          <a:lstStyle/>
          <a:p>
            <a:pPr indent="0" marL="0">
              <a:buNone/>
            </a:pPr>
            <a:r>
              <a:rPr lang="en-US" sz="6600" b="1" dirty="0">
                <a:solidFill>
                  <a:srgbClr val="C0A45F"/>
                </a:solidFill>
                <a:latin typeface="Arial" pitchFamily="34" charset="0"/>
                <a:ea typeface="Arial" pitchFamily="34" charset="-122"/>
                <a:cs typeface="Arial" pitchFamily="34" charset="-120"/>
              </a:rPr>
              <a:t>1 in 10 </a:t>
            </a:r>
            <a:pPr indent="0" marL="0">
              <a:buNone/>
            </a:pPr>
            <a:r>
              <a:rPr lang="en-US" sz="2800" b="1" dirty="0">
                <a:solidFill>
                  <a:srgbClr val="FFFFFF"/>
                </a:solidFill>
                <a:latin typeface="Arial" pitchFamily="34" charset="0"/>
                <a:ea typeface="Arial" pitchFamily="34" charset="-122"/>
                <a:cs typeface="Arial" pitchFamily="34" charset="-120"/>
              </a:rPr>
              <a:t>lands outside — by design.</a:t>
            </a:r>
            <a:endParaRPr lang="en-US" sz="6600" dirty="0"/>
          </a:p>
        </p:txBody>
      </p:sp>
      <p:sp>
        <p:nvSpPr>
          <p:cNvPr id="4" name="Text 2"/>
          <p:cNvSpPr/>
          <p:nvPr/>
        </p:nvSpPr>
        <p:spPr>
          <a:xfrm>
            <a:off x="594360" y="1901952"/>
            <a:ext cx="10881360" cy="685800"/>
          </a:xfrm>
          <a:prstGeom prst="rect">
            <a:avLst/>
          </a:prstGeom>
          <a:noFill/>
          <a:ln/>
        </p:spPr>
        <p:txBody>
          <a:bodyPr wrap="square" lIns="0" tIns="0" rIns="0" bIns="0" rtlCol="0" anchor="ctr"/>
          <a:lstStyle/>
          <a:p>
            <a:pPr indent="0" marL="0">
              <a:buNone/>
            </a:pPr>
            <a:r>
              <a:rPr lang="en-US" sz="1500" dirty="0">
                <a:solidFill>
                  <a:srgbClr val="C9D6D2"/>
                </a:solidFill>
                <a:latin typeface="Arial" pitchFamily="34" charset="0"/>
                <a:ea typeface="Arial" pitchFamily="34" charset="-122"/>
                <a:cs typeface="Arial" pitchFamily="34" charset="-120"/>
              </a:rPr>
              <a:t>A 90% band that never missed would be too wide to be useful. Calibration means the misses arrive on schedule — about one in ten, not never.</a:t>
            </a:r>
            <a:endParaRPr lang="en-US" sz="1500" dirty="0"/>
          </a:p>
        </p:txBody>
      </p:sp>
      <p:pic>
        <p:nvPicPr>
          <p:cNvPr id="5" name="Image 0" descr="asset_cone_miss.png">    </p:cNvPr>
          <p:cNvPicPr>
            <a:picLocks noChangeAspect="1"/>
          </p:cNvPicPr>
          <p:nvPr/>
        </p:nvPicPr>
        <p:blipFill>
          <a:blip r:embed="rId1"/>
          <a:stretch>
            <a:fillRect/>
          </a:stretch>
        </p:blipFill>
        <p:spPr>
          <a:xfrm>
            <a:off x="594360" y="2761488"/>
            <a:ext cx="6766560" cy="3246120"/>
          </a:xfrm>
          <a:prstGeom prst="rect">
            <a:avLst/>
          </a:prstGeom>
        </p:spPr>
      </p:pic>
      <p:sp>
        <p:nvSpPr>
          <p:cNvPr id="6" name="Text 3"/>
          <p:cNvSpPr/>
          <p:nvPr/>
        </p:nvSpPr>
        <p:spPr>
          <a:xfrm>
            <a:off x="7726680" y="2852928"/>
            <a:ext cx="3840480" cy="274320"/>
          </a:xfrm>
          <a:prstGeom prst="rect">
            <a:avLst/>
          </a:prstGeom>
          <a:noFill/>
          <a:ln/>
        </p:spPr>
        <p:txBody>
          <a:bodyPr wrap="square" lIns="0" tIns="0" rIns="0" bIns="0" rtlCol="0" anchor="ctr"/>
          <a:lstStyle/>
          <a:p>
            <a:pPr indent="0" marL="0">
              <a:buNone/>
            </a:pPr>
            <a:r>
              <a:rPr lang="en-US" sz="1150" b="1" spc="200" kern="0" dirty="0">
                <a:solidFill>
                  <a:srgbClr val="C0A45F"/>
                </a:solidFill>
                <a:latin typeface="Arial" pitchFamily="34" charset="0"/>
                <a:ea typeface="Arial" pitchFamily="34" charset="-122"/>
                <a:cs typeface="Arial" pitchFamily="34" charset="-120"/>
              </a:rPr>
              <a:t>THE ONE LIVE MISS SO FAR</a:t>
            </a:r>
            <a:endParaRPr lang="en-US" sz="1150" dirty="0"/>
          </a:p>
        </p:txBody>
      </p:sp>
      <p:sp>
        <p:nvSpPr>
          <p:cNvPr id="7" name="Text 4"/>
          <p:cNvSpPr/>
          <p:nvPr/>
        </p:nvSpPr>
        <p:spPr>
          <a:xfrm>
            <a:off x="7726680" y="3200400"/>
            <a:ext cx="3886200" cy="2103120"/>
          </a:xfrm>
          <a:prstGeom prst="rect">
            <a:avLst/>
          </a:prstGeom>
          <a:noFill/>
          <a:ln/>
        </p:spPr>
        <p:txBody>
          <a:bodyPr wrap="square" lIns="0" tIns="0" rIns="0" bIns="0" rtlCol="0" anchor="ctr"/>
          <a:lstStyle/>
          <a:p>
            <a:pPr indent="0" marL="0">
              <a:spcAft>
                <a:spcPts val="600"/>
              </a:spcAft>
              <a:buNone/>
            </a:pPr>
            <a:r>
              <a:rPr lang="en-US" sz="1250" b="1" dirty="0">
                <a:solidFill>
                  <a:srgbClr val="FFFFFF"/>
                </a:solidFill>
                <a:latin typeface="Arial" pitchFamily="34" charset="0"/>
                <a:ea typeface="Arial" pitchFamily="34" charset="-122"/>
                <a:cs typeface="Arial" pitchFamily="34" charset="-120"/>
              </a:rPr>
              <a:t>Samsung Electronics — 1-month cone</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Anchored 26 Jun 2026 at ₩339,500</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Published band ₩277,676 – ₩430,413</a:t>
            </a:r>
            <a:endParaRPr lang="en-US" sz="1250" dirty="0"/>
          </a:p>
          <a:p>
            <a:pPr indent="0" marL="0">
              <a:spcAft>
                <a:spcPts val="600"/>
              </a:spcAft>
              <a:buNone/>
            </a:pPr>
            <a:r>
              <a:rPr lang="en-US" sz="1250" b="1" dirty="0">
                <a:solidFill>
                  <a:srgbClr val="C0A45F"/>
                </a:solidFill>
                <a:latin typeface="Arial" pitchFamily="34" charset="0"/>
                <a:ea typeface="Arial" pitchFamily="34" charset="-122"/>
                <a:cs typeface="Arial" pitchFamily="34" charset="-120"/>
              </a:rPr>
              <a:t>Realized ₩254,000 — below the band</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Graded as a miss. Kept on the ledger, unedited.</a:t>
            </a:r>
            <a:endParaRPr lang="en-US" sz="1250" dirty="0"/>
          </a:p>
        </p:txBody>
      </p:sp>
      <p:sp>
        <p:nvSpPr>
          <p:cNvPr id="8" name="Text 5"/>
          <p:cNvSpPr/>
          <p:nvPr/>
        </p:nvSpPr>
        <p:spPr>
          <a:xfrm>
            <a:off x="7726680" y="5394960"/>
            <a:ext cx="3886200" cy="685800"/>
          </a:xfrm>
          <a:prstGeom prst="rect">
            <a:avLst/>
          </a:prstGeom>
          <a:noFill/>
          <a:ln/>
        </p:spPr>
        <p:txBody>
          <a:bodyPr wrap="square" lIns="0" tIns="0" rIns="0" bIns="0" rtlCol="0" anchor="ctr"/>
          <a:lstStyle/>
          <a:p>
            <a:pPr indent="0" marL="0">
              <a:buNone/>
            </a:pPr>
            <a:r>
              <a:rPr lang="en-US" sz="1150" i="1" dirty="0">
                <a:solidFill>
                  <a:srgbClr val="9FB4AF"/>
                </a:solidFill>
                <a:latin typeface="Arial" pitchFamily="34" charset="0"/>
                <a:ea typeface="Arial" pitchFamily="34" charset="-122"/>
                <a:cs typeface="Arial" pitchFamily="34" charset="-120"/>
              </a:rPr>
              <a:t>12 of 13 matured forecasts inside their band. The miss is named, plotted, and permanent.</a:t>
            </a:r>
            <a:endParaRPr lang="en-US" sz="1150" dirty="0"/>
          </a:p>
        </p:txBody>
      </p:sp>
      <p:sp>
        <p:nvSpPr>
          <p:cNvPr id="9" name="Text 6"/>
          <p:cNvSpPr/>
          <p:nvPr/>
        </p:nvSpPr>
        <p:spPr>
          <a:xfrm>
            <a:off x="594360" y="6199632"/>
            <a:ext cx="10972800" cy="411480"/>
          </a:xfrm>
          <a:prstGeom prst="rect">
            <a:avLst/>
          </a:prstGeom>
          <a:noFill/>
          <a:ln/>
        </p:spPr>
        <p:txBody>
          <a:bodyPr wrap="square" lIns="0" tIns="0" rIns="0" bIns="0" rtlCol="0" anchor="ctr"/>
          <a:lstStyle/>
          <a:p>
            <a:pPr indent="0" marL="0">
              <a:buNone/>
            </a:pPr>
            <a:r>
              <a:rPr lang="en-US" sz="1500" i="1" dirty="0">
                <a:solidFill>
                  <a:srgbClr val="FFFFFF"/>
                </a:solidFill>
                <a:latin typeface="Arial" pitchFamily="34" charset="0"/>
                <a:ea typeface="Arial" pitchFamily="34" charset="-122"/>
                <a:cs typeface="Arial" pitchFamily="34" charset="-120"/>
              </a:rPr>
              <a:t>Published, time-stamped, graded, misses kept — that’s what honest AI looks like to a regulator.</a:t>
            </a:r>
            <a:endParaRPr lang="en-US" sz="1500" dirty="0"/>
          </a:p>
        </p:txBody>
      </p:sp>
      <p:sp>
        <p:nvSpPr>
          <p:cNvPr id="10" name="Text 7"/>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9FB4AF"/>
                </a:solidFill>
                <a:latin typeface="Arial" pitchFamily="34" charset="0"/>
                <a:ea typeface="Arial" pitchFamily="34" charset="-122"/>
                <a:cs typeface="Arial" pitchFamily="34" charset="-120"/>
              </a:rPr>
              <a:t>Testahil — distributions, not tips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08 · THE TRAJECTORY</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This deck was current fifteen days ago.</a:t>
            </a:r>
            <a:endParaRPr lang="en-US" sz="3400" dirty="0"/>
          </a:p>
        </p:txBody>
      </p:sp>
      <p:graphicFrame>
        <p:nvGraphicFramePr>
          <p:cNvPr id="4" name="Chart 0" descr=""/>
          <p:cNvGraphicFramePr/>
          <p:nvPr/>
        </p:nvGraphicFramePr>
        <p:xfrm>
          <a:off x="594360" y="1691640"/>
          <a:ext cx="576072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720840" y="1645920"/>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+17</a:t>
            </a:r>
            <a:endParaRPr lang="en-US" sz="3400" dirty="0"/>
          </a:p>
        </p:txBody>
      </p:sp>
      <p:sp>
        <p:nvSpPr>
          <p:cNvPr id="6" name="Text 3"/>
          <p:cNvSpPr/>
          <p:nvPr/>
        </p:nvSpPr>
        <p:spPr>
          <a:xfrm>
            <a:off x="8138160" y="1645920"/>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instruments — the whole ADNOC family, du, Borouge, Empower, Air Arabia and more</a:t>
            </a:r>
            <a:endParaRPr lang="en-US" sz="1200" dirty="0"/>
          </a:p>
        </p:txBody>
      </p:sp>
      <p:sp>
        <p:nvSpPr>
          <p:cNvPr id="7" name="Text 4"/>
          <p:cNvSpPr/>
          <p:nvPr/>
        </p:nvSpPr>
        <p:spPr>
          <a:xfrm>
            <a:off x="6720840" y="2670048"/>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+38</a:t>
            </a:r>
            <a:endParaRPr lang="en-US" sz="3400" dirty="0"/>
          </a:p>
        </p:txBody>
      </p:sp>
      <p:sp>
        <p:nvSpPr>
          <p:cNvPr id="8" name="Text 5"/>
          <p:cNvSpPr/>
          <p:nvPr/>
        </p:nvSpPr>
        <p:spPr>
          <a:xfrm>
            <a:off x="8138160" y="2670048"/>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public forecasts struck, dated and on the ledger</a:t>
            </a:r>
            <a:endParaRPr lang="en-US" sz="1200" dirty="0"/>
          </a:p>
        </p:txBody>
      </p:sp>
      <p:sp>
        <p:nvSpPr>
          <p:cNvPr id="9" name="Text 6"/>
          <p:cNvSpPr/>
          <p:nvPr/>
        </p:nvSpPr>
        <p:spPr>
          <a:xfrm>
            <a:off x="6720840" y="3694176"/>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12</a:t>
            </a:r>
            <a:endParaRPr lang="en-US" sz="3400" dirty="0"/>
          </a:p>
        </p:txBody>
      </p:sp>
      <p:sp>
        <p:nvSpPr>
          <p:cNvPr id="10" name="Text 7"/>
          <p:cNvSpPr/>
          <p:nvPr/>
        </p:nvSpPr>
        <p:spPr>
          <a:xfrm>
            <a:off x="8138160" y="3694176"/>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new full ground-up studies shipped, 9–17 Aug</a:t>
            </a:r>
            <a:endParaRPr lang="en-US" sz="1200" dirty="0"/>
          </a:p>
        </p:txBody>
      </p:sp>
      <p:sp>
        <p:nvSpPr>
          <p:cNvPr id="11" name="Text 8"/>
          <p:cNvSpPr/>
          <p:nvPr/>
        </p:nvSpPr>
        <p:spPr>
          <a:xfrm>
            <a:off x="6720840" y="4718304"/>
            <a:ext cx="1325880" cy="685800"/>
          </a:xfrm>
          <a:prstGeom prst="rect">
            <a:avLst/>
          </a:prstGeom>
          <a:noFill/>
          <a:ln/>
        </p:spPr>
        <p:txBody>
          <a:bodyPr wrap="square" lIns="0" tIns="0" rIns="0" bIns="0" rtlCol="0" anchor="ctr"/>
          <a:lstStyle/>
          <a:p>
            <a:pPr indent="0" marL="0">
              <a:buNone/>
            </a:pPr>
            <a:r>
              <a:rPr lang="en-US" sz="3400" b="1" dirty="0">
                <a:solidFill>
                  <a:srgbClr val="C0A45F"/>
                </a:solidFill>
                <a:latin typeface="Arial" pitchFamily="34" charset="0"/>
                <a:ea typeface="Arial" pitchFamily="34" charset="-122"/>
                <a:cs typeface="Arial" pitchFamily="34" charset="-120"/>
              </a:rPr>
              <a:t>1</a:t>
            </a:r>
            <a:endParaRPr lang="en-US" sz="3400" dirty="0"/>
          </a:p>
        </p:txBody>
      </p:sp>
      <p:sp>
        <p:nvSpPr>
          <p:cNvPr id="12" name="Text 9"/>
          <p:cNvSpPr/>
          <p:nvPr/>
        </p:nvSpPr>
        <p:spPr>
          <a:xfrm>
            <a:off x="8138160" y="4718304"/>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new product tab — the Ticker Picker, live 10 Aug</a:t>
            </a:r>
            <a:endParaRPr lang="en-US" sz="1200" dirty="0"/>
          </a:p>
        </p:txBody>
      </p:sp>
      <p:sp>
        <p:nvSpPr>
          <p:cNvPr id="13" name="Text 10"/>
          <p:cNvSpPr/>
          <p:nvPr/>
        </p:nvSpPr>
        <p:spPr>
          <a:xfrm>
            <a:off x="594360" y="5742432"/>
            <a:ext cx="10972800" cy="548640"/>
          </a:xfrm>
          <a:prstGeom prst="rect">
            <a:avLst/>
          </a:prstGeom>
          <a:noFill/>
          <a:ln/>
        </p:spPr>
        <p:txBody>
          <a:bodyPr wrap="square" lIns="0" tIns="0" rIns="0" bIns="0" rtlCol="0" anchor="ctr"/>
          <a:lstStyle/>
          <a:p>
            <a:pPr indent="0" marL="0">
              <a:buNone/>
            </a:pPr>
            <a:r>
              <a:rPr lang="en-US" sz="1250" b="1" dirty="0">
                <a:solidFill>
                  <a:srgbClr val="0F5147"/>
                </a:solidFill>
                <a:latin typeface="Arial" pitchFamily="34" charset="0"/>
                <a:ea typeface="Arial" pitchFamily="34" charset="-122"/>
                <a:cs typeface="Arial" pitchFamily="34" charset="-120"/>
              </a:rPr>
              <a:t>NEXT: </a:t>
            </a:r>
            <a:pPr indent="0" marL="0">
              <a:buNone/>
            </a:pPr>
            <a:r>
              <a:rPr lang="en-US" sz="1250" dirty="0">
                <a:solidFill>
                  <a:srgbClr val="0E2726"/>
                </a:solidFill>
                <a:latin typeface="Arial" pitchFamily="34" charset="0"/>
                <a:ea typeface="Arial" pitchFamily="34" charset="-122"/>
                <a:cs typeface="Arial" pitchFamily="34" charset="-120"/>
              </a:rPr>
              <a:t>every stock carrying 95% of daily traded value across Middle East and EM exchanges.  </a:t>
            </a:r>
            <a:pPr indent="0" marL="0">
              <a:buNone/>
            </a:pPr>
            <a:r>
              <a:rPr lang="en-US" sz="1250" b="1" dirty="0">
                <a:solidFill>
                  <a:srgbClr val="0F5147"/>
                </a:solidFill>
                <a:latin typeface="Arial" pitchFamily="34" charset="0"/>
                <a:ea typeface="Arial" pitchFamily="34" charset="-122"/>
                <a:cs typeface="Arial" pitchFamily="34" charset="-120"/>
              </a:rPr>
              <a:t>THEN: </a:t>
            </a:r>
            <a:pPr indent="0" marL="0">
              <a:buNone/>
            </a:pPr>
            <a:r>
              <a:rPr lang="en-US" sz="1250" dirty="0">
                <a:solidFill>
                  <a:srgbClr val="0E2726"/>
                </a:solidFill>
                <a:latin typeface="Arial" pitchFamily="34" charset="0"/>
                <a:ea typeface="Arial" pitchFamily="34" charset="-122"/>
                <a:cs typeface="Arial" pitchFamily="34" charset="-120"/>
              </a:rPr>
              <a:t>Arabic delivery across the full list, and portfolio-level tools — strictly inside your licensed perimeter.</a:t>
            </a:r>
            <a:endParaRPr lang="en-US" sz="1250" dirty="0"/>
          </a:p>
        </p:txBody>
      </p:sp>
      <p:sp>
        <p:nvSpPr>
          <p:cNvPr id="14" name="Text 11"/>
          <p:cNvSpPr/>
          <p:nvPr/>
        </p:nvSpPr>
        <p:spPr>
          <a:xfrm>
            <a:off x="594360" y="6272784"/>
            <a:ext cx="10515600" cy="365760"/>
          </a:xfrm>
          <a:prstGeom prst="rect">
            <a:avLst/>
          </a:prstGeom>
          <a:noFill/>
          <a:ln/>
        </p:spPr>
        <p:txBody>
          <a:bodyPr wrap="square" lIns="0" tIns="0" rIns="0" bIns="0" rtlCol="0" anchor="ctr"/>
          <a:lstStyle/>
          <a:p>
            <a:pPr indent="0" marL="0">
              <a:buNone/>
            </a:pPr>
            <a:r>
              <a:rPr lang="en-US" sz="1400" i="1" dirty="0">
                <a:solidFill>
                  <a:srgbClr val="0E2726"/>
                </a:solidFill>
                <a:latin typeface="Arial" pitchFamily="34" charset="0"/>
                <a:ea typeface="Arial" pitchFamily="34" charset="-122"/>
                <a:cs typeface="Arial" pitchFamily="34" charset="-120"/>
              </a:rPr>
              <a:t>The marginal name is nearly free. That is the entire economics.</a:t>
            </a:r>
            <a:endParaRPr lang="en-US" sz="1400" dirty="0"/>
          </a:p>
        </p:txBody>
      </p:sp>
      <p:sp>
        <p:nvSpPr>
          <p:cNvPr id="15" name="Text 12"/>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09 · THE BUSINESS</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How this makes money.</a:t>
            </a:r>
            <a:endParaRPr lang="en-US" sz="3400" dirty="0"/>
          </a:p>
        </p:txBody>
      </p:sp>
      <p:sp>
        <p:nvSpPr>
          <p:cNvPr id="4" name="Text 2"/>
          <p:cNvSpPr/>
          <p:nvPr/>
        </p:nvSpPr>
        <p:spPr>
          <a:xfrm>
            <a:off x="594360" y="1444752"/>
            <a:ext cx="10515600" cy="365760"/>
          </a:xfrm>
          <a:prstGeom prst="rect">
            <a:avLst/>
          </a:prstGeom>
          <a:noFill/>
          <a:ln/>
        </p:spPr>
        <p:txBody>
          <a:bodyPr wrap="square" lIns="0" tIns="0" rIns="0" bIns="0" rtlCol="0" anchor="ctr"/>
          <a:lstStyle/>
          <a:p>
            <a:pPr indent="0" marL="0">
              <a:buNone/>
            </a:pPr>
            <a:r>
              <a:rPr lang="en-US" sz="1500" dirty="0">
                <a:solidFill>
                  <a:srgbClr val="5C6B70"/>
                </a:solidFill>
                <a:latin typeface="Arial" pitchFamily="34" charset="0"/>
                <a:ea typeface="Arial" pitchFamily="34" charset="-122"/>
                <a:cs typeface="Arial" pitchFamily="34" charset="-120"/>
              </a:rPr>
              <a:t>Accessible, honest research doesn’t just serve the market — it grows it.</a:t>
            </a:r>
            <a:endParaRPr lang="en-US" sz="1500" dirty="0"/>
          </a:p>
        </p:txBody>
      </p:sp>
      <p:sp>
        <p:nvSpPr>
          <p:cNvPr id="5" name="Shape 3"/>
          <p:cNvSpPr/>
          <p:nvPr/>
        </p:nvSpPr>
        <p:spPr>
          <a:xfrm>
            <a:off x="594360" y="2011680"/>
            <a:ext cx="5349240" cy="3520440"/>
          </a:xfrm>
          <a:prstGeom prst="roundRect">
            <a:avLst>
              <a:gd name="adj" fmla="val 2078"/>
            </a:avLst>
          </a:prstGeom>
          <a:solidFill>
            <a:srgbClr val="FFFFFF"/>
          </a:solidFill>
          <a:ln w="12700">
            <a:solidFill>
              <a:srgbClr val="D9E4E1"/>
            </a:solidFill>
            <a:prstDash val="solid"/>
          </a:ln>
        </p:spPr>
      </p:sp>
      <p:sp>
        <p:nvSpPr>
          <p:cNvPr id="6" name="Text 4"/>
          <p:cNvSpPr/>
          <p:nvPr/>
        </p:nvSpPr>
        <p:spPr>
          <a:xfrm>
            <a:off x="868680" y="2286000"/>
            <a:ext cx="4846320" cy="320040"/>
          </a:xfrm>
          <a:prstGeom prst="rect">
            <a:avLst/>
          </a:prstGeom>
          <a:noFill/>
          <a:ln/>
        </p:spPr>
        <p:txBody>
          <a:bodyPr wrap="square" lIns="0" tIns="0" rIns="0" bIns="0" rtlCol="0" anchor="ctr"/>
          <a:lstStyle/>
          <a:p>
            <a:pPr indent="0" marL="0">
              <a:buNone/>
            </a:pPr>
            <a:r>
              <a:rPr lang="en-US" sz="1400" b="1" spc="150" kern="0" dirty="0">
                <a:solidFill>
                  <a:srgbClr val="12796B"/>
                </a:solidFill>
                <a:latin typeface="Arial" pitchFamily="34" charset="0"/>
                <a:ea typeface="Arial" pitchFamily="34" charset="-122"/>
                <a:cs typeface="Arial" pitchFamily="34" charset="-120"/>
              </a:rPr>
              <a:t>GROW THE MARKET</a:t>
            </a:r>
            <a:endParaRPr lang="en-US" sz="1400" dirty="0"/>
          </a:p>
        </p:txBody>
      </p:sp>
      <p:sp>
        <p:nvSpPr>
          <p:cNvPr id="7" name="Text 5"/>
          <p:cNvSpPr/>
          <p:nvPr/>
        </p:nvSpPr>
        <p:spPr>
          <a:xfrm>
            <a:off x="868680" y="2743200"/>
            <a:ext cx="4800600" cy="2651760"/>
          </a:xfrm>
          <a:prstGeom prst="rect">
            <a:avLst/>
          </a:prstGeom>
          <a:noFill/>
          <a:ln/>
        </p:spPr>
        <p:txBody>
          <a:bodyPr wrap="square" lIns="0" tIns="0" rIns="0" bIns="0" rtlCol="0" anchor="t"/>
          <a:lstStyle/>
          <a:p>
            <a:pPr indent="0" marL="0">
              <a:lnSpc>
                <a:spcPct val="108000"/>
              </a:lnSpc>
              <a:spcAft>
                <a:spcPts val="1000"/>
              </a:spcAft>
              <a:buNone/>
            </a:pPr>
            <a:r>
              <a:rPr lang="en-US" sz="1250" dirty="0">
                <a:solidFill>
                  <a:srgbClr val="0E2726"/>
                </a:solidFill>
                <a:latin typeface="Arial" pitchFamily="34" charset="0"/>
                <a:ea typeface="Arial" pitchFamily="34" charset="-122"/>
                <a:cs typeface="Arial" pitchFamily="34" charset="-120"/>
              </a:rPr>
              <a:t>Capture the new-investor wave — and create it. People who never invested because they couldn’t read the research finally get information they can act on.</a:t>
            </a:r>
            <a:endParaRPr lang="en-US" sz="1250" dirty="0"/>
          </a:p>
          <a:p>
            <a:pPr indent="0" marL="0">
              <a:lnSpc>
                <a:spcPct val="108000"/>
              </a:lnSpc>
              <a:spcAft>
                <a:spcPts val="1000"/>
              </a:spcAft>
              <a:buNone/>
            </a:pPr>
            <a:r>
              <a:rPr lang="en-US" sz="1250" dirty="0">
                <a:solidFill>
                  <a:srgbClr val="0E2726"/>
                </a:solidFill>
                <a:latin typeface="Arial" pitchFamily="34" charset="0"/>
                <a:ea typeface="Arial" pitchFamily="34" charset="-122"/>
                <a:cs typeface="Arial" pitchFamily="34" charset="-120"/>
              </a:rPr>
              <a:t>Informed, accessible odds bring first-timers into Middle East and EM exchanges — and keep them. Guided clients engage more, stay longer, trade more.</a:t>
            </a:r>
            <a:endParaRPr lang="en-US" sz="1250" dirty="0"/>
          </a:p>
        </p:txBody>
      </p:sp>
      <p:sp>
        <p:nvSpPr>
          <p:cNvPr id="8" name="Shape 6"/>
          <p:cNvSpPr/>
          <p:nvPr/>
        </p:nvSpPr>
        <p:spPr>
          <a:xfrm>
            <a:off x="6263640" y="2011680"/>
            <a:ext cx="5349240" cy="3520440"/>
          </a:xfrm>
          <a:prstGeom prst="roundRect">
            <a:avLst>
              <a:gd name="adj" fmla="val 2078"/>
            </a:avLst>
          </a:prstGeom>
          <a:solidFill>
            <a:srgbClr val="FFFFFF"/>
          </a:solidFill>
          <a:ln w="12700">
            <a:solidFill>
              <a:srgbClr val="D9E4E1"/>
            </a:solidFill>
            <a:prstDash val="solid"/>
          </a:ln>
        </p:spPr>
      </p:sp>
      <p:sp>
        <p:nvSpPr>
          <p:cNvPr id="9" name="Text 7"/>
          <p:cNvSpPr/>
          <p:nvPr/>
        </p:nvSpPr>
        <p:spPr>
          <a:xfrm>
            <a:off x="6537960" y="2286000"/>
            <a:ext cx="4846320" cy="320040"/>
          </a:xfrm>
          <a:prstGeom prst="rect">
            <a:avLst/>
          </a:prstGeom>
          <a:noFill/>
          <a:ln/>
        </p:spPr>
        <p:txBody>
          <a:bodyPr wrap="square" lIns="0" tIns="0" rIns="0" bIns="0" rtlCol="0" anchor="ctr"/>
          <a:lstStyle/>
          <a:p>
            <a:pPr indent="0" marL="0">
              <a:buNone/>
            </a:pPr>
            <a:r>
              <a:rPr lang="en-US" sz="1400" b="1" spc="150" kern="0" dirty="0">
                <a:solidFill>
                  <a:srgbClr val="12796B"/>
                </a:solidFill>
                <a:latin typeface="Arial" pitchFamily="34" charset="0"/>
                <a:ea typeface="Arial" pitchFamily="34" charset="-122"/>
                <a:cs typeface="Arial" pitchFamily="34" charset="-120"/>
              </a:rPr>
              <a:t>ONE PARTNER, ONE INTEGRATION</a:t>
            </a:r>
            <a:endParaRPr lang="en-US" sz="1400" dirty="0"/>
          </a:p>
        </p:txBody>
      </p:sp>
      <p:sp>
        <p:nvSpPr>
          <p:cNvPr id="10" name="Text 8"/>
          <p:cNvSpPr/>
          <p:nvPr/>
        </p:nvSpPr>
        <p:spPr>
          <a:xfrm>
            <a:off x="6537960" y="2743200"/>
            <a:ext cx="4800600" cy="2651760"/>
          </a:xfrm>
          <a:prstGeom prst="rect">
            <a:avLst/>
          </a:prstGeom>
          <a:noFill/>
          <a:ln/>
        </p:spPr>
        <p:txBody>
          <a:bodyPr wrap="square" lIns="0" tIns="0" rIns="0" bIns="0" rtlCol="0" anchor="t"/>
          <a:lstStyle/>
          <a:p>
            <a:pPr indent="0" marL="0">
              <a:lnSpc>
                <a:spcPct val="108000"/>
              </a:lnSpc>
              <a:spcAft>
                <a:spcPts val="1000"/>
              </a:spcAft>
              <a:buNone/>
            </a:pPr>
            <a:r>
              <a:rPr lang="en-US" sz="1250" dirty="0">
                <a:solidFill>
                  <a:srgbClr val="0E2726"/>
                </a:solidFill>
                <a:latin typeface="Arial" pitchFamily="34" charset="0"/>
                <a:ea typeface="Arial" pitchFamily="34" charset="-122"/>
                <a:cs typeface="Arial" pitchFamily="34" charset="-120"/>
              </a:rPr>
              <a:t>One deep integration — scoped per country, per language, per feature tier — delivered white-label or by API under your umbrella.</a:t>
            </a:r>
            <a:endParaRPr lang="en-US" sz="1250" dirty="0"/>
          </a:p>
          <a:p>
            <a:pPr indent="0" marL="0">
              <a:lnSpc>
                <a:spcPct val="108000"/>
              </a:lnSpc>
              <a:spcAft>
                <a:spcPts val="1000"/>
              </a:spcAft>
              <a:buNone/>
            </a:pPr>
            <a:r>
              <a:rPr lang="en-US" sz="1250" dirty="0">
                <a:solidFill>
                  <a:srgbClr val="0E2726"/>
                </a:solidFill>
                <a:latin typeface="Arial" pitchFamily="34" charset="0"/>
                <a:ea typeface="Arial" pitchFamily="34" charset="-122"/>
                <a:cs typeface="Arial" pitchFamily="34" charset="-120"/>
              </a:rPr>
              <a:t>Premium modules by tier: Ticker Picker, Compare, Trade and Portfolio roll out as licensed features, not giveaways. Your return: engagement, retention, volume — and first-mover ownership of publicly-graded AI research in your markets.</a:t>
            </a:r>
            <a:endParaRPr lang="en-US" sz="1250" dirty="0"/>
          </a:p>
        </p:txBody>
      </p:sp>
      <p:sp>
        <p:nvSpPr>
          <p:cNvPr id="11" name="Text 9"/>
          <p:cNvSpPr/>
          <p:nvPr/>
        </p:nvSpPr>
        <p:spPr>
          <a:xfrm>
            <a:off x="594360" y="5897880"/>
            <a:ext cx="10972800" cy="548640"/>
          </a:xfrm>
          <a:prstGeom prst="rect">
            <a:avLst/>
          </a:prstGeom>
          <a:noFill/>
          <a:ln/>
        </p:spPr>
        <p:txBody>
          <a:bodyPr wrap="square" lIns="0" tIns="0" rIns="0" bIns="0" rtlCol="0" anchor="ctr"/>
          <a:lstStyle/>
          <a:p>
            <a:pPr indent="0" marL="0">
              <a:buNone/>
            </a:pPr>
            <a:r>
              <a:rPr lang="en-US" sz="1400" i="1" dirty="0">
                <a:solidFill>
                  <a:srgbClr val="0E2726"/>
                </a:solidFill>
                <a:latin typeface="Arial" pitchFamily="34" charset="0"/>
                <a:ea typeface="Arial" pitchFamily="34" charset="-122"/>
                <a:cs typeface="Arial" pitchFamily="34" charset="-120"/>
              </a:rPr>
              <a:t>One engine: the marginal name is nearly free. Each new market carries its own data, licensing and residency cost — priced openly, never buried.</a:t>
            </a:r>
            <a:endParaRPr lang="en-US" sz="1400" dirty="0"/>
          </a:p>
        </p:txBody>
      </p:sp>
      <p:sp>
        <p:nvSpPr>
          <p:cNvPr id="12" name="Text 10"/>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10 · THE ASK</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The ask: a staged path.</a:t>
            </a:r>
            <a:endParaRPr lang="en-US" sz="3400" dirty="0"/>
          </a:p>
        </p:txBody>
      </p:sp>
      <p:sp>
        <p:nvSpPr>
          <p:cNvPr id="4" name="Shape 2"/>
          <p:cNvSpPr/>
          <p:nvPr/>
        </p:nvSpPr>
        <p:spPr>
          <a:xfrm>
            <a:off x="594360" y="1691640"/>
            <a:ext cx="3566160" cy="3931920"/>
          </a:xfrm>
          <a:prstGeom prst="roundRect">
            <a:avLst>
              <a:gd name="adj" fmla="val 2051"/>
            </a:avLst>
          </a:prstGeom>
          <a:solidFill>
            <a:srgbClr val="FFFFFF"/>
          </a:solidFill>
          <a:ln w="12700">
            <a:solidFill>
              <a:srgbClr val="D9E4E1"/>
            </a:solidFill>
            <a:prstDash val="solid"/>
          </a:ln>
        </p:spPr>
      </p:sp>
      <p:sp>
        <p:nvSpPr>
          <p:cNvPr id="5" name="Text 3"/>
          <p:cNvSpPr/>
          <p:nvPr/>
        </p:nvSpPr>
        <p:spPr>
          <a:xfrm>
            <a:off x="832104" y="1938528"/>
            <a:ext cx="3108960" cy="320040"/>
          </a:xfrm>
          <a:prstGeom prst="rect">
            <a:avLst/>
          </a:prstGeom>
          <a:noFill/>
          <a:ln/>
        </p:spPr>
        <p:txBody>
          <a:bodyPr wrap="square" lIns="0" tIns="0" rIns="0" bIns="0" rtlCol="0" anchor="ctr"/>
          <a:lstStyle/>
          <a:p>
            <a:pPr indent="0" marL="0">
              <a:buNone/>
            </a:pPr>
            <a:r>
              <a:rPr lang="en-US" sz="1300" b="1" spc="150" kern="0" dirty="0">
                <a:solidFill>
                  <a:srgbClr val="12796B"/>
                </a:solidFill>
                <a:latin typeface="Arial" pitchFamily="34" charset="0"/>
                <a:ea typeface="Arial" pitchFamily="34" charset="-122"/>
                <a:cs typeface="Arial" pitchFamily="34" charset="-120"/>
              </a:rPr>
              <a:t>1 · THE PILOT</a:t>
            </a:r>
            <a:endParaRPr lang="en-US" sz="1300" dirty="0"/>
          </a:p>
        </p:txBody>
      </p:sp>
      <p:sp>
        <p:nvSpPr>
          <p:cNvPr id="6" name="Text 4"/>
          <p:cNvSpPr/>
          <p:nvPr/>
        </p:nvSpPr>
        <p:spPr>
          <a:xfrm>
            <a:off x="832104" y="2377440"/>
            <a:ext cx="3108960" cy="3108960"/>
          </a:xfrm>
          <a:prstGeom prst="rect">
            <a:avLst/>
          </a:prstGeom>
          <a:noFill/>
          <a:ln/>
        </p:spPr>
        <p:txBody>
          <a:bodyPr wrap="square" lIns="0" tIns="0" rIns="0" bIns="0" rtlCol="0" anchor="t"/>
          <a:lstStyle/>
          <a:p>
            <a:pPr indent="0" marL="0">
              <a:lnSpc>
                <a:spcPct val="112000"/>
              </a:lnSpc>
              <a:buNone/>
            </a:pPr>
            <a:r>
              <a:rPr lang="en-US" sz="1150" dirty="0">
                <a:solidFill>
                  <a:srgbClr val="0E2726"/>
                </a:solidFill>
                <a:latin typeface="Arial" pitchFamily="34" charset="0"/>
                <a:ea typeface="Arial" pitchFamily="34" charset="-122"/>
                <a:cs typeface="Arial" pitchFamily="34" charset="-120"/>
              </a:rPr>
              <a:t>A 90-day audited pilot on the 25 names your clients hold most — opening with the data room: the full 15-year calibration archive, every window, every cone, every miss, plus a verification script your quants run to reproduce the 90.6% from the public record before any client sees a number.</a:t>
            </a:r>
            <a:endParaRPr lang="en-US" sz="1150" dirty="0"/>
          </a:p>
        </p:txBody>
      </p:sp>
      <p:sp>
        <p:nvSpPr>
          <p:cNvPr id="7" name="Shape 5"/>
          <p:cNvSpPr/>
          <p:nvPr/>
        </p:nvSpPr>
        <p:spPr>
          <a:xfrm>
            <a:off x="4370832" y="1691640"/>
            <a:ext cx="3566160" cy="3931920"/>
          </a:xfrm>
          <a:prstGeom prst="roundRect">
            <a:avLst>
              <a:gd name="adj" fmla="val 2051"/>
            </a:avLst>
          </a:prstGeom>
          <a:solidFill>
            <a:srgbClr val="FFFFFF"/>
          </a:solidFill>
          <a:ln w="12700">
            <a:solidFill>
              <a:srgbClr val="D9E4E1"/>
            </a:solidFill>
            <a:prstDash val="solid"/>
          </a:ln>
        </p:spPr>
      </p:sp>
      <p:sp>
        <p:nvSpPr>
          <p:cNvPr id="8" name="Text 6"/>
          <p:cNvSpPr/>
          <p:nvPr/>
        </p:nvSpPr>
        <p:spPr>
          <a:xfrm>
            <a:off x="4608576" y="1938528"/>
            <a:ext cx="3108960" cy="320040"/>
          </a:xfrm>
          <a:prstGeom prst="rect">
            <a:avLst/>
          </a:prstGeom>
          <a:noFill/>
          <a:ln/>
        </p:spPr>
        <p:txBody>
          <a:bodyPr wrap="square" lIns="0" tIns="0" rIns="0" bIns="0" rtlCol="0" anchor="ctr"/>
          <a:lstStyle/>
          <a:p>
            <a:pPr indent="0" marL="0">
              <a:buNone/>
            </a:pPr>
            <a:r>
              <a:rPr lang="en-US" sz="1300" b="1" spc="150" kern="0" dirty="0">
                <a:solidFill>
                  <a:srgbClr val="12796B"/>
                </a:solidFill>
                <a:latin typeface="Arial" pitchFamily="34" charset="0"/>
                <a:ea typeface="Arial" pitchFamily="34" charset="-122"/>
                <a:cs typeface="Arial" pitchFamily="34" charset="-120"/>
              </a:rPr>
              <a:t>2 · THE INTEGRATION</a:t>
            </a:r>
            <a:endParaRPr lang="en-US" sz="1300" dirty="0"/>
          </a:p>
        </p:txBody>
      </p:sp>
      <p:sp>
        <p:nvSpPr>
          <p:cNvPr id="9" name="Text 7"/>
          <p:cNvSpPr/>
          <p:nvPr/>
        </p:nvSpPr>
        <p:spPr>
          <a:xfrm>
            <a:off x="4608576" y="2377440"/>
            <a:ext cx="3108960" cy="3108960"/>
          </a:xfrm>
          <a:prstGeom prst="rect">
            <a:avLst/>
          </a:prstGeom>
          <a:noFill/>
          <a:ln/>
        </p:spPr>
        <p:txBody>
          <a:bodyPr wrap="square" lIns="0" tIns="0" rIns="0" bIns="0" rtlCol="0" anchor="t"/>
          <a:lstStyle/>
          <a:p>
            <a:pPr indent="0" marL="0">
              <a:lnSpc>
                <a:spcPct val="112000"/>
              </a:lnSpc>
              <a:buNone/>
            </a:pPr>
            <a:r>
              <a:rPr lang="en-US" sz="1150" dirty="0">
                <a:solidFill>
                  <a:srgbClr val="0E2726"/>
                </a:solidFill>
                <a:latin typeface="Arial" pitchFamily="34" charset="0"/>
                <a:ea typeface="Arial" pitchFamily="34" charset="-122"/>
                <a:cs typeface="Arial" pitchFamily="34" charset="-120"/>
              </a:rPr>
              <a:t>Testahil operates under your umbrella — white-label pages or API inside your app. Your analysts become the review layer on every published number, so the output is your firm’s process, not a third party’s black box.</a:t>
            </a:r>
            <a:endParaRPr lang="en-US" sz="1150" dirty="0"/>
          </a:p>
        </p:txBody>
      </p:sp>
      <p:sp>
        <p:nvSpPr>
          <p:cNvPr id="10" name="Shape 8"/>
          <p:cNvSpPr/>
          <p:nvPr/>
        </p:nvSpPr>
        <p:spPr>
          <a:xfrm>
            <a:off x="8147304" y="1691640"/>
            <a:ext cx="3566160" cy="3931920"/>
          </a:xfrm>
          <a:prstGeom prst="roundRect">
            <a:avLst>
              <a:gd name="adj" fmla="val 2051"/>
            </a:avLst>
          </a:prstGeom>
          <a:solidFill>
            <a:srgbClr val="FFFFFF"/>
          </a:solidFill>
          <a:ln w="12700">
            <a:solidFill>
              <a:srgbClr val="D9E4E1"/>
            </a:solidFill>
            <a:prstDash val="solid"/>
          </a:ln>
        </p:spPr>
      </p:sp>
      <p:sp>
        <p:nvSpPr>
          <p:cNvPr id="11" name="Text 9"/>
          <p:cNvSpPr/>
          <p:nvPr/>
        </p:nvSpPr>
        <p:spPr>
          <a:xfrm>
            <a:off x="8385048" y="1938528"/>
            <a:ext cx="3108960" cy="320040"/>
          </a:xfrm>
          <a:prstGeom prst="rect">
            <a:avLst/>
          </a:prstGeom>
          <a:noFill/>
          <a:ln/>
        </p:spPr>
        <p:txBody>
          <a:bodyPr wrap="square" lIns="0" tIns="0" rIns="0" bIns="0" rtlCol="0" anchor="ctr"/>
          <a:lstStyle/>
          <a:p>
            <a:pPr indent="0" marL="0">
              <a:buNone/>
            </a:pPr>
            <a:r>
              <a:rPr lang="en-US" sz="1300" b="1" spc="150" kern="0" dirty="0">
                <a:solidFill>
                  <a:srgbClr val="12796B"/>
                </a:solidFill>
                <a:latin typeface="Arial" pitchFamily="34" charset="0"/>
                <a:ea typeface="Arial" pitchFamily="34" charset="-122"/>
                <a:cs typeface="Arial" pitchFamily="34" charset="-120"/>
              </a:rPr>
              <a:t>3 · THE EXPANSION</a:t>
            </a:r>
            <a:endParaRPr lang="en-US" sz="1300" dirty="0"/>
          </a:p>
        </p:txBody>
      </p:sp>
      <p:sp>
        <p:nvSpPr>
          <p:cNvPr id="12" name="Text 10"/>
          <p:cNvSpPr/>
          <p:nvPr/>
        </p:nvSpPr>
        <p:spPr>
          <a:xfrm>
            <a:off x="8385048" y="2377440"/>
            <a:ext cx="3108960" cy="3108960"/>
          </a:xfrm>
          <a:prstGeom prst="rect">
            <a:avLst/>
          </a:prstGeom>
          <a:noFill/>
          <a:ln/>
        </p:spPr>
        <p:txBody>
          <a:bodyPr wrap="square" lIns="0" tIns="0" rIns="0" bIns="0" rtlCol="0" anchor="t"/>
          <a:lstStyle/>
          <a:p>
            <a:pPr indent="0" marL="0">
              <a:lnSpc>
                <a:spcPct val="112000"/>
              </a:lnSpc>
              <a:buNone/>
            </a:pPr>
            <a:r>
              <a:rPr lang="en-US" sz="1150" dirty="0">
                <a:solidFill>
                  <a:srgbClr val="0E2726"/>
                </a:solidFill>
                <a:latin typeface="Arial" pitchFamily="34" charset="0"/>
                <a:ea typeface="Arial" pitchFamily="34" charset="-122"/>
                <a:cs typeface="Arial" pitchFamily="34" charset="-120"/>
              </a:rPr>
              <a:t>A joint model &amp; research board — your senior analysts and quants with Testahil — approving upgrades, auditing calibration, and resourcing the expansion to full MENA coverage.</a:t>
            </a:r>
            <a:endParaRPr lang="en-US" sz="1150" dirty="0"/>
          </a:p>
        </p:txBody>
      </p:sp>
      <p:sp>
        <p:nvSpPr>
          <p:cNvPr id="13" name="Text 11"/>
          <p:cNvSpPr/>
          <p:nvPr/>
        </p:nvSpPr>
        <p:spPr>
          <a:xfrm>
            <a:off x="594360" y="5943600"/>
            <a:ext cx="10972800" cy="411480"/>
          </a:xfrm>
          <a:prstGeom prst="rect">
            <a:avLst/>
          </a:prstGeom>
          <a:noFill/>
          <a:ln/>
        </p:spPr>
        <p:txBody>
          <a:bodyPr wrap="square" lIns="0" tIns="0" rIns="0" bIns="0" rtlCol="0" anchor="ctr"/>
          <a:lstStyle/>
          <a:p>
            <a:pPr indent="0" marL="0">
              <a:buNone/>
            </a:pPr>
            <a:r>
              <a:rPr lang="en-US" sz="1500" i="1" dirty="0">
                <a:solidFill>
                  <a:srgbClr val="0E2726"/>
                </a:solidFill>
                <a:latin typeface="Arial" pitchFamily="34" charset="0"/>
                <a:ea typeface="Arial" pitchFamily="34" charset="-122"/>
                <a:cs typeface="Arial" pitchFamily="34" charset="-120"/>
              </a:rPr>
              <a:t>What we bring: the engine, the ledger, the discipline. What we ask: your umbrella, your licence, your scale.</a:t>
            </a:r>
            <a:endParaRPr lang="en-US" sz="1500" dirty="0"/>
          </a:p>
        </p:txBody>
      </p:sp>
      <p:sp>
        <p:nvSpPr>
          <p:cNvPr id="14" name="Text 12"/>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11 · THE COMMERCIAL FRAME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A free pilot is not a free lunch.</a:t>
            </a:r>
            <a:endParaRPr lang="en-US" sz="3400" dirty="0"/>
          </a:p>
        </p:txBody>
      </p:sp>
      <p:sp>
        <p:nvSpPr>
          <p:cNvPr id="4" name="Text 2"/>
          <p:cNvSpPr/>
          <p:nvPr/>
        </p:nvSpPr>
        <p:spPr>
          <a:xfrm>
            <a:off x="594360"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THE GATE</a:t>
            </a:r>
            <a:endParaRPr lang="en-US" sz="1300" dirty="0"/>
          </a:p>
        </p:txBody>
      </p:sp>
      <p:sp>
        <p:nvSpPr>
          <p:cNvPr id="5" name="Text 3"/>
          <p:cNvSpPr/>
          <p:nvPr/>
        </p:nvSpPr>
        <p:spPr>
          <a:xfrm>
            <a:off x="594360"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Before day one: an agreed licence price, a named budget holder, and a procurement timeline. The pilot is free — the conversion is not left to goodwill.</a:t>
            </a:r>
            <a:endParaRPr lang="en-US" sz="1200" dirty="0"/>
          </a:p>
        </p:txBody>
      </p:sp>
      <p:sp>
        <p:nvSpPr>
          <p:cNvPr id="6" name="Text 4"/>
          <p:cNvSpPr/>
          <p:nvPr/>
        </p:nvSpPr>
        <p:spPr>
          <a:xfrm>
            <a:off x="4370832"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THE LICENCE</a:t>
            </a:r>
            <a:endParaRPr lang="en-US" sz="1300" dirty="0"/>
          </a:p>
        </p:txBody>
      </p:sp>
      <p:sp>
        <p:nvSpPr>
          <p:cNvPr id="7" name="Text 5"/>
          <p:cNvSpPr/>
          <p:nvPr/>
        </p:nvSpPr>
        <p:spPr>
          <a:xfrm>
            <a:off x="4370832"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Scoped by market, language, feature tier — and channel. Exclusivity where it matters to you, never universal: testahil.com keeps publishing publicly, because the graded record is what makes the engine credible to your compliance team. Each new market priced on its own data and residency cost.</a:t>
            </a:r>
            <a:endParaRPr lang="en-US" sz="1200" dirty="0"/>
          </a:p>
        </p:txBody>
      </p:sp>
      <p:sp>
        <p:nvSpPr>
          <p:cNvPr id="8" name="Text 6"/>
          <p:cNvSpPr/>
          <p:nvPr/>
        </p:nvSpPr>
        <p:spPr>
          <a:xfrm>
            <a:off x="8147304"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THE ALTERNATIVE</a:t>
            </a:r>
            <a:endParaRPr lang="en-US" sz="1300" dirty="0"/>
          </a:p>
        </p:txBody>
      </p:sp>
      <p:sp>
        <p:nvSpPr>
          <p:cNvPr id="9" name="Text 7"/>
          <p:cNvSpPr/>
          <p:nvPr/>
        </p:nvSpPr>
        <p:spPr>
          <a:xfrm>
            <a:off x="8147304"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Where no licence line exists, the same value can be structured as equity, revenue share, or build-operate-transfer with a pre-agreed buyout. We are open on structure — not on whether there is one.</a:t>
            </a:r>
            <a:endParaRPr lang="en-US" sz="1200" dirty="0"/>
          </a:p>
        </p:txBody>
      </p:sp>
      <p:sp>
        <p:nvSpPr>
          <p:cNvPr id="10" name="Text 8"/>
          <p:cNvSpPr/>
          <p:nvPr/>
        </p:nvSpPr>
        <p:spPr>
          <a:xfrm>
            <a:off x="594360" y="5943600"/>
            <a:ext cx="10972800" cy="411480"/>
          </a:xfrm>
          <a:prstGeom prst="rect">
            <a:avLst/>
          </a:prstGeom>
          <a:noFill/>
          <a:ln/>
        </p:spPr>
        <p:txBody>
          <a:bodyPr wrap="square" lIns="0" tIns="0" rIns="0" bIns="0" rtlCol="0" anchor="ctr"/>
          <a:lstStyle/>
          <a:p>
            <a:pPr indent="0" marL="0">
              <a:buNone/>
            </a:pPr>
            <a:r>
              <a:rPr lang="en-US" sz="1500" i="1" dirty="0">
                <a:solidFill>
                  <a:srgbClr val="0E2726"/>
                </a:solidFill>
                <a:latin typeface="Arial" pitchFamily="34" charset="0"/>
                <a:ea typeface="Arial" pitchFamily="34" charset="-122"/>
                <a:cs typeface="Arial" pitchFamily="34" charset="-120"/>
              </a:rPr>
              <a:t>A pilot should end in an answer, not a delay — and we would rather have it in 3 months, not 6.</a:t>
            </a:r>
            <a:endParaRPr lang="en-US" sz="1500" dirty="0"/>
          </a:p>
        </p:txBody>
      </p:sp>
      <p:sp>
        <p:nvSpPr>
          <p:cNvPr id="11"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726"/>
        </a:solidFill>
      </p:bgPr>
    </p:bg>
    <p:spTree>
      <p:nvGrpSpPr>
        <p:cNvPr id="1" name=""/>
        <p:cNvGrpSpPr/>
        <p:nvPr/>
      </p:nvGrpSpPr>
      <p:grpSpPr>
        <a:xfrm>
          <a:off x="0" y="0"/>
          <a:ext cx="0" cy="0"/>
          <a:chOff x="0" y="0"/>
          <a:chExt cx="0" cy="0"/>
        </a:xfrm>
      </p:grpSpPr>
      <p:pic>
        <p:nvPicPr>
          <p:cNvPr id="2" name="Image 0" descr="asset_cover_fan.png">    </p:cNvPr>
          <p:cNvPicPr>
            <a:picLocks noChangeAspect="1"/>
          </p:cNvPicPr>
          <p:nvPr/>
        </p:nvPicPr>
        <p:blipFill>
          <a:blip r:embed="rId1">
            <a:alphaModFix amt="60000"/>
          </a:blip>
          <a:stretch>
            <a:fillRect/>
          </a:stretch>
        </p:blipFill>
        <p:spPr>
          <a:xfrm>
            <a:off x="5239512" y="3090672"/>
            <a:ext cx="6949440" cy="3767328"/>
          </a:xfrm>
          <a:prstGeom prst="rect">
            <a:avLst/>
          </a:prstGeom>
        </p:spPr>
      </p:pic>
      <p:sp>
        <p:nvSpPr>
          <p:cNvPr id="3"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12 · THE DEMO</a:t>
            </a:r>
            <a:endParaRPr lang="en-US" sz="1100" dirty="0"/>
          </a:p>
        </p:txBody>
      </p:sp>
      <p:sp>
        <p:nvSpPr>
          <p:cNvPr id="4" name="Text 1"/>
          <p:cNvSpPr/>
          <p:nvPr/>
        </p:nvSpPr>
        <p:spPr>
          <a:xfrm>
            <a:off x="594360" y="123444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Enough slides. The engine is live.</a:t>
            </a:r>
            <a:endParaRPr lang="en-US" sz="4000" dirty="0"/>
          </a:p>
        </p:txBody>
      </p:sp>
      <p:sp>
        <p:nvSpPr>
          <p:cNvPr id="5" name="Text 2"/>
          <p:cNvSpPr/>
          <p:nvPr/>
        </p:nvSpPr>
        <p:spPr>
          <a:xfrm>
            <a:off x="594360" y="2395728"/>
            <a:ext cx="10972800" cy="457200"/>
          </a:xfrm>
          <a:prstGeom prst="rect">
            <a:avLst/>
          </a:prstGeom>
          <a:noFill/>
          <a:ln/>
        </p:spPr>
        <p:txBody>
          <a:bodyPr wrap="square" lIns="0" tIns="0" rIns="0" bIns="0" rtlCol="0" anchor="ctr"/>
          <a:lstStyle/>
          <a:p>
            <a:pPr indent="0" marL="0">
              <a:buNone/>
            </a:pPr>
            <a:r>
              <a:rPr lang="en-US" sz="1800" b="1" dirty="0">
                <a:solidFill>
                  <a:srgbClr val="C0A45F"/>
                </a:solidFill>
                <a:latin typeface="Arial" pitchFamily="34" charset="0"/>
                <a:ea typeface="Arial" pitchFamily="34" charset="-122"/>
                <a:cs typeface="Arial" pitchFamily="34" charset="-120"/>
              </a:rPr>
              <a:t>testahil.com</a:t>
            </a:r>
            <a:pPr indent="0" marL="0">
              <a:buNone/>
            </a:pPr>
            <a:r>
              <a:rPr lang="en-US" sz="1800" dirty="0">
                <a:solidFill>
                  <a:srgbClr val="C9D6D2"/>
                </a:solidFill>
                <a:latin typeface="Arial" pitchFamily="34" charset="0"/>
                <a:ea typeface="Arial" pitchFamily="34" charset="-122"/>
                <a:cs typeface="Arial" pitchFamily="34" charset="-120"/>
              </a:rPr>
              <a:t>  —  Ticker Picker · Compare · Trade · Portfolio · the public Ledger</a:t>
            </a:r>
            <a:endParaRPr lang="en-US" sz="1800" dirty="0"/>
          </a:p>
        </p:txBody>
      </p:sp>
      <p:sp>
        <p:nvSpPr>
          <p:cNvPr id="6" name="Text 3"/>
          <p:cNvSpPr/>
          <p:nvPr/>
        </p:nvSpPr>
        <p:spPr>
          <a:xfrm>
            <a:off x="594360" y="3063240"/>
            <a:ext cx="8778240" cy="777240"/>
          </a:xfrm>
          <a:prstGeom prst="rect">
            <a:avLst/>
          </a:prstGeom>
          <a:noFill/>
          <a:ln/>
        </p:spPr>
        <p:txBody>
          <a:bodyPr wrap="square" lIns="0" tIns="0" rIns="0" bIns="0" rtlCol="0" anchor="ctr"/>
          <a:lstStyle/>
          <a:p>
            <a:pPr indent="0" marL="0">
              <a:buNone/>
            </a:pPr>
            <a:r>
              <a:rPr lang="en-US" sz="1400" dirty="0">
                <a:solidFill>
                  <a:srgbClr val="C9D6D2"/>
                </a:solidFill>
                <a:latin typeface="Arial" pitchFamily="34" charset="0"/>
                <a:ea typeface="Arial" pitchFamily="34" charset="-122"/>
                <a:cs typeface="Arial" pitchFamily="34" charset="-120"/>
              </a:rPr>
              <a:t>Leave-behind for your technical team: the full Tata Motors validation study — the worked example, the model, and every assumption on the record.</a:t>
            </a:r>
            <a:endParaRPr lang="en-US" sz="1400" dirty="0"/>
          </a:p>
        </p:txBody>
      </p:sp>
      <p:sp>
        <p:nvSpPr>
          <p:cNvPr id="7" name="Text 4"/>
          <p:cNvSpPr/>
          <p:nvPr/>
        </p:nvSpPr>
        <p:spPr>
          <a:xfrm>
            <a:off x="594360" y="4069080"/>
            <a:ext cx="8778240" cy="640080"/>
          </a:xfrm>
          <a:prstGeom prst="rect">
            <a:avLst/>
          </a:prstGeom>
          <a:noFill/>
          <a:ln/>
        </p:spPr>
        <p:txBody>
          <a:bodyPr wrap="square" lIns="0" tIns="0" rIns="0" bIns="0" rtlCol="0" anchor="ctr"/>
          <a:lstStyle/>
          <a:p>
            <a:pPr indent="0" marL="0">
              <a:buNone/>
            </a:pPr>
            <a:r>
              <a:rPr lang="en-US" sz="1600" i="1" dirty="0">
                <a:solidFill>
                  <a:srgbClr val="FFFFFF"/>
                </a:solidFill>
                <a:latin typeface="Arial" pitchFamily="34" charset="0"/>
                <a:ea typeface="Arial" pitchFamily="34" charset="-122"/>
                <a:cs typeface="Arial" pitchFamily="34" charset="-120"/>
              </a:rPr>
              <a:t>Every number you’re about to see is the same number the public sees — graded, dated, and accountable.</a:t>
            </a:r>
            <a:endParaRPr lang="en-US" sz="1600" dirty="0"/>
          </a:p>
        </p:txBody>
      </p:sp>
      <p:sp>
        <p:nvSpPr>
          <p:cNvPr id="8" name="Text 5"/>
          <p:cNvSpPr/>
          <p:nvPr/>
        </p:nvSpPr>
        <p:spPr>
          <a:xfrm>
            <a:off x="594360" y="5806440"/>
            <a:ext cx="9144000" cy="457200"/>
          </a:xfrm>
          <a:prstGeom prst="rect">
            <a:avLst/>
          </a:prstGeom>
          <a:noFill/>
          <a:ln/>
        </p:spPr>
        <p:txBody>
          <a:bodyPr wrap="square" lIns="0" tIns="0" rIns="0" bIns="0" rtlCol="0" anchor="ctr"/>
          <a:lstStyle/>
          <a:p>
            <a:pPr indent="0" marL="0">
              <a:buNone/>
            </a:pPr>
            <a:r>
              <a:rPr lang="en-US" sz="1600" b="1" spc="200" kern="0" dirty="0">
                <a:solidFill>
                  <a:srgbClr val="C0A45F"/>
                </a:solidFill>
                <a:latin typeface="Courier New" pitchFamily="34" charset="0"/>
                <a:ea typeface="Courier New" pitchFamily="34" charset="-122"/>
                <a:cs typeface="Courier New" pitchFamily="34" charset="-120"/>
              </a:rPr>
              <a:t>INFO@TESTAHIL.COM   ·   TESTAHIL.COM</a:t>
            </a:r>
            <a:endParaRPr lang="en-US" sz="1600" dirty="0"/>
          </a:p>
        </p:txBody>
      </p:sp>
      <p:sp>
        <p:nvSpPr>
          <p:cNvPr id="9" name="Text 6"/>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9FB4AF"/>
                </a:solidFill>
                <a:latin typeface="Arial" pitchFamily="34" charset="0"/>
                <a:ea typeface="Arial" pitchFamily="34" charset="-122"/>
                <a:cs typeface="Arial" pitchFamily="34" charset="-120"/>
              </a:rPr>
              <a:t>Testahil — distributions, not tips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GOVERNANCE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Built to survive your compliance review.</a:t>
            </a:r>
            <a:endParaRPr lang="en-US" sz="3400" dirty="0"/>
          </a:p>
        </p:txBody>
      </p:sp>
      <p:sp>
        <p:nvSpPr>
          <p:cNvPr id="4" name="Text 2"/>
          <p:cNvSpPr/>
          <p:nvPr/>
        </p:nvSpPr>
        <p:spPr>
          <a:xfrm>
            <a:off x="594360"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WHAT PUBLISHES</a:t>
            </a:r>
            <a:endParaRPr lang="en-US" sz="1300" dirty="0"/>
          </a:p>
        </p:txBody>
      </p:sp>
      <p:sp>
        <p:nvSpPr>
          <p:cNvPr id="5" name="Text 3"/>
          <p:cNvSpPr/>
          <p:nvPr/>
        </p:nvSpPr>
        <p:spPr>
          <a:xfrm>
            <a:off x="594360" y="2176272"/>
            <a:ext cx="3520440" cy="329184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Ranges and probability distributions. Never a rating, never a price target, never a recommendation. The public site is education only; advice happens inside your perimeter, given by your licensed people.</a:t>
            </a:r>
            <a:endParaRPr lang="en-US" sz="1200" dirty="0"/>
          </a:p>
        </p:txBody>
      </p:sp>
      <p:sp>
        <p:nvSpPr>
          <p:cNvPr id="6" name="Text 4"/>
          <p:cNvSpPr/>
          <p:nvPr/>
        </p:nvSpPr>
        <p:spPr>
          <a:xfrm>
            <a:off x="4370832"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WHO SIGNS</a:t>
            </a:r>
            <a:endParaRPr lang="en-US" sz="1300" dirty="0"/>
          </a:p>
        </p:txBody>
      </p:sp>
      <p:sp>
        <p:nvSpPr>
          <p:cNvPr id="7" name="Text 5"/>
          <p:cNvSpPr/>
          <p:nvPr/>
        </p:nvSpPr>
        <p:spPr>
          <a:xfrm>
            <a:off x="4370832" y="2176272"/>
            <a:ext cx="3520440" cy="329184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Every published number passes a named human reviewer before release. Under integration that reviewer is your analyst — so the output is your firm’s process, not an outside model’s opinion.</a:t>
            </a:r>
            <a:endParaRPr lang="en-US" sz="1200" dirty="0"/>
          </a:p>
        </p:txBody>
      </p:sp>
      <p:sp>
        <p:nvSpPr>
          <p:cNvPr id="8" name="Text 6"/>
          <p:cNvSpPr/>
          <p:nvPr/>
        </p:nvSpPr>
        <p:spPr>
          <a:xfrm>
            <a:off x="8147304"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WHAT YOU CAN AUDIT</a:t>
            </a:r>
            <a:endParaRPr lang="en-US" sz="1300" dirty="0"/>
          </a:p>
        </p:txBody>
      </p:sp>
      <p:sp>
        <p:nvSpPr>
          <p:cNvPr id="9" name="Text 7"/>
          <p:cNvSpPr/>
          <p:nvPr/>
        </p:nvSpPr>
        <p:spPr>
          <a:xfrm>
            <a:off x="8147304" y="2176272"/>
            <a:ext cx="3520440" cy="329184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Fixed-seed reproducible runs, full model documentation, every rejected technique named, every forecast time-stamped and graded and never edited. The audit trail exists by construction, not on request.</a:t>
            </a:r>
            <a:endParaRPr lang="en-US" sz="1200" dirty="0"/>
          </a:p>
        </p:txBody>
      </p:sp>
      <p:sp>
        <p:nvSpPr>
          <p:cNvPr id="10" name="Text 8"/>
          <p:cNvSpPr/>
          <p:nvPr/>
        </p:nvSpPr>
        <p:spPr>
          <a:xfrm>
            <a:off x="594360" y="5943600"/>
            <a:ext cx="10972800" cy="411480"/>
          </a:xfrm>
          <a:prstGeom prst="rect">
            <a:avLst/>
          </a:prstGeom>
          <a:noFill/>
          <a:ln/>
        </p:spPr>
        <p:txBody>
          <a:bodyPr wrap="square" lIns="0" tIns="0" rIns="0" bIns="0" rtlCol="0" anchor="ctr"/>
          <a:lstStyle/>
          <a:p>
            <a:pPr indent="0" marL="0">
              <a:buNone/>
            </a:pPr>
            <a:r>
              <a:rPr lang="en-US" sz="1500" i="1" dirty="0">
                <a:solidFill>
                  <a:srgbClr val="0E2726"/>
                </a:solidFill>
                <a:latin typeface="Arial" pitchFamily="34" charset="0"/>
                <a:ea typeface="Arial" pitchFamily="34" charset="-122"/>
                <a:cs typeface="Arial" pitchFamily="34" charset="-120"/>
              </a:rPr>
              <a:t>The pipeline is documented and reproducible by a third party — continuity is a deliverable, not a promise.</a:t>
            </a:r>
            <a:endParaRPr lang="en-US" sz="1500" dirty="0"/>
          </a:p>
        </p:txBody>
      </p:sp>
      <p:sp>
        <p:nvSpPr>
          <p:cNvPr id="11"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METHOD</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Methodology on one page.</a:t>
            </a:r>
            <a:endParaRPr lang="en-US" sz="3400" dirty="0"/>
          </a:p>
        </p:txBody>
      </p:sp>
      <p:sp>
        <p:nvSpPr>
          <p:cNvPr id="4" name="Text 2"/>
          <p:cNvSpPr/>
          <p:nvPr/>
        </p:nvSpPr>
        <p:spPr>
          <a:xfrm>
            <a:off x="594360" y="1645920"/>
            <a:ext cx="3474720" cy="292608"/>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THE SIMULATION ENGINE</a:t>
            </a:r>
            <a:endParaRPr lang="en-US" sz="1250" dirty="0"/>
          </a:p>
        </p:txBody>
      </p:sp>
      <p:sp>
        <p:nvSpPr>
          <p:cNvPr id="5" name="Text 3"/>
          <p:cNvSpPr/>
          <p:nvPr/>
        </p:nvSpPr>
        <p:spPr>
          <a:xfrm>
            <a:off x="594360" y="2011680"/>
            <a:ext cx="3566160" cy="3840480"/>
          </a:xfrm>
          <a:prstGeom prst="rect">
            <a:avLst/>
          </a:prstGeom>
          <a:noFill/>
          <a:ln/>
        </p:spPr>
        <p:txBody>
          <a:bodyPr wrap="square" lIns="0" tIns="0" rIns="0" bIns="0" rtlCol="0" anchor="t"/>
          <a:lstStyle/>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Carry-anchored YZ-HAR-t Monte Carlo — 50,000 paths per name, fixed seed, calendar 1- and 3-month horizons.</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Per-market fitted tail thickness and cone width; Egypt adds a history-gated per-name width overlay.</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Anchored to carry (local risk-free minus yield) — so claimed skill can never secretly be the time value of money.</a:t>
            </a:r>
            <a:endParaRPr lang="en-US" sz="1050" dirty="0"/>
          </a:p>
        </p:txBody>
      </p:sp>
      <p:sp>
        <p:nvSpPr>
          <p:cNvPr id="6" name="Text 4"/>
          <p:cNvSpPr/>
          <p:nvPr/>
        </p:nvSpPr>
        <p:spPr>
          <a:xfrm>
            <a:off x="4370832" y="1645920"/>
            <a:ext cx="3474720" cy="292608"/>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THE VALIDATION GATE</a:t>
            </a:r>
            <a:endParaRPr lang="en-US" sz="1250" dirty="0"/>
          </a:p>
        </p:txBody>
      </p:sp>
      <p:sp>
        <p:nvSpPr>
          <p:cNvPr id="7" name="Text 5"/>
          <p:cNvSpPr/>
          <p:nvPr/>
        </p:nvSpPr>
        <p:spPr>
          <a:xfrm>
            <a:off x="4370832" y="2011680"/>
            <a:ext cx="3566160" cy="3840480"/>
          </a:xfrm>
          <a:prstGeom prst="rect">
            <a:avLst/>
          </a:prstGeom>
          <a:noFill/>
          <a:ln/>
        </p:spPr>
        <p:txBody>
          <a:bodyPr wrap="square" lIns="0" tIns="0" rIns="0" bIns="0" rtlCol="0" anchor="t"/>
          <a:lstStyle/>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Per-exchange data-quality gate first: price-limit-aware error detection, corporate-action repair.</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Walk-forward, non-overlapping windows, scored against a carry-anchored random-walk benchmark.</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Verdicts published per name and per market: PASS / PARITY / FAIL — one statistically robust name-level FAIL is on the record today.</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Tested and rejected on the way: CRPS-tuned selection, raw &amp; trend drift, fair-value pull, dynamic tail thickness, HARQ / skew-t, per-stock drift &amp; width, pairwise ratio reversion.</a:t>
            </a:r>
            <a:endParaRPr lang="en-US" sz="1050" dirty="0"/>
          </a:p>
        </p:txBody>
      </p:sp>
      <p:sp>
        <p:nvSpPr>
          <p:cNvPr id="8" name="Text 6"/>
          <p:cNvSpPr/>
          <p:nvPr/>
        </p:nvSpPr>
        <p:spPr>
          <a:xfrm>
            <a:off x="8147304" y="1645920"/>
            <a:ext cx="3474720" cy="292608"/>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THE FUNDAMENTAL STUDIES</a:t>
            </a:r>
            <a:endParaRPr lang="en-US" sz="1250" dirty="0"/>
          </a:p>
        </p:txBody>
      </p:sp>
      <p:sp>
        <p:nvSpPr>
          <p:cNvPr id="9" name="Text 7"/>
          <p:cNvSpPr/>
          <p:nvPr/>
        </p:nvSpPr>
        <p:spPr>
          <a:xfrm>
            <a:off x="8147304" y="2011680"/>
            <a:ext cx="3566160" cy="3840480"/>
          </a:xfrm>
          <a:prstGeom prst="rect">
            <a:avLst/>
          </a:prstGeom>
          <a:noFill/>
          <a:ln/>
        </p:spPr>
        <p:txBody>
          <a:bodyPr wrap="square" lIns="0" tIns="0" rIns="0" bIns="0" rtlCol="0" anchor="t"/>
          <a:lstStyle/>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Built only from official company filings — no data vendors, no broker estimates, ever.</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Ground-up: product by product, volume × price, cost per unit — growth projected in both volume and price.</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Full live-formula chain: drivers → IS → BS → CF → DCF; debt split local vs foreign currency; working capital projected, not plugged.</a:t>
            </a:r>
            <a:endParaRPr lang="en-US" sz="1050" dirty="0"/>
          </a:p>
          <a:p>
            <a:pPr marL="127000" indent="-127000">
              <a:lnSpc>
                <a:spcPct val="108000"/>
              </a:lnSpc>
              <a:spcAft>
                <a:spcPts val="700"/>
              </a:spcAft>
              <a:buSzPct val="100000"/>
              <a:buChar char="•"/>
            </a:pPr>
            <a:r>
              <a:rPr lang="en-US" sz="1050" dirty="0">
                <a:solidFill>
                  <a:srgbClr val="0E2726"/>
                </a:solidFill>
                <a:latin typeface="Arial" pitchFamily="34" charset="0"/>
                <a:ea typeface="Arial" pitchFamily="34" charset="-122"/>
                <a:cs typeface="Arial" pitchFamily="34" charset="-120"/>
              </a:rPr>
              <a:t>Beta regressed on the published index of the stock’s own exchange — never a home-made composite.</a:t>
            </a:r>
            <a:endParaRPr lang="en-US" sz="1050" dirty="0"/>
          </a:p>
        </p:txBody>
      </p:sp>
      <p:sp>
        <p:nvSpPr>
          <p:cNvPr id="10" name="Text 8"/>
          <p:cNvSpPr/>
          <p:nvPr/>
        </p:nvSpPr>
        <p:spPr>
          <a:xfrm>
            <a:off x="594360" y="6053328"/>
            <a:ext cx="10972800" cy="457200"/>
          </a:xfrm>
          <a:prstGeom prst="rect">
            <a:avLst/>
          </a:prstGeom>
          <a:noFill/>
          <a:ln/>
        </p:spPr>
        <p:txBody>
          <a:bodyPr wrap="square" lIns="0" tIns="0" rIns="0" bIns="0" rtlCol="0" anchor="ctr"/>
          <a:lstStyle/>
          <a:p>
            <a:pPr indent="0" marL="0">
              <a:buNone/>
            </a:pPr>
            <a:r>
              <a:rPr lang="en-US" sz="1150" i="1" dirty="0">
                <a:solidFill>
                  <a:srgbClr val="5C6B70"/>
                </a:solidFill>
                <a:latin typeface="Arial" pitchFamily="34" charset="0"/>
                <a:ea typeface="Arial" pitchFamily="34" charset="-122"/>
                <a:cs typeface="Arial" pitchFamily="34" charset="-120"/>
              </a:rPr>
              <a:t>Testahil publishes fair-value ranges and probability distributions. It does not publish ratings, price targets, or recommendations, and nothing it publishes is investment advice.</a:t>
            </a:r>
            <a:endParaRPr lang="en-US" sz="1150" dirty="0"/>
          </a:p>
        </p:txBody>
      </p:sp>
      <p:sp>
        <p:nvSpPr>
          <p:cNvPr id="11"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FULL TABLE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Every market, every window.</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94360" y="1554480"/>
          <a:ext cx="8229600" cy="914400"/>
        </p:xfrm>
        <a:graphic>
          <a:graphicData uri="http://schemas.openxmlformats.org/drawingml/2006/table">
            <a:tbl>
              <a:tblPr/>
              <a:tblGrid>
                <a:gridCol w="2377440"/>
                <a:gridCol w="969264"/>
                <a:gridCol w="1298448"/>
                <a:gridCol w="1207008"/>
                <a:gridCol w="1188720"/>
                <a:gridCol w="11887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MARKET</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NAMES</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WINDOWS</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INSIDE</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MISS RATE</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VERDICT</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Egypt (EGX)</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1,787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1,654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F5147"/>
                          </a:solidFill>
                          <a:latin typeface="Arial" pitchFamily="34" charset="0"/>
                          <a:ea typeface="Arial" pitchFamily="34" charset="-122"/>
                          <a:cs typeface="Arial" pitchFamily="34" charset="-120"/>
                        </a:rPr>
                        <a:t>PASS</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UAE (ADX + DFM)</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25*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848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759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10.5%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Saudi Arabia (Tadawul)</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11</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420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13.6%</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USA (NASDAQ)</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149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14.4%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India (NSE)</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151</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Korea (KRX)</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110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Qatar (QSE)</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Metals (Au · Ag · Pt)</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6.2%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b="1" dirty="0">
                          <a:solidFill>
                            <a:srgbClr val="0E27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88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3,944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3,572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9.4%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r>
            </a:tbl>
          </a:graphicData>
        </a:graphic>
      </p:graphicFrame>
      <p:sp>
        <p:nvSpPr>
          <p:cNvPr id="5" name="Text 2"/>
          <p:cNvSpPr/>
          <p:nvPr/>
        </p:nvSpPr>
        <p:spPr>
          <a:xfrm>
            <a:off x="9144000" y="1600200"/>
            <a:ext cx="2487168" cy="1737360"/>
          </a:xfrm>
          <a:prstGeom prst="rect">
            <a:avLst/>
          </a:prstGeom>
          <a:noFill/>
          <a:ln/>
        </p:spPr>
        <p:txBody>
          <a:bodyPr wrap="square" lIns="0" tIns="0" rIns="0" bIns="0" rtlCol="0" anchor="t"/>
          <a:lstStyle/>
          <a:p>
            <a:pPr indent="0" marL="0">
              <a:lnSpc>
                <a:spcPct val="112000"/>
              </a:lnSpc>
              <a:buNone/>
            </a:pPr>
            <a:r>
              <a:rPr lang="en-US" sz="1000" b="1" dirty="0">
                <a:solidFill>
                  <a:srgbClr val="0F5147"/>
                </a:solidFill>
                <a:latin typeface="Arial" pitchFamily="34" charset="0"/>
                <a:ea typeface="Arial" pitchFamily="34" charset="-122"/>
                <a:cs typeface="Arial" pitchFamily="34" charset="-120"/>
              </a:rPr>
              <a:t>PASS</a:t>
            </a:r>
            <a:pPr indent="0" marL="0">
              <a:lnSpc>
                <a:spcPct val="112000"/>
              </a:lnSpc>
              <a:buNone/>
            </a:pPr>
            <a:r>
              <a:rPr lang="en-US" sz="1000" dirty="0">
                <a:solidFill>
                  <a:srgbClr val="0E2726"/>
                </a:solidFill>
                <a:latin typeface="Arial" pitchFamily="34" charset="0"/>
                <a:ea typeface="Arial" pitchFamily="34" charset="-122"/>
                <a:cs typeface="Arial" pitchFamily="34" charset="-120"/>
              </a:rPr>
              <a:t> = beats a carry-anchored benchmark with statistical confidence.  </a:t>
            </a:r>
            <a:pPr indent="0" marL="0">
              <a:lnSpc>
                <a:spcPct val="112000"/>
              </a:lnSpc>
              <a:buNone/>
            </a:pPr>
            <a:r>
              <a:rPr lang="en-US" sz="1000" b="1" dirty="0">
                <a:solidFill>
                  <a:srgbClr val="5C6B70"/>
                </a:solidFill>
                <a:latin typeface="Arial" pitchFamily="34" charset="0"/>
                <a:ea typeface="Arial" pitchFamily="34" charset="-122"/>
                <a:cs typeface="Arial" pitchFamily="34" charset="-120"/>
              </a:rPr>
              <a:t>PARITY</a:t>
            </a:r>
            <a:pPr indent="0" marL="0">
              <a:lnSpc>
                <a:spcPct val="112000"/>
              </a:lnSpc>
              <a:buNone/>
            </a:pPr>
            <a:r>
              <a:rPr lang="en-US" sz="1000" dirty="0">
                <a:solidFill>
                  <a:srgbClr val="0E2726"/>
                </a:solidFill>
                <a:latin typeface="Arial" pitchFamily="34" charset="0"/>
                <a:ea typeface="Arial" pitchFamily="34" charset="-122"/>
                <a:cs typeface="Arial" pitchFamily="34" charset="-120"/>
              </a:rPr>
              <a:t> = honestly calibrated, edge not yet proven — what an un-gamed system looks like outside its deepest market.</a:t>
            </a:r>
            <a:endParaRPr lang="en-US" sz="1000" dirty="0"/>
          </a:p>
        </p:txBody>
      </p:sp>
      <p:sp>
        <p:nvSpPr>
          <p:cNvPr id="6" name="Text 3"/>
          <p:cNvSpPr/>
          <p:nvPr/>
        </p:nvSpPr>
        <p:spPr>
          <a:xfrm>
            <a:off x="9144000" y="3474720"/>
            <a:ext cx="2487168" cy="868680"/>
          </a:xfrm>
          <a:prstGeom prst="rect">
            <a:avLst/>
          </a:prstGeom>
          <a:noFill/>
          <a:ln/>
        </p:spPr>
        <p:txBody>
          <a:bodyPr wrap="square" lIns="0" tIns="0" rIns="0" bIns="0" rtlCol="0" anchor="t"/>
          <a:lstStyle/>
          <a:p>
            <a:pPr indent="0" marL="0">
              <a:lnSpc>
                <a:spcPct val="112000"/>
              </a:lnSpc>
              <a:buNone/>
            </a:pPr>
            <a:r>
              <a:rPr lang="en-US" sz="1000" dirty="0">
                <a:solidFill>
                  <a:srgbClr val="0E2726"/>
                </a:solidFill>
                <a:latin typeface="Arial" pitchFamily="34" charset="0"/>
                <a:ea typeface="Arial" pitchFamily="34" charset="-122"/>
                <a:cs typeface="Arial" pitchFamily="34" charset="-120"/>
              </a:rPr>
              <a:t>One name-level robust FAIL on the record — EXTRA (Tadawul) — kept, unedited.</a:t>
            </a:r>
            <a:endParaRPr lang="en-US" sz="1000" dirty="0"/>
          </a:p>
        </p:txBody>
      </p:sp>
      <p:sp>
        <p:nvSpPr>
          <p:cNvPr id="7" name="Text 4"/>
          <p:cNvSpPr/>
          <p:nvPr/>
        </p:nvSpPr>
        <p:spPr>
          <a:xfrm>
            <a:off x="594360" y="5138928"/>
            <a:ext cx="10972800" cy="777240"/>
          </a:xfrm>
          <a:prstGeom prst="rect">
            <a:avLst/>
          </a:prstGeom>
          <a:noFill/>
          <a:ln/>
        </p:spPr>
        <p:txBody>
          <a:bodyPr wrap="square" lIns="0" tIns="0" rIns="0" bIns="0" rtlCol="0" anchor="t"/>
          <a:lstStyle/>
          <a:p>
            <a:pPr indent="0" marL="0">
              <a:lnSpc>
                <a:spcPct val="112000"/>
              </a:lnSpc>
              <a:buNone/>
            </a:pPr>
            <a:r>
              <a:rPr lang="en-US" sz="1000" dirty="0">
                <a:solidFill>
                  <a:srgbClr val="5C6B70"/>
                </a:solidFill>
                <a:latin typeface="Arial" pitchFamily="34" charset="0"/>
                <a:ea typeface="Arial" pitchFamily="34" charset="-122"/>
                <a:cs typeface="Arial" pitchFamily="34" charset="-120"/>
              </a:rPr>
              <a:t>* UAE covers 28 names; the three ADNOC names published 17-Aug enter the panel at the next market refit.  </a:t>
            </a:r>
            <a:pPr indent="0" marL="0">
              <a:lnSpc>
                <a:spcPct val="112000"/>
              </a:lnSpc>
              <a:buNone/>
            </a:pPr>
            <a:r>
              <a:rPr lang="en-US" sz="1000" b="1" dirty="0">
                <a:solidFill>
                  <a:srgbClr val="5C6B70"/>
                </a:solidFill>
                <a:latin typeface="Arial" pitchFamily="34" charset="0"/>
                <a:ea typeface="Arial" pitchFamily="34" charset="-122"/>
                <a:cs typeface="Arial" pitchFamily="34" charset="-120"/>
              </a:rPr>
              <a:t>Metals is the weakest calibration in the system and we say so: gold is a single-name self-fit (its verdict is circular) and silver borrows gold’s fit until its own history is long enough.</a:t>
            </a:r>
            <a:endParaRPr lang="en-US" sz="1000" dirty="0"/>
          </a:p>
        </p:txBody>
      </p:sp>
      <p:sp>
        <p:nvSpPr>
          <p:cNvPr id="8" name="Text 5"/>
          <p:cNvSpPr/>
          <p:nvPr/>
        </p:nvSpPr>
        <p:spPr>
          <a:xfrm>
            <a:off x="594360" y="5943600"/>
            <a:ext cx="10972800" cy="548640"/>
          </a:xfrm>
          <a:prstGeom prst="rect">
            <a:avLst/>
          </a:prstGeom>
          <a:noFill/>
          <a:ln/>
        </p:spPr>
        <p:txBody>
          <a:bodyPr wrap="square" lIns="0" tIns="0" rIns="0" bIns="0" rtlCol="0" anchor="ctr"/>
          <a:lstStyle/>
          <a:p>
            <a:pPr indent="0" marL="0">
              <a:buNone/>
            </a:pPr>
            <a:r>
              <a:rPr lang="en-US" sz="1000" i="1" dirty="0">
                <a:solidFill>
                  <a:srgbClr val="7A8A86"/>
                </a:solidFill>
                <a:latin typeface="Arial" pitchFamily="34" charset="0"/>
                <a:ea typeface="Arial" pitchFamily="34" charset="-122"/>
                <a:cs typeface="Arial" pitchFamily="34" charset="-120"/>
              </a:rPr>
              <a:t>Run: 18 Aug 2026, production panels, calendar 3-month walk-forward windows, up to 15 years per name — spanning the 2011 revolution, the 2016 EGP float, COVID and the 2022–24 devaluations. Live per-name detail: testahil.com/ledger</a:t>
            </a:r>
            <a:endParaRPr lang="en-US" sz="1000" dirty="0"/>
          </a:p>
        </p:txBody>
      </p:sp>
      <p:sp>
        <p:nvSpPr>
          <p:cNvPr id="9" name="Text 6"/>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ALTERNATIVES</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Why not just add this to a vendor contract?</a:t>
            </a:r>
            <a:endParaRPr lang="en-US" sz="3400" dirty="0"/>
          </a:p>
        </p:txBody>
      </p:sp>
      <p:sp>
        <p:nvSpPr>
          <p:cNvPr id="4" name="Text 2"/>
          <p:cNvSpPr/>
          <p:nvPr/>
        </p:nvSpPr>
        <p:spPr>
          <a:xfrm>
            <a:off x="594360"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THE GLOBAL VENDORS</a:t>
            </a:r>
            <a:endParaRPr lang="en-US" sz="1300" dirty="0"/>
          </a:p>
        </p:txBody>
      </p:sp>
      <p:sp>
        <p:nvSpPr>
          <p:cNvPr id="5" name="Text 3"/>
          <p:cNvSpPr/>
          <p:nvPr/>
        </p:nvSpPr>
        <p:spPr>
          <a:xfrm>
            <a:off x="594360"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Trading Central, Morningstar and peers already sell analytics into brokers — which proves the category rather than closing it. Their emphasis is developed-market equities, FX, indices, commodities, built from vendor feeds. EGX, ADX and Tadawul small and mid caps, rebuilt from the companies’ own filings, is the part they do not reach.</a:t>
            </a:r>
            <a:endParaRPr lang="en-US" sz="1200" dirty="0"/>
          </a:p>
        </p:txBody>
      </p:sp>
      <p:sp>
        <p:nvSpPr>
          <p:cNvPr id="6" name="Text 4"/>
          <p:cNvSpPr/>
          <p:nvPr/>
        </p:nvSpPr>
        <p:spPr>
          <a:xfrm>
            <a:off x="4370832"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BUILD IT IN-HOUSE</a:t>
            </a:r>
            <a:endParaRPr lang="en-US" sz="1300" dirty="0"/>
          </a:p>
        </p:txBody>
      </p:sp>
      <p:sp>
        <p:nvSpPr>
          <p:cNvPr id="7" name="Text 5"/>
          <p:cNvSpPr/>
          <p:nvPr/>
        </p:nvSpPr>
        <p:spPr>
          <a:xfrm>
            <a:off x="4370832"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A capable quant desk can rebuild a cone engine in months. What it cannot rebuild is a time-stamped public record with the misses kept — that can only be started, and ours started in June 2026. Building also moves the model risk onto your balance sheet instead of a supplier’s.</a:t>
            </a:r>
            <a:endParaRPr lang="en-US" sz="1200" dirty="0"/>
          </a:p>
        </p:txBody>
      </p:sp>
      <p:sp>
        <p:nvSpPr>
          <p:cNvPr id="8" name="Text 6"/>
          <p:cNvSpPr/>
          <p:nvPr/>
        </p:nvSpPr>
        <p:spPr>
          <a:xfrm>
            <a:off x="8147304"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DO NOTHING</a:t>
            </a:r>
            <a:endParaRPr lang="en-US" sz="1300" dirty="0"/>
          </a:p>
        </p:txBody>
      </p:sp>
      <p:sp>
        <p:nvSpPr>
          <p:cNvPr id="9" name="Text 7"/>
          <p:cNvSpPr/>
          <p:nvPr/>
        </p:nvSpPr>
        <p:spPr>
          <a:xfrm>
            <a:off x="8147304"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The status quo for the long tail: clients trade those names on Telegram tips and social media. That is the real competitor for the coverage gap — and the one that produces the churn.</a:t>
            </a:r>
            <a:endParaRPr lang="en-US" sz="1200" dirty="0"/>
          </a:p>
        </p:txBody>
      </p:sp>
      <p:sp>
        <p:nvSpPr>
          <p:cNvPr id="10" name="Text 8"/>
          <p:cNvSpPr/>
          <p:nvPr/>
        </p:nvSpPr>
        <p:spPr>
          <a:xfrm>
            <a:off x="594360" y="5943600"/>
            <a:ext cx="10972800" cy="411480"/>
          </a:xfrm>
          <a:prstGeom prst="rect">
            <a:avLst/>
          </a:prstGeom>
          <a:noFill/>
          <a:ln/>
        </p:spPr>
        <p:txBody>
          <a:bodyPr wrap="square" lIns="0" tIns="0" rIns="0" bIns="0" rtlCol="0" anchor="ctr"/>
          <a:lstStyle/>
          <a:p>
            <a:pPr indent="0" marL="0">
              <a:buNone/>
            </a:pPr>
            <a:r>
              <a:rPr lang="en-US" sz="1500" i="1" dirty="0">
                <a:solidFill>
                  <a:srgbClr val="0E2726"/>
                </a:solidFill>
                <a:latin typeface="Arial" pitchFamily="34" charset="0"/>
                <a:ea typeface="Arial" pitchFamily="34" charset="-122"/>
                <a:cs typeface="Arial" pitchFamily="34" charset="-120"/>
              </a:rPr>
              <a:t>We are not asking you to replace a vendor. We are asking you to cover the names no vendor covers.</a:t>
            </a:r>
            <a:endParaRPr lang="en-US" sz="1500" dirty="0"/>
          </a:p>
        </p:txBody>
      </p:sp>
      <p:sp>
        <p:nvSpPr>
          <p:cNvPr id="11"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OPERATING MODEL</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How Testahil works under your umbrella.</a:t>
            </a:r>
            <a:endParaRPr lang="en-US" sz="3400" dirty="0"/>
          </a:p>
        </p:txBody>
      </p:sp>
      <p:sp>
        <p:nvSpPr>
          <p:cNvPr id="4" name="Text 2"/>
          <p:cNvSpPr/>
          <p:nvPr/>
        </p:nvSpPr>
        <p:spPr>
          <a:xfrm>
            <a:off x="594360"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INTEGRATE</a:t>
            </a:r>
            <a:endParaRPr lang="en-US" sz="1300" dirty="0"/>
          </a:p>
        </p:txBody>
      </p:sp>
      <p:sp>
        <p:nvSpPr>
          <p:cNvPr id="5" name="Text 3"/>
          <p:cNvSpPr/>
          <p:nvPr/>
        </p:nvSpPr>
        <p:spPr>
          <a:xfrm>
            <a:off x="594360"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Feed or white-label into your flagship app and advisor desktops — the same playbook the region’s leaders already run with AI wealth technology: take the engine inside, ship it under your brand.</a:t>
            </a:r>
            <a:endParaRPr lang="en-US" sz="1200" dirty="0"/>
          </a:p>
        </p:txBody>
      </p:sp>
      <p:sp>
        <p:nvSpPr>
          <p:cNvPr id="6" name="Text 4"/>
          <p:cNvSpPr/>
          <p:nvPr/>
        </p:nvSpPr>
        <p:spPr>
          <a:xfrm>
            <a:off x="4370832"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LICENSE</a:t>
            </a:r>
            <a:endParaRPr lang="en-US" sz="1300" dirty="0"/>
          </a:p>
        </p:txBody>
      </p:sp>
      <p:sp>
        <p:nvSpPr>
          <p:cNvPr id="7" name="Text 5"/>
          <p:cNvSpPr/>
          <p:nvPr/>
        </p:nvSpPr>
        <p:spPr>
          <a:xfrm>
            <a:off x="4370832"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Today the public site is education only — distributions, never advice. Inside your regulated perimeter, the same calibrated numbers can power true, suitability-aware advice from your licensed teams.</a:t>
            </a:r>
            <a:endParaRPr lang="en-US" sz="1200" dirty="0"/>
          </a:p>
        </p:txBody>
      </p:sp>
      <p:sp>
        <p:nvSpPr>
          <p:cNvPr id="8" name="Text 6"/>
          <p:cNvSpPr/>
          <p:nvPr/>
        </p:nvSpPr>
        <p:spPr>
          <a:xfrm>
            <a:off x="8147304" y="1783080"/>
            <a:ext cx="3474720" cy="292608"/>
          </a:xfrm>
          <a:prstGeom prst="rect">
            <a:avLst/>
          </a:prstGeom>
          <a:noFill/>
          <a:ln/>
        </p:spPr>
        <p:txBody>
          <a:bodyPr wrap="square" lIns="0" tIns="0" rIns="0" bIns="0" rtlCol="0" anchor="ctr"/>
          <a:lstStyle/>
          <a:p>
            <a:pPr indent="0" marL="0">
              <a:buNone/>
            </a:pPr>
            <a:r>
              <a:rPr lang="en-US" sz="1300" b="1" spc="200" kern="0" dirty="0">
                <a:solidFill>
                  <a:srgbClr val="12796B"/>
                </a:solidFill>
                <a:latin typeface="Arial" pitchFamily="34" charset="0"/>
                <a:ea typeface="Arial" pitchFamily="34" charset="-122"/>
                <a:cs typeface="Arial" pitchFamily="34" charset="-120"/>
              </a:rPr>
              <a:t>GOVERN</a:t>
            </a:r>
            <a:endParaRPr lang="en-US" sz="1300" dirty="0"/>
          </a:p>
        </p:txBody>
      </p:sp>
      <p:sp>
        <p:nvSpPr>
          <p:cNvPr id="9" name="Text 7"/>
          <p:cNvSpPr/>
          <p:nvPr/>
        </p:nvSpPr>
        <p:spPr>
          <a:xfrm>
            <a:off x="8147304" y="2176272"/>
            <a:ext cx="3520440" cy="3383280"/>
          </a:xfrm>
          <a:prstGeom prst="rect">
            <a:avLst/>
          </a:prstGeom>
          <a:noFill/>
          <a:ln/>
        </p:spPr>
        <p:txBody>
          <a:bodyPr wrap="square" lIns="0" tIns="0" rIns="0" bIns="0" rtlCol="0" anchor="t"/>
          <a:lstStyle/>
          <a:p>
            <a:pPr indent="0" marL="0">
              <a:lnSpc>
                <a:spcPct val="114000"/>
              </a:lnSpc>
              <a:buNone/>
            </a:pPr>
            <a:r>
              <a:rPr lang="en-US" sz="1200" dirty="0">
                <a:solidFill>
                  <a:srgbClr val="0E2726"/>
                </a:solidFill>
                <a:latin typeface="Arial" pitchFamily="34" charset="0"/>
                <a:ea typeface="Arial" pitchFamily="34" charset="-122"/>
                <a:cs typeface="Arial" pitchFamily="34" charset="-120"/>
              </a:rPr>
              <a:t>A joint model &amp; research board — your senior analysts and quants alongside Testahil — approving upgrades, auditing calibration, steering coverage. Your analysts sign off on what publishes; quality compounds under shared oversight.</a:t>
            </a:r>
            <a:endParaRPr lang="en-US" sz="1200" dirty="0"/>
          </a:p>
        </p:txBody>
      </p:sp>
      <p:sp>
        <p:nvSpPr>
          <p:cNvPr id="10" name="Text 8"/>
          <p:cNvSpPr/>
          <p:nvPr/>
        </p:nvSpPr>
        <p:spPr>
          <a:xfrm>
            <a:off x="594360" y="5943600"/>
            <a:ext cx="10972800" cy="411480"/>
          </a:xfrm>
          <a:prstGeom prst="rect">
            <a:avLst/>
          </a:prstGeom>
          <a:noFill/>
          <a:ln/>
        </p:spPr>
        <p:txBody>
          <a:bodyPr wrap="square" lIns="0" tIns="0" rIns="0" bIns="0" rtlCol="0" anchor="ctr"/>
          <a:lstStyle/>
          <a:p>
            <a:pPr indent="0" marL="0">
              <a:buNone/>
            </a:pPr>
            <a:r>
              <a:rPr lang="en-US" sz="1500" i="1" dirty="0">
                <a:solidFill>
                  <a:srgbClr val="0E2726"/>
                </a:solidFill>
                <a:latin typeface="Arial" pitchFamily="34" charset="0"/>
                <a:ea typeface="Arial" pitchFamily="34" charset="-122"/>
                <a:cs typeface="Arial" pitchFamily="34" charset="-120"/>
              </a:rPr>
              <a:t>Your analysts keep the story and the relationships. Testahil brings the probability engine underneath.</a:t>
            </a:r>
            <a:endParaRPr lang="en-US" sz="1500" dirty="0"/>
          </a:p>
        </p:txBody>
      </p:sp>
      <p:sp>
        <p:nvSpPr>
          <p:cNvPr id="11"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LIVE READ</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Two clocks, two lists — live on the site.</a:t>
            </a:r>
            <a:endParaRPr lang="en-US" sz="3400" dirty="0"/>
          </a:p>
        </p:txBody>
      </p:sp>
      <p:sp>
        <p:nvSpPr>
          <p:cNvPr id="4" name="Text 2"/>
          <p:cNvSpPr/>
          <p:nvPr/>
        </p:nvSpPr>
        <p:spPr>
          <a:xfrm>
            <a:off x="594360" y="1737360"/>
            <a:ext cx="5394960" cy="274320"/>
          </a:xfrm>
          <a:prstGeom prst="rect">
            <a:avLst/>
          </a:prstGeom>
          <a:noFill/>
          <a:ln/>
        </p:spPr>
        <p:txBody>
          <a:bodyPr wrap="square" lIns="0" tIns="0" rIns="0" bIns="0" rtlCol="0" anchor="ctr"/>
          <a:lstStyle/>
          <a:p>
            <a:pPr indent="0" marL="0">
              <a:buNone/>
            </a:pPr>
            <a:r>
              <a:rPr lang="en-US" sz="1200" b="1" spc="150" kern="0" dirty="0">
                <a:solidFill>
                  <a:srgbClr val="12796B"/>
                </a:solidFill>
                <a:latin typeface="Arial" pitchFamily="34" charset="0"/>
                <a:ea typeface="Arial" pitchFamily="34" charset="-122"/>
                <a:cs typeface="Arial" pitchFamily="34" charset="-120"/>
              </a:rPr>
              <a:t>FUNDAMENTAL · 1-YEAR GAP TO FAIR VALUE</a:t>
            </a:r>
            <a:endParaRPr lang="en-US" sz="1200" dirty="0"/>
          </a:p>
        </p:txBody>
      </p:sp>
      <p:sp>
        <p:nvSpPr>
          <p:cNvPr id="5" name="Shape 3"/>
          <p:cNvSpPr/>
          <p:nvPr/>
        </p:nvSpPr>
        <p:spPr>
          <a:xfrm>
            <a:off x="594360" y="2194560"/>
            <a:ext cx="5349240" cy="713232"/>
          </a:xfrm>
          <a:prstGeom prst="roundRect">
            <a:avLst>
              <a:gd name="adj" fmla="val 7692"/>
            </a:avLst>
          </a:prstGeom>
          <a:solidFill>
            <a:srgbClr val="FFFFFF"/>
          </a:solidFill>
          <a:ln w="12700">
            <a:solidFill>
              <a:srgbClr val="D9E4E1"/>
            </a:solidFill>
            <a:prstDash val="solid"/>
          </a:ln>
        </p:spPr>
      </p:sp>
      <p:sp>
        <p:nvSpPr>
          <p:cNvPr id="6" name="Text 4"/>
          <p:cNvSpPr/>
          <p:nvPr/>
        </p:nvSpPr>
        <p:spPr>
          <a:xfrm>
            <a:off x="777240" y="2267712"/>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1</a:t>
            </a:r>
            <a:endParaRPr lang="en-US" sz="2200" dirty="0"/>
          </a:p>
        </p:txBody>
      </p:sp>
      <p:sp>
        <p:nvSpPr>
          <p:cNvPr id="7" name="Text 5"/>
          <p:cNvSpPr/>
          <p:nvPr/>
        </p:nvSpPr>
        <p:spPr>
          <a:xfrm>
            <a:off x="1371600" y="2267712"/>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Emaar Misr for Development (EGX)</a:t>
            </a:r>
            <a:endParaRPr lang="en-US" sz="1250" dirty="0"/>
          </a:p>
        </p:txBody>
      </p:sp>
      <p:sp>
        <p:nvSpPr>
          <p:cNvPr id="8" name="Text 6"/>
          <p:cNvSpPr/>
          <p:nvPr/>
        </p:nvSpPr>
        <p:spPr>
          <a:xfrm>
            <a:off x="4663440" y="2267712"/>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+72.1%</a:t>
            </a:r>
            <a:endParaRPr lang="en-US" sz="1600" dirty="0"/>
          </a:p>
        </p:txBody>
      </p:sp>
      <p:sp>
        <p:nvSpPr>
          <p:cNvPr id="9" name="Shape 7"/>
          <p:cNvSpPr/>
          <p:nvPr/>
        </p:nvSpPr>
        <p:spPr>
          <a:xfrm>
            <a:off x="594360" y="3035808"/>
            <a:ext cx="5349240" cy="713232"/>
          </a:xfrm>
          <a:prstGeom prst="roundRect">
            <a:avLst>
              <a:gd name="adj" fmla="val 7692"/>
            </a:avLst>
          </a:prstGeom>
          <a:solidFill>
            <a:srgbClr val="FFFFFF"/>
          </a:solidFill>
          <a:ln w="12700">
            <a:solidFill>
              <a:srgbClr val="D9E4E1"/>
            </a:solidFill>
            <a:prstDash val="solid"/>
          </a:ln>
        </p:spPr>
      </p:sp>
      <p:sp>
        <p:nvSpPr>
          <p:cNvPr id="10" name="Text 8"/>
          <p:cNvSpPr/>
          <p:nvPr/>
        </p:nvSpPr>
        <p:spPr>
          <a:xfrm>
            <a:off x="777240" y="3108960"/>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2</a:t>
            </a:r>
            <a:endParaRPr lang="en-US" sz="2200" dirty="0"/>
          </a:p>
        </p:txBody>
      </p:sp>
      <p:sp>
        <p:nvSpPr>
          <p:cNvPr id="11" name="Text 9"/>
          <p:cNvSpPr/>
          <p:nvPr/>
        </p:nvSpPr>
        <p:spPr>
          <a:xfrm>
            <a:off x="1371600" y="3108960"/>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Burjeel Holdings (ADX)</a:t>
            </a:r>
            <a:endParaRPr lang="en-US" sz="1250" dirty="0"/>
          </a:p>
        </p:txBody>
      </p:sp>
      <p:sp>
        <p:nvSpPr>
          <p:cNvPr id="12" name="Text 10"/>
          <p:cNvSpPr/>
          <p:nvPr/>
        </p:nvSpPr>
        <p:spPr>
          <a:xfrm>
            <a:off x="4663440" y="3108960"/>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+54.2%</a:t>
            </a:r>
            <a:endParaRPr lang="en-US" sz="1600" dirty="0"/>
          </a:p>
        </p:txBody>
      </p:sp>
      <p:sp>
        <p:nvSpPr>
          <p:cNvPr id="13" name="Shape 11"/>
          <p:cNvSpPr/>
          <p:nvPr/>
        </p:nvSpPr>
        <p:spPr>
          <a:xfrm>
            <a:off x="594360" y="3877056"/>
            <a:ext cx="5349240" cy="713232"/>
          </a:xfrm>
          <a:prstGeom prst="roundRect">
            <a:avLst>
              <a:gd name="adj" fmla="val 7692"/>
            </a:avLst>
          </a:prstGeom>
          <a:solidFill>
            <a:srgbClr val="FFFFFF"/>
          </a:solidFill>
          <a:ln w="12700">
            <a:solidFill>
              <a:srgbClr val="D9E4E1"/>
            </a:solidFill>
            <a:prstDash val="solid"/>
          </a:ln>
        </p:spPr>
      </p:sp>
      <p:sp>
        <p:nvSpPr>
          <p:cNvPr id="14" name="Text 12"/>
          <p:cNvSpPr/>
          <p:nvPr/>
        </p:nvSpPr>
        <p:spPr>
          <a:xfrm>
            <a:off x="777240" y="3950208"/>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3</a:t>
            </a:r>
            <a:endParaRPr lang="en-US" sz="2200" dirty="0"/>
          </a:p>
        </p:txBody>
      </p:sp>
      <p:sp>
        <p:nvSpPr>
          <p:cNvPr id="15" name="Text 13"/>
          <p:cNvSpPr/>
          <p:nvPr/>
        </p:nvSpPr>
        <p:spPr>
          <a:xfrm>
            <a:off x="1371600" y="3950208"/>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Ibnsina Pharma (EGX)</a:t>
            </a:r>
            <a:endParaRPr lang="en-US" sz="1250" dirty="0"/>
          </a:p>
        </p:txBody>
      </p:sp>
      <p:sp>
        <p:nvSpPr>
          <p:cNvPr id="16" name="Text 14"/>
          <p:cNvSpPr/>
          <p:nvPr/>
        </p:nvSpPr>
        <p:spPr>
          <a:xfrm>
            <a:off x="4663440" y="3950208"/>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+51.6%</a:t>
            </a:r>
            <a:endParaRPr lang="en-US" sz="1600" dirty="0"/>
          </a:p>
        </p:txBody>
      </p:sp>
      <p:sp>
        <p:nvSpPr>
          <p:cNvPr id="17" name="Text 15"/>
          <p:cNvSpPr/>
          <p:nvPr/>
        </p:nvSpPr>
        <p:spPr>
          <a:xfrm>
            <a:off x="6263640" y="1737360"/>
            <a:ext cx="5394960" cy="274320"/>
          </a:xfrm>
          <a:prstGeom prst="rect">
            <a:avLst/>
          </a:prstGeom>
          <a:noFill/>
          <a:ln/>
        </p:spPr>
        <p:txBody>
          <a:bodyPr wrap="square" lIns="0" tIns="0" rIns="0" bIns="0" rtlCol="0" anchor="ctr"/>
          <a:lstStyle/>
          <a:p>
            <a:pPr indent="0" marL="0">
              <a:buNone/>
            </a:pPr>
            <a:r>
              <a:rPr lang="en-US" sz="1200" b="1" spc="150" kern="0" dirty="0">
                <a:solidFill>
                  <a:srgbClr val="12796B"/>
                </a:solidFill>
                <a:latin typeface="Arial" pitchFamily="34" charset="0"/>
                <a:ea typeface="Arial" pitchFamily="34" charset="-122"/>
                <a:cs typeface="Arial" pitchFamily="34" charset="-120"/>
              </a:rPr>
              <a:t>SIMULATION · 3-MONTH MEDIAN MOVE</a:t>
            </a:r>
            <a:endParaRPr lang="en-US" sz="1200" dirty="0"/>
          </a:p>
        </p:txBody>
      </p:sp>
      <p:sp>
        <p:nvSpPr>
          <p:cNvPr id="18" name="Shape 16"/>
          <p:cNvSpPr/>
          <p:nvPr/>
        </p:nvSpPr>
        <p:spPr>
          <a:xfrm>
            <a:off x="6263640" y="2194560"/>
            <a:ext cx="5349240" cy="713232"/>
          </a:xfrm>
          <a:prstGeom prst="roundRect">
            <a:avLst>
              <a:gd name="adj" fmla="val 7692"/>
            </a:avLst>
          </a:prstGeom>
          <a:solidFill>
            <a:srgbClr val="FFFFFF"/>
          </a:solidFill>
          <a:ln w="12700">
            <a:solidFill>
              <a:srgbClr val="D9E4E1"/>
            </a:solidFill>
            <a:prstDash val="solid"/>
          </a:ln>
        </p:spPr>
      </p:sp>
      <p:sp>
        <p:nvSpPr>
          <p:cNvPr id="19" name="Text 17"/>
          <p:cNvSpPr/>
          <p:nvPr/>
        </p:nvSpPr>
        <p:spPr>
          <a:xfrm>
            <a:off x="6446520" y="2267712"/>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1</a:t>
            </a:r>
            <a:endParaRPr lang="en-US" sz="2200" dirty="0"/>
          </a:p>
        </p:txBody>
      </p:sp>
      <p:sp>
        <p:nvSpPr>
          <p:cNvPr id="20" name="Text 18"/>
          <p:cNvSpPr/>
          <p:nvPr/>
        </p:nvSpPr>
        <p:spPr>
          <a:xfrm>
            <a:off x="7040880" y="2267712"/>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Beltone Financial (EGX)</a:t>
            </a:r>
            <a:endParaRPr lang="en-US" sz="1250" dirty="0"/>
          </a:p>
        </p:txBody>
      </p:sp>
      <p:sp>
        <p:nvSpPr>
          <p:cNvPr id="21" name="Text 19"/>
          <p:cNvSpPr/>
          <p:nvPr/>
        </p:nvSpPr>
        <p:spPr>
          <a:xfrm>
            <a:off x="10332720" y="2267712"/>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+4.9%</a:t>
            </a:r>
            <a:endParaRPr lang="en-US" sz="1600" dirty="0"/>
          </a:p>
        </p:txBody>
      </p:sp>
      <p:sp>
        <p:nvSpPr>
          <p:cNvPr id="22" name="Shape 20"/>
          <p:cNvSpPr/>
          <p:nvPr/>
        </p:nvSpPr>
        <p:spPr>
          <a:xfrm>
            <a:off x="6263640" y="3035808"/>
            <a:ext cx="5349240" cy="713232"/>
          </a:xfrm>
          <a:prstGeom prst="roundRect">
            <a:avLst>
              <a:gd name="adj" fmla="val 7692"/>
            </a:avLst>
          </a:prstGeom>
          <a:solidFill>
            <a:srgbClr val="FFFFFF"/>
          </a:solidFill>
          <a:ln w="12700">
            <a:solidFill>
              <a:srgbClr val="D9E4E1"/>
            </a:solidFill>
            <a:prstDash val="solid"/>
          </a:ln>
        </p:spPr>
      </p:sp>
      <p:sp>
        <p:nvSpPr>
          <p:cNvPr id="23" name="Text 21"/>
          <p:cNvSpPr/>
          <p:nvPr/>
        </p:nvSpPr>
        <p:spPr>
          <a:xfrm>
            <a:off x="6446520" y="3108960"/>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2</a:t>
            </a:r>
            <a:endParaRPr lang="en-US" sz="2200" dirty="0"/>
          </a:p>
        </p:txBody>
      </p:sp>
      <p:sp>
        <p:nvSpPr>
          <p:cNvPr id="24" name="Text 22"/>
          <p:cNvSpPr/>
          <p:nvPr/>
        </p:nvSpPr>
        <p:spPr>
          <a:xfrm>
            <a:off x="7040880" y="3108960"/>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Sinai Cement (EGX)</a:t>
            </a:r>
            <a:endParaRPr lang="en-US" sz="1250" dirty="0"/>
          </a:p>
        </p:txBody>
      </p:sp>
      <p:sp>
        <p:nvSpPr>
          <p:cNvPr id="25" name="Text 23"/>
          <p:cNvSpPr/>
          <p:nvPr/>
        </p:nvSpPr>
        <p:spPr>
          <a:xfrm>
            <a:off x="10332720" y="3108960"/>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+4.8%</a:t>
            </a:r>
            <a:endParaRPr lang="en-US" sz="1600" dirty="0"/>
          </a:p>
        </p:txBody>
      </p:sp>
      <p:sp>
        <p:nvSpPr>
          <p:cNvPr id="26" name="Shape 24"/>
          <p:cNvSpPr/>
          <p:nvPr/>
        </p:nvSpPr>
        <p:spPr>
          <a:xfrm>
            <a:off x="6263640" y="3877056"/>
            <a:ext cx="5349240" cy="713232"/>
          </a:xfrm>
          <a:prstGeom prst="roundRect">
            <a:avLst>
              <a:gd name="adj" fmla="val 7692"/>
            </a:avLst>
          </a:prstGeom>
          <a:solidFill>
            <a:srgbClr val="FFFFFF"/>
          </a:solidFill>
          <a:ln w="12700">
            <a:solidFill>
              <a:srgbClr val="D9E4E1"/>
            </a:solidFill>
            <a:prstDash val="solid"/>
          </a:ln>
        </p:spPr>
      </p:sp>
      <p:sp>
        <p:nvSpPr>
          <p:cNvPr id="27" name="Text 25"/>
          <p:cNvSpPr/>
          <p:nvPr/>
        </p:nvSpPr>
        <p:spPr>
          <a:xfrm>
            <a:off x="6446520" y="3950208"/>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3</a:t>
            </a:r>
            <a:endParaRPr lang="en-US" sz="2200" dirty="0"/>
          </a:p>
        </p:txBody>
      </p:sp>
      <p:sp>
        <p:nvSpPr>
          <p:cNvPr id="28" name="Text 26"/>
          <p:cNvSpPr/>
          <p:nvPr/>
        </p:nvSpPr>
        <p:spPr>
          <a:xfrm>
            <a:off x="7040880" y="3950208"/>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El Nasr Clothing (EGX)</a:t>
            </a:r>
            <a:endParaRPr lang="en-US" sz="1250" dirty="0"/>
          </a:p>
        </p:txBody>
      </p:sp>
      <p:sp>
        <p:nvSpPr>
          <p:cNvPr id="29" name="Text 27"/>
          <p:cNvSpPr/>
          <p:nvPr/>
        </p:nvSpPr>
        <p:spPr>
          <a:xfrm>
            <a:off x="10332720" y="3950208"/>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+4.8%</a:t>
            </a:r>
            <a:endParaRPr lang="en-US" sz="1600" dirty="0"/>
          </a:p>
        </p:txBody>
      </p:sp>
      <p:sp>
        <p:nvSpPr>
          <p:cNvPr id="30" name="Text 28"/>
          <p:cNvSpPr/>
          <p:nvPr/>
        </p:nvSpPr>
        <p:spPr>
          <a:xfrm>
            <a:off x="594360" y="5029200"/>
            <a:ext cx="10972800" cy="640080"/>
          </a:xfrm>
          <a:prstGeom prst="rect">
            <a:avLst/>
          </a:prstGeom>
          <a:noFill/>
          <a:ln/>
        </p:spPr>
        <p:txBody>
          <a:bodyPr wrap="square" lIns="0" tIns="0" rIns="0" bIns="0" rtlCol="0" anchor="t"/>
          <a:lstStyle/>
          <a:p>
            <a:pPr indent="0" marL="0">
              <a:buNone/>
            </a:pPr>
            <a:r>
              <a:rPr lang="en-US" sz="1100" dirty="0">
                <a:solidFill>
                  <a:srgbClr val="5C6B70"/>
                </a:solidFill>
                <a:latin typeface="Arial" pitchFamily="34" charset="0"/>
                <a:ea typeface="Arial" pitchFamily="34" charset="-122"/>
                <a:cs typeface="Arial" pitchFamily="34" charset="-120"/>
              </a:rPr>
              <a:t>Ranked estimates, not picks. The 3-month simulation lens is graded on the public ledger; the 1-year fundamental lens is not — its first cohort matures June 2027. Every number on the site is tagged with its source lens.</a:t>
            </a:r>
            <a:endParaRPr lang="en-US" sz="1100" dirty="0"/>
          </a:p>
        </p:txBody>
      </p:sp>
      <p:sp>
        <p:nvSpPr>
          <p:cNvPr id="31" name="Text 29"/>
          <p:cNvSpPr/>
          <p:nvPr/>
        </p:nvSpPr>
        <p:spPr>
          <a:xfrm>
            <a:off x="594360" y="5806440"/>
            <a:ext cx="10972800" cy="548640"/>
          </a:xfrm>
          <a:prstGeom prst="rect">
            <a:avLst/>
          </a:prstGeom>
          <a:noFill/>
          <a:ln/>
        </p:spPr>
        <p:txBody>
          <a:bodyPr wrap="square" lIns="0" tIns="0" rIns="0" bIns="0" rtlCol="0" anchor="ctr"/>
          <a:lstStyle/>
          <a:p>
            <a:pPr indent="0" marL="0">
              <a:buNone/>
            </a:pPr>
            <a:r>
              <a:rPr lang="en-US" sz="1350" i="1" dirty="0">
                <a:solidFill>
                  <a:srgbClr val="0E2726"/>
                </a:solidFill>
                <a:latin typeface="Arial" pitchFamily="34" charset="0"/>
                <a:ea typeface="Arial" pitchFamily="34" charset="-122"/>
                <a:cs typeface="Arial" pitchFamily="34" charset="-120"/>
              </a:rPr>
              <a:t>They rarely agree — and that disagreement is the product: a 1-year value clock and a 3-month odds clock, never blended into one number. The Ticker Picker exists to read them together.</a:t>
            </a:r>
            <a:endParaRPr lang="en-US" sz="1350" dirty="0"/>
          </a:p>
        </p:txBody>
      </p:sp>
      <p:sp>
        <p:nvSpPr>
          <p:cNvPr id="32" name="Text 30"/>
          <p:cNvSpPr/>
          <p:nvPr/>
        </p:nvSpPr>
        <p:spPr>
          <a:xfrm>
            <a:off x="594360" y="6510528"/>
            <a:ext cx="731520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Computed from the live TICKERS object in assets/data.js, 18 Aug 2026 — sort by (fair.base/spot − 1) and by (dist.t60.p50/spot − 1).</a:t>
            </a:r>
            <a:endParaRPr lang="en-US" sz="850" dirty="0"/>
          </a:p>
        </p:txBody>
      </p:sp>
      <p:sp>
        <p:nvSpPr>
          <p:cNvPr id="33" name="Text 31"/>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Testahil — Distributions, not tips (partnership brief, Aug 2026)</dc:title>
  <dc:subject>PptxGenJS Presentation</dc:subject>
  <dc:creator>Testahil</dc:creator>
  <cp:lastModifiedBy>Testahil</cp:lastModifiedBy>
  <cp:revision>1</cp:revision>
  <dcterms:created xsi:type="dcterms:W3CDTF">2026-08-18T08:48:20Z</dcterms:created>
  <dcterms:modified xsi:type="dcterms:W3CDTF">2026-08-18T08:48:20Z</dcterms:modified>
</cp:coreProperties>
</file>