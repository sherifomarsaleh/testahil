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windows inside the 90% band</c:v>
                </c:pt>
              </c:strCache>
            </c:strRef>
          </c:tx>
          <c:spPr>
            <a:solidFill>
              <a:srgbClr val="12796B"/>
            </a:solidFill>
            <a:effectLst/>
          </c:spPr>
          <c:invertIfNegative val="0"/>
          <c:dLbls>
            <c:numFmt formatCode="0.0&quot;%&quot;" sourceLinked="0"/>
            <c:txPr>
              <a:bodyPr/>
              <a:lstStyle/>
              <a:p>
                <a:pPr>
                  <a:defRPr b="0" i="0" strike="noStrike" sz="1000" u="none">
                    <a:solidFill>
                      <a:srgbClr val="0F5147"/>
                    </a:solidFill>
                    <a:latin typeface="Arial"/>
                  </a:defRPr>
                </a:pPr>
              </a:p>
            </c:txPr>
            <c:dLblPos val="outEnd"/>
            <c:showLegendKey val="0"/>
            <c:showVal val="1"/>
            <c:showCatName val="0"/>
            <c:showSerName val="0"/>
            <c:showPercent val="0"/>
            <c:showBubbleSize val="0"/>
            <c:showLeaderLines val="0"/>
          </c:dLbls>
          <c:cat>
            <c:multiLvlStrRef>
              <c:f>Sheet1!$A$2:$A$9</c:f>
              <c:multiLvlStrCache>
                <c:ptCount val="8"/>
                <c:lvl>
                  <c:pt idx="0">
                    <c:v>Egypt</c:v>
                  </c:pt>
                  <c:pt idx="1">
                    <c:v>UAE</c:v>
                  </c:pt>
                  <c:pt idx="2">
                    <c:v>Saudi</c:v>
                  </c:pt>
                  <c:pt idx="3">
                    <c:v>USA</c:v>
                  </c:pt>
                  <c:pt idx="4">
                    <c:v>Korea</c:v>
                  </c:pt>
                  <c:pt idx="5">
                    <c:v>India</c:v>
                  </c:pt>
                  <c:pt idx="6">
                    <c:v>Qatar</c:v>
                  </c:pt>
                  <c:pt idx="7">
                    <c:v>Metals</c:v>
                  </c:pt>
                </c:lvl>
              </c:multiLvlStrCache>
            </c:multiLvlStrRef>
          </c:cat>
          <c:val>
            <c:numRef>
              <c:f>Sheet1!$B$2:$B$9</c:f>
              <c:numCache>
                <c:formatCode>General</c:formatCode>
                <c:ptCount val="8"/>
                <c:pt idx="0">
                  <c:v>92.6</c:v>
                </c:pt>
                <c:pt idx="1">
                  <c:v>89.5</c:v>
                </c:pt>
                <c:pt idx="2">
                  <c:v>86.4</c:v>
                </c:pt>
                <c:pt idx="3">
                  <c:v>85.6</c:v>
                </c:pt>
                <c:pt idx="4">
                  <c:v>88</c:v>
                </c:pt>
                <c:pt idx="5">
                  <c:v>87.8</c:v>
                </c:pt>
                <c:pt idx="6">
                  <c:v>93.1</c:v>
                </c:pt>
                <c:pt idx="7">
                  <c:v>93.8</c:v>
                </c:pt>
              </c:numCache>
            </c:numRef>
          </c:val>
        </c:ser>
        <c:dLbls>
          <c:numFmt formatCode="0.0&quot;%&quot;" sourceLinked="0"/>
          <c:txPr>
            <a:bodyPr/>
            <a:lstStyle/>
            <a:p>
              <a:pPr>
                <a:defRPr b="0" i="0" strike="noStrike" sz="1000" u="none">
                  <a:solidFill>
                    <a:srgbClr val="0F5147"/>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design target 90%</c:v>
                </c:pt>
              </c:strCache>
            </c:strRef>
          </c:tx>
          <c:spPr>
            <a:solidFill>
              <a:srgbClr val="C0A45F"/>
            </a:solidFill>
            <a:ln w="31750" cap="flat">
              <a:solidFill>
                <a:srgbClr val="C0A45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A45F"/>
              </a:solidFill>
              <a:ln w="9525" cap="flat">
                <a:solidFill>
                  <a:srgbClr val="C0A45F"/>
                </a:solidFill>
                <a:prstDash val="solid"/>
                <a:round/>
              </a:ln>
              <a:effectLst/>
            </c:spPr>
          </c:marker>
          <c:cat>
            <c:multiLvlStrRef>
              <c:f>Sheet1!$A$2:$A$9</c:f>
              <c:multiLvlStrCache>
                <c:ptCount val="8"/>
                <c:lvl>
                  <c:pt idx="0">
                    <c:v>Egypt</c:v>
                  </c:pt>
                  <c:pt idx="1">
                    <c:v>UAE</c:v>
                  </c:pt>
                  <c:pt idx="2">
                    <c:v>Saudi</c:v>
                  </c:pt>
                  <c:pt idx="3">
                    <c:v>USA</c:v>
                  </c:pt>
                  <c:pt idx="4">
                    <c:v>Korea</c:v>
                  </c:pt>
                  <c:pt idx="5">
                    <c:v>India</c:v>
                  </c:pt>
                  <c:pt idx="6">
                    <c:v>Qatar</c:v>
                  </c:pt>
                  <c:pt idx="7">
                    <c:v>Metals</c:v>
                  </c:pt>
                </c:lvl>
              </c:multiLvlStrCache>
            </c:multiLvlStrRef>
          </c:cat>
          <c:val>
            <c:numRef>
              <c:f>Sheet1!$C$2:$C$9</c:f>
              <c:numCache>
                <c:formatCode>General</c:formatCode>
                <c:ptCount val="8"/>
                <c:pt idx="0">
                  <c:v>90</c:v>
                </c:pt>
                <c:pt idx="1">
                  <c:v>90</c:v>
                </c:pt>
                <c:pt idx="2">
                  <c:v>90</c:v>
                </c:pt>
                <c:pt idx="3">
                  <c:v>90</c:v>
                </c:pt>
                <c:pt idx="4">
                  <c:v>90</c:v>
                </c:pt>
                <c:pt idx="5">
                  <c:v>90</c:v>
                </c:pt>
                <c:pt idx="6">
                  <c:v>90</c:v>
                </c:pt>
                <c:pt idx="7">
                  <c:v>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0"/>
                </a:solidFill>
                <a:latin typeface="Arial"/>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9525" cap="flat">
              <a:solidFill>
                <a:srgbClr val="E3EC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0"/>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3 Aug 2026</c:v>
                </c:pt>
              </c:strCache>
            </c:strRef>
          </c:tx>
          <c:spPr>
            <a:solidFill>
              <a:srgbClr val="8FA8A2"/>
            </a:solidFill>
            <a:effectLst/>
          </c:spPr>
          <c:invertIfNegative val="0"/>
          <c:dLbls>
            <c:numFmt formatCode="0" sourceLinked="0"/>
            <c:txPr>
              <a:bodyPr/>
              <a:lstStyle/>
              <a:p>
                <a:pPr>
                  <a:defRPr b="0" i="0" strike="noStrike" sz="1200" u="none">
                    <a:solidFill>
                      <a:srgbClr val="0E2726"/>
                    </a:solidFill>
                    <a:latin typeface="Arial"/>
                  </a:defRPr>
                </a:pPr>
              </a:p>
            </c:txPr>
            <c:dLblPos val="outEnd"/>
            <c:showLegendKey val="0"/>
            <c:showVal val="1"/>
            <c:showCatName val="0"/>
            <c:showSerName val="0"/>
            <c:showPercent val="0"/>
            <c:showBubbleSize val="0"/>
            <c:showLeaderLines val="0"/>
          </c:dLbls>
          <c:cat>
            <c:multiLvlStrRef>
              <c:f>Sheet1!$A$2:$A$3</c:f>
              <c:multiLvlStrCache>
                <c:ptCount val="2"/>
                <c:lvl>
                  <c:pt idx="0">
                    <c:v>Instruments covered</c:v>
                  </c:pt>
                  <c:pt idx="1">
                    <c:v>Public forecasts</c:v>
                  </c:pt>
                </c:lvl>
              </c:multiLvlStrCache>
            </c:multiLvlStrRef>
          </c:cat>
          <c:val>
            <c:numRef>
              <c:f>Sheet1!$B$2:$B$3</c:f>
              <c:numCache>
                <c:formatCode>General</c:formatCode>
                <c:ptCount val="2"/>
                <c:pt idx="0">
                  <c:v>74</c:v>
                </c:pt>
                <c:pt idx="1">
                  <c:v>161</c:v>
                </c:pt>
              </c:numCache>
            </c:numRef>
          </c:val>
        </c:ser>
        <c:ser>
          <c:idx val="1"/>
          <c:order val="1"/>
          <c:tx>
            <c:strRef>
              <c:f>Sheet1!$C$1</c:f>
              <c:strCache>
                <c:ptCount val="1"/>
                <c:pt idx="0">
                  <c:v>18 Aug 2026</c:v>
                </c:pt>
              </c:strCache>
            </c:strRef>
          </c:tx>
          <c:spPr>
            <a:solidFill>
              <a:srgbClr val="12796B"/>
            </a:solidFill>
            <a:effectLst/>
          </c:spPr>
          <c:invertIfNegative val="0"/>
          <c:dLbls>
            <c:numFmt formatCode="0" sourceLinked="0"/>
            <c:txPr>
              <a:bodyPr/>
              <a:lstStyle/>
              <a:p>
                <a:pPr>
                  <a:defRPr b="0" i="0" strike="noStrike" sz="1200" u="none">
                    <a:solidFill>
                      <a:srgbClr val="0E2726"/>
                    </a:solidFill>
                    <a:latin typeface="Arial"/>
                  </a:defRPr>
                </a:pPr>
              </a:p>
            </c:txPr>
            <c:dLblPos val="outEnd"/>
            <c:showLegendKey val="0"/>
            <c:showVal val="1"/>
            <c:showCatName val="0"/>
            <c:showSerName val="0"/>
            <c:showPercent val="0"/>
            <c:showBubbleSize val="0"/>
            <c:showLeaderLines val="0"/>
          </c:dLbls>
          <c:cat>
            <c:multiLvlStrRef>
              <c:f>Sheet1!$A$2:$A$3</c:f>
              <c:multiLvlStrCache>
                <c:ptCount val="2"/>
                <c:lvl>
                  <c:pt idx="0">
                    <c:v>Instruments covered</c:v>
                  </c:pt>
                  <c:pt idx="1">
                    <c:v>Public forecasts</c:v>
                  </c:pt>
                </c:lvl>
              </c:multiLvlStrCache>
            </c:multiLvlStrRef>
          </c:cat>
          <c:val>
            <c:numRef>
              <c:f>Sheet1!$C$2:$C$3</c:f>
              <c:numCache>
                <c:formatCode>General</c:formatCode>
                <c:ptCount val="2"/>
                <c:pt idx="0">
                  <c:v>91</c:v>
                </c:pt>
                <c:pt idx="1">
                  <c:v>199</c:v>
                </c:pt>
              </c:numCache>
            </c:numRef>
          </c:val>
        </c:ser>
        <c:dLbls>
          <c:numFmt formatCode="0" sourceLinked="0"/>
          <c:txPr>
            <a:bodyPr/>
            <a:lstStyle/>
            <a:p>
              <a:pPr>
                <a:defRPr b="0" i="0" strike="noStrike" sz="1200" u="none">
                  <a:solidFill>
                    <a:srgbClr val="0E2726"/>
                  </a:solidFill>
                  <a:latin typeface="Arial"/>
                </a:defRPr>
              </a:pPr>
            </a:p>
          </c:txPr>
          <c:dLblPos val="outEnd"/>
          <c:showLegendKey val="0"/>
          <c:showVal val="1"/>
          <c:showCatName val="0"/>
          <c:showSerName val="0"/>
          <c:showPercent val="0"/>
          <c:showBubbleSize val="0"/>
          <c:showLeaderLines val="0"/>
        </c:dLbls>
        <c:gapWidth val="90"/>
        <c:overlap val="-2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0"/>
                </a:solidFill>
                <a:latin typeface="Arial"/>
              </a:defRPr>
            </a:pPr>
            <a:endParaRPr lang="en-US"/>
          </a:p>
        </c:txPr>
        <c:crossAx val="2094734552"/>
        <c:crosses val="autoZero"/>
        <c:auto val="1"/>
        <c:lblAlgn val="ctr"/>
        <c:noMultiLvlLbl val="1"/>
      </c:catAx>
      <c:valAx>
        <c:axId val="2094734552"/>
        <c:scaling>
          <c:orientation val="minMax"/>
          <c:max val="2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B70"/>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 ten seconds — who we are, the four proofs, and the one sentence competitors cannot say. If the room reads nothing else, it reads this.
v3 of the partnership deck (v1: 3-Aug carried 74 / 3,373 / 89.6% / 161; v2: 18-Aug same-day). The kicker was sharpened per the Prof G pass: "One in ten misses. On schedule. In public." — three beats, same claim as before, now felt rather than explained.
——— JARGON ON THIS SLIDE ———
Distribution (vs. a tip) — a tip is one number ("buy at 50, target 65"). A distribution is the whole spread of where the price could land, with a probability on each zone. We sell the spread, never the single number.
The 90% band — the price range expected to contain the real outcome nine times out of ten. A promise about frequency across many forecasts, not a guarantee about any one stock.
Backtest window — one historical test: stand at a past date, forecast forward using only what was known then, then check what actually happened.
"One in ten misses. On schedule." — the headline defence: a 90% band that never missed would simply be too wide to be worth anything. Misses arriving at the promised rate is the system working.
——— HOW THESE NUMBERS WERE COMPUTED (18-Aug-2026, live repo) ———
91 — instruments in the persistent library engine/raw_ohlc/{MARKET}/: EG 37, AE 28 (19 ADX + 9 DFM), SA 11, IN/KR/QA/US 3 each, gold+silver 2, platinum 1. 8 markets = 7 equity markets + metals.
"A full study behind every one" — 91 distinct names carry a Valuation_Study PDF in files/ (80 with the _public suffix + the Aug-2026 batch without it); every one of the 88 equities also has a live fair value in assets/data.js (fair.base present for 88 of 88).
3,944 / 90.6% — sum of rows / in90=True rows across all 88 engine/panels/{MKT}_{NAME}_3m.csv files, the walk-forward panels the unattended pipeline itself maintains (content-hashed, refit whenever a name posts). 3,572 of 3,944 inside → 90.57%. The three ADX names published 17-Aug (ADNOCDIST, ADNOCDRILL, ADNOCLS) enter the panels at their market's next refit.
199 — LEDGER.length in assets/data.js (104 one-month, 93 three-month, 2 twelve-month rows; earliest anchor 11-Jun-2026).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room feel the vacuum — a record demand wave meeting a hard supply ceiling — in one picture. (v2 spent two slides on this; the wave and the ceiling are one idea: the gap.)
The title is the Prof G trap-question: it begs its own answer ("nobody"), and the answer is the business. The gold bar carries the sting: the long tail's current research provider is Telegram.
——— JARGON ON THIS SLIDE ———
Coverage — the formal list of stocks an analyst follows. A desk carries a few dozen names with depth, not a market. The long tail isn't neglected — it is uneconomic to cover by hand, at any bank.
Churn — a client who signs up, loses money, and leaves; the acquisition spend is wasted. That is what "burned" costs.
Registered investors — people holding an active brokerage account on the exchange. Market cap moves with prices AND new listings, so it is not the same as the EGX 30 index return (~+40% in 2025).
Two failure modes that used to have their own slide, kept for the room: fundamentals move on a one-year clock and technicals on a three-month one — delivered as a single number, the client cannot tell an investment from a trade; and a price target is one number, while the question clients actually ask is how likely, and by when. Context (verify before quoting aloud): EFG writes on ~232 stocks across 9 Arab markets, not all current.
——— SOURCES / CAVEATS (carried from v1, still open) ———
276,000 (stock of accounts, ~+20% y/y) and market cap +42% (2025) are as attributed on-slide to the EGX Chairman via Al Arabiya, 29-Dec-2025 — attach the primary EGX/FRA release before an institutional audience. Cross-checks on the public record: ~123,000 NEW retail investors in H1-2025 (flow, EGX chairman, Aug-2025 wires); EGX 30 ≈ +40% over 2025. Stock vs flow: both can be true at once — say which you mean.
Bar lengths are schematic for 50 / several hundred / 91 — the labels carry the numbers. 91 and the studies claim: cover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define the product in one sentence a Wealth head can repeat — odds, not orders — and prove it with the site's own live read instead of a claim.
The closing line is the elevator pitch and deliberately concrete: "24% vs 22%" is on the card directly above it — the room can check the sentence against the evidence in real time.
——— JARGON ON THIS SLIDE ———
Fair value — what the business is worth on its own economics, published as a range, never a point.
Official filings — the company's own published, audited accounts. No data vendors, no broker estimates, ever, for a company's reported history.
Monte Carlo / path — run the future 50,000 times with randomness; each run is a full price journey; the counts across runs become the probabilities.
Calibrated — tuned on that stock's own market history so stated odds match observed frequencies.
1-in-20 — the 5th and 95th percentile single outcomes: the honest "bad case / good case".
——— HOW THESE NUMBERS WERE COMPUTED ———
ADNOC L&amp;S card — transcribed verbatim from the live homepage probability read (ADNOCLS at 3 months): AED 6.16 close 7-Aug-2026; 51% higher; 24% vs 22% (≈1.1:1); worst/best 1-in-20 4.95 / 7.73 (−20%/+25%); 50% band 5.67–6.73 (dropped from the card for focus — it is on the site); simulation computed 10-Aug-2026. Re-read the site before reusing — these refresh with every library update.
The cone graphic is schematic (drawn for this deck); every real cone on the site is computed per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land the month's product news — the two clocks finally on one screen — and spring the surprise that earns the slide: upside and reachability rank nearly opposite at short horizons.
The gold pull-quote is the "wow test" line; if the room remembers one product fact, it should be that one. The honesty box is drama of a different kind: a research shop telling you, in red, what it cannot prove yet.
——— JARGON ON THIS SLIDE ———
Reachability — how far fair value sits from the price measured in that stock's own volatility, and the odds of touching it within the horizon. The table's default sort.
P(touch fair value) — the probability, from the same 50,000 published paths, that the price touches fair value at any point inside the horizon; "already there" marks names trading at or through it.
Cash hurdle — each market's own risk-free rate; a case that cannot beat local cash is flagged (Egypt's hurdle reads 19.5% on the live page today — volatile, re-read before quoting).
Filters — only in-reach / only beats-local-cash / only undervalued.
——— HOW THESE NUMBERS WERE COMPUTED ———
Screenshot — the live page rendered from the repo at 18-Aug-2026 (Chromium, light theme), EGX group, 3-month horizon, cropped to the first ~15 rows. Real rows, e.g. Palm Hills +6% gap · 76% touch; Egypt Aluminum −17% gap · 20%.
"~783 graded observations; we have 5" and "verdict ~2027" — the page's own read-this-first disclosure, quoted, not our claim recomputed. Shipped 10-Aug-2026 (PR #133, "Ticker Picker carries every market, per-row engine fits").
Site tabs now: Home · Stocks · Metals · Compare · Trade · Portfolio · Ticker Picker · Calculator · Ledger · Methodology (a daily EGX news brief also publishes at /news.html, and a Real-Return Calculator answers "CDs, gold, or dollars?" after inflation).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"does it actually work?" with one chart, one baseline, one giant number — and set the trap for the next slide by promising the miss.
"We sat the exam" is the honest metaphor: each window is a forecast made blind and then graded. The subtitle does the drama the old version buried in a side column: revolution, float, pandemic, three devaluations — the band held.
——— JARGON ON THIS SLIDE ———
Walk-forward backtest — stand at a past date, use only information available then, forecast, check the real outcome, walk forward, repeat. No period reused.
Design target — 90% was the specification. Landing at 90.6% means the machine did what it promised; never say "exactly".
Over-coverage — a market ABOVE the gold line (Qatar 93.1%, Metals 93.8%, Egypt 92.6%) is arguably too wide, not too good — we say that out loud; it is what an un-gamed system looks like.
——— HOW THESE NUMBERS WERE COMPUTED ———
Per-market bars — inside/windows per engine/panels/{MKT}_*_3m.csv, 18-Aug-2026: Egypt 1,654/1,787 (92.6%), UAE 759/848 (89.5%), Saudi 420/486 (86.4%), USA 149/174 (85.6%), Korea 110/125 (88.0%), India 151/172 (87.8%), Qatar 162/174 (93.1%), Metals 167/178 (93.8%). Total 3,572/3,944 = 90.57%.
These are the pipeline's own stored in-band flags — each market scored under its live fitted (ν, width_cal) as of its last refit — not re-simulated for this deck.
12/13 banner — screenshot of the live site's own scoreboard strip (12 of 13 graded ledger forecasts inside; the miss is Samsung).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dramatic center — convert the one blemish into the one asset nobody else can copy. The room must leave remembering that we showed them our worst call, on purpose.
The closing line is the moat argument compressed to a knife: an engine can be rebuilt in months, but a time-stamped public record with the misses kept can only be STARTED — and every day a competitor waits, ours compounds. (The regulator framing — published, time-stamped, graded, misses kept is exactly the audit trail a supervisor wants from an AI system — moved to the governance appendix; say it aloud here if compliance is in the room.)
——— JARGON ON THIS SLIDE ———
Cone / anchored / published band / realized — the forecast drawn widening into the future; its launch date and price; the range stated in advance; what the price actually did on the end date.
Calibration — stated odds matching reality. A properly calibrated 90% band MUST miss about one time in ten; misses arriving on schedule is evidence the system works, not evidence it broke.
₩ — Korean won; Samsung trades in Seoul.
——— HOW THESE NUMBERS WERE COMPUTED ———
1 in 10 — the complement of the 90% design target (live backtest miss rate 9.4%), the illustrative fraction, not a separately-computed number.
Samsung figures — that ledger row's own immutable fields (anchor 26-Jun-2026 at 339,500; band 277,676–430,413; realized 254,000; graded 27-Jul-2026). Unchanged since grading.
12 of 13 — assets/data.js LEDGER rows with realized_close populated: 13 graded (all 1-month so far), 12 inside their [p5,p95]. The graded names: PHDC, TMGH, EMFD, OCDI, ORHD, COMI, Gold, Silver, Samsung (miss), Kakao, LGES, TMPV, QNB.
"Ours started in June" — earliest ledger anchor 11-Jun-2026.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prove the machine's compounding speed with its own aging deck — the growth rate IS the moat demo, and the self-deprecating title is the surprise that keeps it honest.
The closing line replaces v2's abstract "marginal name is nearly free" with the same economics made personal: the deck going stale between meetings is the marginal-cost argument, felt. (The abstract version — the marginal name costs compute and one review pass, not an analyst-month — stays here for the room.)
——— JARGON ON THIS SLIDE ———
Unattended pipeline — post one refreshed price file and the system re-tests, re-fits and re-publishes that entire market in seconds, no human in the loop. It is why 17 names in 15 days is routine, not a sprint.
95% of daily traded value — deliberately NOT "95% of listed companies": the stocks accounting for 95% of the money actually changing hands. A far shorter list than it sounds.
Arabic — roadmap, not shipped: the public site is English today (an /ar URL layer is staged but redirects). Say it plainly if asked.
——— HOW THESE NUMBERS WERE COMPUTED ———
74 → 91 instruments and 161 → 199 ledger rows — v1 deck's own stated numbers (computed 30-Jul/3-Aug) vs today's live counts (cover note method).
12 new studies — new-coverage publishes merged 9–17 Aug per git history: MODON, AMR, FERTIGLB, PHAR, EGCH, EMPOWER, AIRARABIA, BOROUGE, DU, ADNOCDIST, ADNOCDRILL, ADNOCLS (re-publishes of existing names not counted).
Ticker Picker — merged 10-Aug-2026 (PR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budget holder the two revenue mechanics in one picture — the engine grows the market itself (flywheel), and it is licensed once, deeply, per partner (the tier staircase). No invented pricing; the model shape, not fabricated numbers.
SPOKEN TRACK (the old body copy, now said aloud over the drawing): Capture the new-investor wave — and create it: people who never invested because they couldn't read the research finally get information they can act on, and informed odds bring first-timers into ME/EM exchanges and keep them. One deep integration, delivered white-label or by API under the partner's umbrella; premium modules — Ticker Picker, Compare, Trade, Portfolio — roll out as licensed tiers, not giveaways. The partner's return: engagement, retention, volume, and first-mover ownership of publicly-graded AI research in their markets.
——— JARGON ON THIS SLIDE ———
Licence — a recurring fee for the right to run the engine, not research reports bought one at a time.
White-label / API — under the bank's own brand with the Testahil name invisible / a data pipe the bank's own app renders inside its own interface.
Feature tier — the staircase: base cones at one level; Ticker Picker, Compare, Trade, Portfolio above it.
Marginal cost — what one more market, language or stock costs. Near zero once the engine exists — the whole economics of the model.
First-mover — the first bank in the region to OWN publicly graded AI research, before a competitor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screenshot-able picture the sponsor can forward internally — gate, pilot, answer, integrate, expand, with the dates and numbers on it. The gate is drawn as a literal gate: nothing starts until price, budget holder and timeline exist.
Why the gate exists: a free pilot with no pre-agreed price, no named budget holder and no procurement timeline is unpaid consulting. Banks convert pilots when someone with budget authority commits in advance; they stall when the budget conversation is deferred to the end. A pilot should end in an answer, not a delay.
SPOKEN TRACK per phase — Pilot: 90 days, audited, on the 25 names their clients hold most; opens with the data room (full 15-year calibration archive, every window, every cone, every miss) plus a verification script their quants run to reproduce the 90.6% before any client sees a number (v1 offered 89.6% on 3,373 windows; the archive now reproduces 90.6% on 3,944 — the number updates with the record). Integrate: under their umbrella, white-label pages or API; their analysts become the review layer, so the output is their firm's process, not a third party's black box. Expand: a joint model &amp; research board — their senior analysts and quants with Testahil — approving upgrades, auditing calibration, resourcing full MENA coverage.
The licence, when asked: scoped by market, language, feature tier — and channel. Exclusivity where it matters, never universal: testahil.com keeps publishing publicly, because the graded record is what makes the engine credible to their compliance team. Each new market priced on its own data and residency cost. Where no licence line exists: equity, revenue share, or build-operate-transfer with a pre-agreed buyout — open on structure, not on whether there is one.
——— ON PRICE (notes only, deliberate) ———
No figure appears on the slide. Arrive with a range settled in your own mind — the gate commits to an agreed price before day one and the question WILL be asked. If they ask for a number first, ask for scope first (markets, languages, tiers, seats); price follows scope. If they name a number first, do not accept or reject in the room — take it away, price the scope, come back. A single buyer with no competing bid sets the price only if you let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get out of the slides and into the product while the room is leaning forward — with the site's own countdown clock, screenshotted live, as the hook that makes them open the ledger tonight.
The countdown is real and self-updating on the site: at capture (18-Aug) it read "1 day — until 20 August 2026, when XPTUSD 1 month is checked against the real price". Check it live before the meeting and say the actual instrument and date aloud; if the screenshot has aged, retake it (the deck source rebuilds it in one command).
Demo route that lands hardest, in order: (1) the Ticker Picker — sort by reachability, flip the horizon, show the red read-this-first box: honesty as a feature; (2) one ticker page (Fertiglobe or ADNOC L&amp;S) — the odds card, the cone, "Open the study / model / source register"; (3) the Ledger — "Were we right?", 12/13, the countdown, Samsung kept red on the record.
——— JARGON ON THIS SLIDE ———
Validation study / leave-behind — a full worked example on one company (Tata Motors) with every assumption and source on the record, handed over for their specialists to attack afterwards.
"The same number the public sees" — nothing in the demo is a special build. It is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forwarded slide — compliance, model-risk and vendor-risk decide this deal before any regulator is consulted. The gauntlet drawing answers their three questions in one line of sight: what publishes (ranges only — never a rating, target or recommendation; the public site is education only, advice happens inside the partner's perimeter, given by their licensed people), who is accountable (a NAMED human reviewer before every release — under integration, the partner's own analyst; the gold node is the point), and what can be inspected (fixed-seed reproducible runs, full documentation, every rejected technique named, an append-only ledger).
——— LIKELY QUESTIONS ———
"What if you are hit by a bus?" — the pipeline is documented to the standard where an independent quant can reproduce it. Offer the reproduction test as evidence.
"Is this AI making recommendations?" — no. It publishes distributions. The recommendation, if any, is made by the partner's licensed staff.
"Data residency in Saudi or the UAE?" — market data and filings are public; nothing touches client data unless the partner asks for it, and residency is priced per market.
"How do we operate day to day?" — integrate (white-label/API into your app and advisor desktops), license (advice from your licensed teams inside your perimeter, powered by our calibrated numbers), govern (the joint model board approves upgrades and audits calibration; your analysts sign what publishes).
——— JARGON ———
Education only — general information, explicitly not a personal recommendation; the distinction that keeps the public site outside advice regulation.
Fixed seed — the simulation's randomness is reproducible; a reviewer re-running it gets our exact numbers back.
Append-only ledger — records are added, never altered or deleted; corrections are new entries with a named note.
Suitability-aware — advice matched to that individual's risk tolerance and circumstances, as regulators require; only the partner's licensed people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drawing for the quant who will try to break it — both pipelines end to end, and the discard bin in plain sight. What a research shop threw away says as much as what it kept; showing the bin IS the credibility move.
——— JARGON ON THIS SLIDE ———
Carry-anchored — the simulation is centred on carry (local risk-free minus yield), not on a predicted direction — so claimed skill can never secretly be the time value of money.
YZ-HAR-t — volatility measured from open-high-low-close (captures overnight gaps); blended across daily/weekly/monthly speeds (volatility clusters); fat-tailed bell curve (extreme moves rare but real). Tail and width fitted PER MARKET — Cairo and New York do not crash the same way; Egypt adds a history-gated per-name width overlay.
Step-0 gate — every price file passes an automated check first: each exchange's own daily price limit defines what one session can physically do (Egypt ±20%, Korea ±30%), so impossible moves are caught without a guessed global threshold.
The exam / verdicts — walk-forward, non-overlapping windows scored against a carry-anchored random-walk benchmark; PASS (beats it with confidence) / PARITY (honestly calibrated, no proven edge) / FAIL (benchmark won), published per name and per market. One statistically robust name-level FAIL is on the record today — EXTRA (Tadawul), read live from the fit registry 18-Aug-2026 (v1 said "three" from an older registry state; the count is volatile, re-read before presenting).
The bin — CRPS-tuned selection looked better in-sample and LOST out of sample; the standing promotion rule (nothing ships unless it survives the same out-of-sample exam the forecasts face) exists because of it.
The beta rule — adopted 10-Aug-2026: every beta regresses on the published index of the stock's own exchange (EGX30, FADGI, TASI, …), never a composite of covered names; every legacy beta was re-derived. On the first name run both ways the composite understated beta ~40% and overstated fair value 21.6%.
Filings lane — official audited accounts only, never vendor feeds; ground-up volume × price and cost per unit; a live formula chain drivers → IS → BS → CF → DCF; debt split local vs foreign currency; working capital projected, not plugged; output is a range, never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auditor's page — every market's raw score with nothing smoothed, including the two footnotes a quant would otherwise catch us on (the UAE panel lag and the circular metals fit). Saying them first is the credibility play.
——— JARGON ON THIS SLIDE ———
Windows / inside / miss rate — completed historical test periods; how many landed within the stated 90% band; the share outside (supposed to be ~10% — a market at 6.2% is arguably too wide, not too good).
Verdict — a DIFFERENT computation from the miss-rate column: the calibration gate's scale-normalized CRPS-skill test against a carry-anchored benchmark (band containment can be bought with width; skill cannot). That is why Qatar reads PARITY despite a near-target miss rate.
Robust FAIL — a failure that survives re-testing across bootstrap configurations, not one unlucky slice. EXTRA (SA) carries the one current name-level robust FAIL (skill −0.037, CI excluding zero), read live from the fit registry.
——— HOW THESE NUMBERS WERE COMPUTED ———
Names/Windows/Inside — row counts and in90 flags per engine/panels/{MKT}_{NAME}_3m.csv summed per market (the pipeline's own stored scoring under each market's live fit). Verdicts — market_verdict per market in the live fit registry: Egypt PASS, all others 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kill the three escape routes — "our vendor can add this", "we'll build it", "we'll wait" — in one scannable verdict matrix, with the Testahil row reading green across. The TELEGRAM pill is the sting: for the long tail, doing nothing has a research provider, and it is Telegram.
SPOKEN TRACK per row — Vendors: Trading Central, Morningstar and peers already sell analytics into brokers, which proves the category rather than closing it; their emphasis is developed-market equities, FX, indices and commodities from vendor feeds — EGX/ADX/Tadawul small and mid caps rebuilt from the companies' own filings is the part they do not reach ("NOT HERE": their products are live, just not for these names). Build: a capable quant desk can rebuild a cone engine in months, but a time-stamped public record with the misses kept cannot be rebuilt — only started, and ours started June 2026; building also moves the model risk onto the bank's own balance sheet. Do nothing: the long tail's current research provider is Telegram tips and social media — the churn machine. Order matters when speaking: concede the category first; never argue you are better at what vendors already do well.
——— IF PRESSED ———
"They could add local coverage." They could. It would take the same fifteen years of restated local price history and the same filings work, and their public record would still start at zero.
"Their brand is stronger." Yes. That is why this is offered under YOUR brand, not ours.
——— HOW THESE CELLS ARE FILLED ———
91 NAMES / SINCE JUN-26 — the live coverage count and the earliest ledger anchor (11-Jun-2026), cover-note method. The other cells are characterisations argued in the spoken track, not measurements — keep them defensible: "NOT HERE" (coverage focus), "STARTS AT 0" (any new public record), "TELEGRAM" (the status-quo provider for uncovered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leave the room with the product's taste in their mouth — six real names, two clocks disagreeing, and the guard rail ("not picks") that shows the discipline travels all the way to the last slide.
——— JARGON ON THIS SLIDE ———
Gap to fair value — how far today's price sits below the study's fair value. "+72.1%" means fair value sits 72.1% above the price — NOT a prediction it gets there (that is exactly what the Ticker Picker's reachability column tests).
3-month median move — the middle of the 50,000 simulated outcomes: half land above, half below. The centre of the odds, not a target.
Lens — which method produced a number (Fundamental / Simulation / Chart); every figure on the site carries its tag.
——— HOW THESE NUMBERS WERE COMPUTED ———
Both lists — sorting the live TICKERS object in assets/data.js: fundamental by (fair.base/spot − 1) descending → EMFD +72.1% (spot close 28-Jul), BURJEEL +54.2% (24-Jul), ISPH +51.6% (22-Jul); simulation by (dist.t60.p50/spot − 1) descending → BTFH +4.9%, SCEM +4.8%, KABO +4.8%. vs the 30-Jul v1 read: fundamental unchanged; SCEM entered the simulation list at #2 (was RAYA).
Spot dates differ per name (each name's last posted close) — the "as computed" honesty matters more than false simultaneity.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726"/>
        </a:solidFill>
      </p:bgPr>
    </p:bg>
    <p:spTree>
      <p:nvGrpSpPr>
        <p:cNvPr id="1" name=""/>
        <p:cNvGrpSpPr/>
        <p:nvPr/>
      </p:nvGrpSpPr>
      <p:grpSpPr>
        <a:xfrm>
          <a:off x="0" y="0"/>
          <a:ext cx="0" cy="0"/>
          <a:chOff x="0" y="0"/>
          <a:chExt cx="0" cy="0"/>
        </a:xfrm>
      </p:grpSpPr>
      <p:pic>
        <p:nvPicPr>
          <p:cNvPr id="2" name="Image 0" descr="asset_cover_fan.png">    </p:cNvPr>
          <p:cNvPicPr>
            <a:picLocks noChangeAspect="1"/>
          </p:cNvPicPr>
          <p:nvPr/>
        </p:nvPicPr>
        <p:blipFill>
          <a:blip r:embed="rId1">
            <a:alphaModFix amt="78000"/>
          </a:blip>
          <a:stretch>
            <a:fillRect/>
          </a:stretch>
        </p:blipFill>
        <p:spPr>
          <a:xfrm>
            <a:off x="5239512" y="3090672"/>
            <a:ext cx="6949440" cy="3767328"/>
          </a:xfrm>
          <a:prstGeom prst="rect">
            <a:avLst/>
          </a:prstGeom>
        </p:spPr>
      </p:pic>
      <p:sp>
        <p:nvSpPr>
          <p:cNvPr id="3"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C0A45F"/>
                </a:solidFill>
                <a:latin typeface="Arial" pitchFamily="34" charset="0"/>
                <a:ea typeface="Arial" pitchFamily="34" charset="-122"/>
                <a:cs typeface="Arial" pitchFamily="34" charset="-120"/>
              </a:rPr>
              <a:t>INDEPENDENT VALUATION STUDIES · PARTNERSHIP BRIEF</a:t>
            </a:r>
            <a:endParaRPr lang="en-US" sz="1100" dirty="0"/>
          </a:p>
        </p:txBody>
      </p:sp>
      <p:sp>
        <p:nvSpPr>
          <p:cNvPr id="4" name="Text 1"/>
          <p:cNvSpPr/>
          <p:nvPr/>
        </p:nvSpPr>
        <p:spPr>
          <a:xfrm>
            <a:off x="594360" y="841248"/>
            <a:ext cx="731520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testahil</a:t>
            </a:r>
            <a:pPr indent="0" marL="0">
              <a:buNone/>
            </a:pPr>
            <a:r>
              <a:rPr lang="en-US" sz="5200" b="1" dirty="0">
                <a:solidFill>
                  <a:srgbClr val="C0A45F"/>
                </a:solidFill>
                <a:latin typeface="Arial" pitchFamily="34" charset="0"/>
                <a:ea typeface="Arial" pitchFamily="34" charset="-122"/>
                <a:cs typeface="Arial" pitchFamily="34" charset="-120"/>
              </a:rPr>
              <a:t>?</a:t>
            </a:r>
            <a:endParaRPr lang="en-US" sz="5200" dirty="0"/>
          </a:p>
        </p:txBody>
      </p:sp>
      <p:sp>
        <p:nvSpPr>
          <p:cNvPr id="5" name="Text 2"/>
          <p:cNvSpPr/>
          <p:nvPr/>
        </p:nvSpPr>
        <p:spPr>
          <a:xfrm>
            <a:off x="594360" y="1847088"/>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Distributions, not tips.</a:t>
            </a:r>
            <a:endParaRPr lang="en-US" sz="3800" dirty="0"/>
          </a:p>
        </p:txBody>
      </p:sp>
      <p:sp>
        <p:nvSpPr>
          <p:cNvPr id="6" name="Text 3"/>
          <p:cNvSpPr/>
          <p:nvPr/>
        </p:nvSpPr>
        <p:spPr>
          <a:xfrm>
            <a:off x="594360" y="2670048"/>
            <a:ext cx="6492240" cy="1005840"/>
          </a:xfrm>
          <a:prstGeom prst="rect">
            <a:avLst/>
          </a:prstGeom>
          <a:noFill/>
          <a:ln/>
        </p:spPr>
        <p:txBody>
          <a:bodyPr wrap="square" lIns="0" tIns="0" rIns="0" bIns="0" rtlCol="0" anchor="t"/>
          <a:lstStyle/>
          <a:p>
            <a:pPr indent="0" marL="0">
              <a:buNone/>
            </a:pPr>
            <a:r>
              <a:rPr lang="en-US" sz="1400" dirty="0">
                <a:solidFill>
                  <a:srgbClr val="C9D6D2"/>
                </a:solidFill>
                <a:latin typeface="Arial" pitchFamily="34" charset="0"/>
                <a:ea typeface="Arial" pitchFamily="34" charset="-122"/>
                <a:cs typeface="Arial" pitchFamily="34" charset="-120"/>
              </a:rPr>
              <a:t>Machine-generated, analyst-reviewed research for the modern wealth platform — every forecast published, time-stamped, and graded in public. Never edited.</a:t>
            </a:r>
            <a:endParaRPr lang="en-US" sz="1400" dirty="0"/>
          </a:p>
        </p:txBody>
      </p:sp>
      <p:sp>
        <p:nvSpPr>
          <p:cNvPr id="7" name="Text 4"/>
          <p:cNvSpPr/>
          <p:nvPr/>
        </p:nvSpPr>
        <p:spPr>
          <a:xfrm>
            <a:off x="594360" y="4041648"/>
            <a:ext cx="2651760" cy="777240"/>
          </a:xfrm>
          <a:prstGeom prst="rect">
            <a:avLst/>
          </a:prstGeom>
          <a:noFill/>
          <a:ln/>
        </p:spPr>
        <p:txBody>
          <a:bodyPr wrap="square" lIns="0" tIns="0" rIns="0" bIns="0" rtlCol="0" anchor="ctr"/>
          <a:lstStyle/>
          <a:p>
            <a:pPr indent="0" marL="0">
              <a:buNone/>
            </a:pPr>
            <a:r>
              <a:rPr lang="en-US" sz="4400" b="1" dirty="0">
                <a:solidFill>
                  <a:srgbClr val="C0A45F"/>
                </a:solidFill>
                <a:latin typeface="Arial" pitchFamily="34" charset="0"/>
                <a:ea typeface="Arial" pitchFamily="34" charset="-122"/>
                <a:cs typeface="Arial" pitchFamily="34" charset="-120"/>
              </a:rPr>
              <a:t>91</a:t>
            </a:r>
            <a:endParaRPr lang="en-US" sz="4400" dirty="0"/>
          </a:p>
        </p:txBody>
      </p:sp>
      <p:sp>
        <p:nvSpPr>
          <p:cNvPr id="8" name="Text 5"/>
          <p:cNvSpPr/>
          <p:nvPr/>
        </p:nvSpPr>
        <p:spPr>
          <a:xfrm>
            <a:off x="594360" y="4846320"/>
            <a:ext cx="2615184" cy="685800"/>
          </a:xfrm>
          <a:prstGeom prst="rect">
            <a:avLst/>
          </a:prstGeom>
          <a:noFill/>
          <a:ln/>
        </p:spPr>
        <p:txBody>
          <a:bodyPr wrap="square" lIns="0" tIns="0" rIns="0" bIns="0" rtlCol="0" anchor="t"/>
          <a:lstStyle/>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INSTRUMENTS · 8 MARKETS —</a:t>
            </a:r>
            <a:endParaRPr lang="en-US" sz="950" dirty="0"/>
          </a:p>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A FULL STUDY BEHIND EVERY ONE</a:t>
            </a:r>
            <a:endParaRPr lang="en-US" sz="950" dirty="0"/>
          </a:p>
        </p:txBody>
      </p:sp>
      <p:sp>
        <p:nvSpPr>
          <p:cNvPr id="9" name="Text 6"/>
          <p:cNvSpPr/>
          <p:nvPr/>
        </p:nvSpPr>
        <p:spPr>
          <a:xfrm>
            <a:off x="3392424" y="4041648"/>
            <a:ext cx="2651760" cy="777240"/>
          </a:xfrm>
          <a:prstGeom prst="rect">
            <a:avLst/>
          </a:prstGeom>
          <a:noFill/>
          <a:ln/>
        </p:spPr>
        <p:txBody>
          <a:bodyPr wrap="square" lIns="0" tIns="0" rIns="0" bIns="0" rtlCol="0" anchor="ctr"/>
          <a:lstStyle/>
          <a:p>
            <a:pPr indent="0" marL="0">
              <a:buNone/>
            </a:pPr>
            <a:r>
              <a:rPr lang="en-US" sz="4400" b="1" dirty="0">
                <a:solidFill>
                  <a:srgbClr val="C0A45F"/>
                </a:solidFill>
                <a:latin typeface="Arial" pitchFamily="34" charset="0"/>
                <a:ea typeface="Arial" pitchFamily="34" charset="-122"/>
                <a:cs typeface="Arial" pitchFamily="34" charset="-120"/>
              </a:rPr>
              <a:t>3,944</a:t>
            </a:r>
            <a:endParaRPr lang="en-US" sz="4400" dirty="0"/>
          </a:p>
        </p:txBody>
      </p:sp>
      <p:sp>
        <p:nvSpPr>
          <p:cNvPr id="10" name="Text 7"/>
          <p:cNvSpPr/>
          <p:nvPr/>
        </p:nvSpPr>
        <p:spPr>
          <a:xfrm>
            <a:off x="3392424" y="4846320"/>
            <a:ext cx="2615184" cy="685800"/>
          </a:xfrm>
          <a:prstGeom prst="rect">
            <a:avLst/>
          </a:prstGeom>
          <a:noFill/>
          <a:ln/>
        </p:spPr>
        <p:txBody>
          <a:bodyPr wrap="square" lIns="0" tIns="0" rIns="0" bIns="0" rtlCol="0" anchor="t"/>
          <a:lstStyle/>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BACKTEST WINDOWS ·</a:t>
            </a:r>
            <a:endParaRPr lang="en-US" sz="950" dirty="0"/>
          </a:p>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UP TO 15 YEARS PER NAME</a:t>
            </a:r>
            <a:endParaRPr lang="en-US" sz="950" dirty="0"/>
          </a:p>
        </p:txBody>
      </p:sp>
      <p:sp>
        <p:nvSpPr>
          <p:cNvPr id="11" name="Text 8"/>
          <p:cNvSpPr/>
          <p:nvPr/>
        </p:nvSpPr>
        <p:spPr>
          <a:xfrm>
            <a:off x="6190488" y="4041648"/>
            <a:ext cx="2651760" cy="777240"/>
          </a:xfrm>
          <a:prstGeom prst="rect">
            <a:avLst/>
          </a:prstGeom>
          <a:noFill/>
          <a:ln/>
        </p:spPr>
        <p:txBody>
          <a:bodyPr wrap="square" lIns="0" tIns="0" rIns="0" bIns="0" rtlCol="0" anchor="ctr"/>
          <a:lstStyle/>
          <a:p>
            <a:pPr indent="0" marL="0">
              <a:buNone/>
            </a:pPr>
            <a:r>
              <a:rPr lang="en-US" sz="4400" b="1" dirty="0">
                <a:solidFill>
                  <a:srgbClr val="C0A45F"/>
                </a:solidFill>
                <a:latin typeface="Arial" pitchFamily="34" charset="0"/>
                <a:ea typeface="Arial" pitchFamily="34" charset="-122"/>
                <a:cs typeface="Arial" pitchFamily="34" charset="-120"/>
              </a:rPr>
              <a:t>90.6%</a:t>
            </a:r>
            <a:endParaRPr lang="en-US" sz="4400" dirty="0"/>
          </a:p>
        </p:txBody>
      </p:sp>
      <p:sp>
        <p:nvSpPr>
          <p:cNvPr id="12" name="Text 9"/>
          <p:cNvSpPr/>
          <p:nvPr/>
        </p:nvSpPr>
        <p:spPr>
          <a:xfrm>
            <a:off x="6190488" y="4846320"/>
            <a:ext cx="2615184" cy="685800"/>
          </a:xfrm>
          <a:prstGeom prst="rect">
            <a:avLst/>
          </a:prstGeom>
          <a:noFill/>
          <a:ln/>
        </p:spPr>
        <p:txBody>
          <a:bodyPr wrap="square" lIns="0" tIns="0" rIns="0" bIns="0" rtlCol="0" anchor="t"/>
          <a:lstStyle/>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LANDED INSIDE THE</a:t>
            </a:r>
            <a:endParaRPr lang="en-US" sz="950" dirty="0"/>
          </a:p>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STATED 90% BAND</a:t>
            </a:r>
            <a:endParaRPr lang="en-US" sz="950" dirty="0"/>
          </a:p>
        </p:txBody>
      </p:sp>
      <p:sp>
        <p:nvSpPr>
          <p:cNvPr id="13" name="Text 10"/>
          <p:cNvSpPr/>
          <p:nvPr/>
        </p:nvSpPr>
        <p:spPr>
          <a:xfrm>
            <a:off x="8988552" y="4041648"/>
            <a:ext cx="2651760" cy="777240"/>
          </a:xfrm>
          <a:prstGeom prst="rect">
            <a:avLst/>
          </a:prstGeom>
          <a:noFill/>
          <a:ln/>
        </p:spPr>
        <p:txBody>
          <a:bodyPr wrap="square" lIns="0" tIns="0" rIns="0" bIns="0" rtlCol="0" anchor="ctr"/>
          <a:lstStyle/>
          <a:p>
            <a:pPr indent="0" marL="0">
              <a:buNone/>
            </a:pPr>
            <a:r>
              <a:rPr lang="en-US" sz="4400" b="1" dirty="0">
                <a:solidFill>
                  <a:srgbClr val="C0A45F"/>
                </a:solidFill>
                <a:latin typeface="Arial" pitchFamily="34" charset="0"/>
                <a:ea typeface="Arial" pitchFamily="34" charset="-122"/>
                <a:cs typeface="Arial" pitchFamily="34" charset="-120"/>
              </a:rPr>
              <a:t>199</a:t>
            </a:r>
            <a:endParaRPr lang="en-US" sz="4400" dirty="0"/>
          </a:p>
        </p:txBody>
      </p:sp>
      <p:sp>
        <p:nvSpPr>
          <p:cNvPr id="14" name="Text 11"/>
          <p:cNvSpPr/>
          <p:nvPr/>
        </p:nvSpPr>
        <p:spPr>
          <a:xfrm>
            <a:off x="8988552" y="4846320"/>
            <a:ext cx="2615184" cy="685800"/>
          </a:xfrm>
          <a:prstGeom prst="rect">
            <a:avLst/>
          </a:prstGeom>
          <a:noFill/>
          <a:ln/>
        </p:spPr>
        <p:txBody>
          <a:bodyPr wrap="square" lIns="0" tIns="0" rIns="0" bIns="0" rtlCol="0" anchor="t"/>
          <a:lstStyle/>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PUBLIC FORECASTS</a:t>
            </a:r>
            <a:endParaRPr lang="en-US" sz="950" dirty="0"/>
          </a:p>
          <a:p>
            <a:pPr indent="0" marL="0">
              <a:lnSpc>
                <a:spcPct val="115000"/>
              </a:lnSpc>
              <a:buNone/>
            </a:pPr>
            <a:r>
              <a:rPr lang="en-US" sz="950" spc="100" kern="0" dirty="0">
                <a:solidFill>
                  <a:srgbClr val="9FB4AF"/>
                </a:solidFill>
                <a:latin typeface="Arial" pitchFamily="34" charset="0"/>
                <a:ea typeface="Arial" pitchFamily="34" charset="-122"/>
                <a:cs typeface="Arial" pitchFamily="34" charset="-120"/>
              </a:rPr>
              <a:t>SINCE JUN-2026</a:t>
            </a:r>
            <a:endParaRPr lang="en-US" sz="950" dirty="0"/>
          </a:p>
        </p:txBody>
      </p:sp>
      <p:sp>
        <p:nvSpPr>
          <p:cNvPr id="15" name="Text 12"/>
          <p:cNvSpPr/>
          <p:nvPr/>
        </p:nvSpPr>
        <p:spPr>
          <a:xfrm>
            <a:off x="594360" y="5742432"/>
            <a:ext cx="8229600" cy="457200"/>
          </a:xfrm>
          <a:prstGeom prst="rect">
            <a:avLst/>
          </a:prstGeom>
          <a:noFill/>
          <a:ln/>
        </p:spPr>
        <p:txBody>
          <a:bodyPr wrap="square" lIns="0" tIns="0" rIns="0" bIns="0" rtlCol="0" anchor="ctr"/>
          <a:lstStyle/>
          <a:p>
            <a:pPr indent="0" marL="0">
              <a:buNone/>
            </a:pPr>
            <a:r>
              <a:rPr lang="en-US" sz="1800" i="1" dirty="0">
                <a:solidFill>
                  <a:srgbClr val="FFFFFF"/>
                </a:solidFill>
                <a:latin typeface="Arial" pitchFamily="34" charset="0"/>
                <a:ea typeface="Arial" pitchFamily="34" charset="-122"/>
                <a:cs typeface="Arial" pitchFamily="34" charset="-120"/>
              </a:rPr>
              <a:t>One in ten misses. On schedule. In public.</a:t>
            </a:r>
            <a:endParaRPr lang="en-US" sz="1800" dirty="0"/>
          </a:p>
        </p:txBody>
      </p:sp>
      <p:sp>
        <p:nvSpPr>
          <p:cNvPr id="16" name="Text 13"/>
          <p:cNvSpPr/>
          <p:nvPr/>
        </p:nvSpPr>
        <p:spPr>
          <a:xfrm>
            <a:off x="594360" y="6446520"/>
            <a:ext cx="8229600" cy="274320"/>
          </a:xfrm>
          <a:prstGeom prst="rect">
            <a:avLst/>
          </a:prstGeom>
          <a:noFill/>
          <a:ln/>
        </p:spPr>
        <p:txBody>
          <a:bodyPr wrap="square" lIns="0" tIns="0" rIns="0" bIns="0" rtlCol="0" anchor="ctr"/>
          <a:lstStyle/>
          <a:p>
            <a:pPr indent="0" marL="0">
              <a:buNone/>
            </a:pPr>
            <a:r>
              <a:rPr lang="en-US" sz="1000" dirty="0">
                <a:solidFill>
                  <a:srgbClr val="9FB4AF"/>
                </a:solidFill>
                <a:latin typeface="Arial" pitchFamily="34" charset="0"/>
                <a:ea typeface="Arial" pitchFamily="34" charset="-122"/>
                <a:cs typeface="Arial" pitchFamily="34" charset="-120"/>
              </a:rPr>
              <a:t>Prepared for partnership discussion · August 2026 · testahil.com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02 · THE GAP</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Who covers stock #200?</a:t>
            </a:r>
            <a:endParaRPr lang="en-US" sz="3400" dirty="0"/>
          </a:p>
        </p:txBody>
      </p:sp>
      <p:sp>
        <p:nvSpPr>
          <p:cNvPr id="4" name="Text 2"/>
          <p:cNvSpPr/>
          <p:nvPr/>
        </p:nvSpPr>
        <p:spPr>
          <a:xfrm>
            <a:off x="594360" y="1426464"/>
            <a:ext cx="10607040" cy="411480"/>
          </a:xfrm>
          <a:prstGeom prst="rect">
            <a:avLst/>
          </a:prstGeom>
          <a:noFill/>
          <a:ln/>
        </p:spPr>
        <p:txBody>
          <a:bodyPr wrap="square" lIns="0" tIns="0" rIns="0" bIns="0" rtlCol="0" anchor="t"/>
          <a:lstStyle/>
          <a:p>
            <a:pPr indent="0" marL="0">
              <a:buNone/>
            </a:pPr>
            <a:r>
              <a:rPr lang="en-US" sz="1500" dirty="0">
                <a:solidFill>
                  <a:srgbClr val="5C6B70"/>
                </a:solidFill>
                <a:latin typeface="Arial" pitchFamily="34" charset="0"/>
                <a:ea typeface="Arial" pitchFamily="34" charset="-122"/>
                <a:cs typeface="Arial" pitchFamily="34" charset="-120"/>
              </a:rPr>
              <a:t>Nobody. Excellent research exists — for forty names, in twenty-page reports a first-time investor will never open.</a:t>
            </a:r>
            <a:endParaRPr lang="en-US" sz="1500" dirty="0"/>
          </a:p>
        </p:txBody>
      </p:sp>
      <p:sp>
        <p:nvSpPr>
          <p:cNvPr id="5" name="Shape 3"/>
          <p:cNvSpPr/>
          <p:nvPr/>
        </p:nvSpPr>
        <p:spPr>
          <a:xfrm>
            <a:off x="594360" y="2084832"/>
            <a:ext cx="2331720" cy="475488"/>
          </a:xfrm>
          <a:prstGeom prst="roundRect">
            <a:avLst>
              <a:gd name="adj" fmla="val 11538"/>
            </a:avLst>
          </a:prstGeom>
          <a:solidFill>
            <a:srgbClr val="5C6B70"/>
          </a:solidFill>
          <a:ln/>
        </p:spPr>
      </p:sp>
      <p:sp>
        <p:nvSpPr>
          <p:cNvPr id="6" name="Text 4"/>
          <p:cNvSpPr/>
          <p:nvPr/>
        </p:nvSpPr>
        <p:spPr>
          <a:xfrm>
            <a:off x="758952" y="2103120"/>
            <a:ext cx="2103120" cy="43891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40–60</a:t>
            </a:r>
            <a:endParaRPr lang="en-US" sz="1700" dirty="0"/>
          </a:p>
        </p:txBody>
      </p:sp>
      <p:sp>
        <p:nvSpPr>
          <p:cNvPr id="7" name="Text 5"/>
          <p:cNvSpPr/>
          <p:nvPr/>
        </p:nvSpPr>
        <p:spPr>
          <a:xfrm>
            <a:off x="3127248" y="2103120"/>
            <a:ext cx="8467344" cy="47548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names one desk of analysts can carry with real depth</a:t>
            </a:r>
            <a:endParaRPr lang="en-US" sz="1250" dirty="0"/>
          </a:p>
        </p:txBody>
      </p:sp>
      <p:sp>
        <p:nvSpPr>
          <p:cNvPr id="8" name="Shape 6"/>
          <p:cNvSpPr/>
          <p:nvPr/>
        </p:nvSpPr>
        <p:spPr>
          <a:xfrm>
            <a:off x="594360" y="2926080"/>
            <a:ext cx="8321040" cy="475488"/>
          </a:xfrm>
          <a:prstGeom prst="roundRect">
            <a:avLst>
              <a:gd name="adj" fmla="val 11538"/>
            </a:avLst>
          </a:prstGeom>
          <a:solidFill>
            <a:srgbClr val="C0A45F"/>
          </a:solidFill>
          <a:ln/>
        </p:spPr>
      </p:sp>
      <p:sp>
        <p:nvSpPr>
          <p:cNvPr id="9" name="Text 7"/>
          <p:cNvSpPr/>
          <p:nvPr/>
        </p:nvSpPr>
        <p:spPr>
          <a:xfrm>
            <a:off x="758952" y="2944368"/>
            <a:ext cx="8092440" cy="43891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hundreds</a:t>
            </a:r>
            <a:endParaRPr lang="en-US" sz="1700" dirty="0"/>
          </a:p>
        </p:txBody>
      </p:sp>
      <p:sp>
        <p:nvSpPr>
          <p:cNvPr id="10" name="Text 8"/>
          <p:cNvSpPr/>
          <p:nvPr/>
        </p:nvSpPr>
        <p:spPr>
          <a:xfrm>
            <a:off x="9116568" y="2944368"/>
            <a:ext cx="2478024" cy="47548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names retail actually trades — covered today by Telegram tips</a:t>
            </a:r>
            <a:endParaRPr lang="en-US" sz="1250" dirty="0"/>
          </a:p>
        </p:txBody>
      </p:sp>
      <p:sp>
        <p:nvSpPr>
          <p:cNvPr id="11" name="Shape 9"/>
          <p:cNvSpPr/>
          <p:nvPr/>
        </p:nvSpPr>
        <p:spPr>
          <a:xfrm>
            <a:off x="594360" y="3767328"/>
            <a:ext cx="3749040" cy="475488"/>
          </a:xfrm>
          <a:prstGeom prst="roundRect">
            <a:avLst>
              <a:gd name="adj" fmla="val 11538"/>
            </a:avLst>
          </a:prstGeom>
          <a:solidFill>
            <a:srgbClr val="12796B"/>
          </a:solidFill>
          <a:ln/>
        </p:spPr>
      </p:sp>
      <p:sp>
        <p:nvSpPr>
          <p:cNvPr id="12" name="Text 10"/>
          <p:cNvSpPr/>
          <p:nvPr/>
        </p:nvSpPr>
        <p:spPr>
          <a:xfrm>
            <a:off x="758952" y="3785616"/>
            <a:ext cx="3520440" cy="43891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91</a:t>
            </a:r>
            <a:endParaRPr lang="en-US" sz="1700" dirty="0"/>
          </a:p>
        </p:txBody>
      </p:sp>
      <p:sp>
        <p:nvSpPr>
          <p:cNvPr id="13" name="Text 11"/>
          <p:cNvSpPr/>
          <p:nvPr/>
        </p:nvSpPr>
        <p:spPr>
          <a:xfrm>
            <a:off x="4544568" y="3785616"/>
            <a:ext cx="7050024" cy="47548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instruments Testahil covers — a full ground-up study behind every one</a:t>
            </a:r>
            <a:endParaRPr lang="en-US" sz="1250" dirty="0"/>
          </a:p>
        </p:txBody>
      </p:sp>
      <p:sp>
        <p:nvSpPr>
          <p:cNvPr id="14" name="Shape 12"/>
          <p:cNvSpPr/>
          <p:nvPr/>
        </p:nvSpPr>
        <p:spPr>
          <a:xfrm>
            <a:off x="594360" y="4754880"/>
            <a:ext cx="11000232" cy="987552"/>
          </a:xfrm>
          <a:prstGeom prst="roundRect">
            <a:avLst>
              <a:gd name="adj" fmla="val 6481"/>
            </a:avLst>
          </a:prstGeom>
          <a:solidFill>
            <a:srgbClr val="FFFFFF"/>
          </a:solidFill>
          <a:ln w="12700">
            <a:solidFill>
              <a:srgbClr val="D9E4E1"/>
            </a:solidFill>
            <a:prstDash val="solid"/>
          </a:ln>
        </p:spPr>
      </p:sp>
      <p:sp>
        <p:nvSpPr>
          <p:cNvPr id="15" name="Text 13"/>
          <p:cNvSpPr/>
          <p:nvPr/>
        </p:nvSpPr>
        <p:spPr>
          <a:xfrm>
            <a:off x="868680" y="4901184"/>
            <a:ext cx="10424160" cy="502920"/>
          </a:xfrm>
          <a:prstGeom prst="rect">
            <a:avLst/>
          </a:prstGeom>
          <a:noFill/>
          <a:ln/>
        </p:spPr>
        <p:txBody>
          <a:bodyPr wrap="square" lIns="0" tIns="0" rIns="0" bIns="0" rtlCol="0" anchor="ctr"/>
          <a:lstStyle/>
          <a:p>
            <a:pPr indent="0" marL="0">
              <a:buNone/>
            </a:pPr>
            <a:r>
              <a:rPr lang="en-US" sz="2600" b="1" dirty="0">
                <a:solidFill>
                  <a:srgbClr val="12796B"/>
                </a:solidFill>
                <a:latin typeface="Arial" pitchFamily="34" charset="0"/>
                <a:ea typeface="Arial" pitchFamily="34" charset="-122"/>
                <a:cs typeface="Arial" pitchFamily="34" charset="-120"/>
              </a:rPr>
              <a:t>276,000</a:t>
            </a:r>
            <a:pPr indent="0" marL="0">
              <a:buNone/>
            </a:pPr>
            <a:r>
              <a:rPr lang="en-US" sz="1250" dirty="0">
                <a:solidFill>
                  <a:srgbClr val="0E2726"/>
                </a:solidFill>
                <a:latin typeface="Arial" pitchFamily="34" charset="0"/>
                <a:ea typeface="Arial" pitchFamily="34" charset="-122"/>
                <a:cs typeface="Arial" pitchFamily="34" charset="-120"/>
              </a:rPr>
              <a:t>  registered investors in Egypt, up ~20% in a year — market cap </a:t>
            </a:r>
            <a:pPr indent="0" marL="0">
              <a:buNone/>
            </a:pPr>
            <a:r>
              <a:rPr lang="en-US" sz="2600" b="1" dirty="0">
                <a:solidFill>
                  <a:srgbClr val="C0A45F"/>
                </a:solidFill>
                <a:latin typeface="Arial" pitchFamily="34" charset="0"/>
                <a:ea typeface="Arial" pitchFamily="34" charset="-122"/>
                <a:cs typeface="Arial" pitchFamily="34" charset="-120"/>
              </a:rPr>
              <a:t>+42%</a:t>
            </a:r>
            <a:pPr indent="0" marL="0">
              <a:buNone/>
            </a:pPr>
            <a:r>
              <a:rPr lang="en-US" sz="1250" dirty="0">
                <a:solidFill>
                  <a:srgbClr val="0E2726"/>
                </a:solidFill>
                <a:latin typeface="Arial" pitchFamily="34" charset="0"/>
                <a:ea typeface="Arial" pitchFamily="34" charset="-122"/>
                <a:cs typeface="Arial" pitchFamily="34" charset="-120"/>
              </a:rPr>
              <a:t> in 2025. A record wave of first-timers, walking into this vacuum.</a:t>
            </a:r>
            <a:endParaRPr lang="en-US" sz="2600" dirty="0"/>
          </a:p>
        </p:txBody>
      </p:sp>
      <p:sp>
        <p:nvSpPr>
          <p:cNvPr id="16" name="Text 14"/>
          <p:cNvSpPr/>
          <p:nvPr/>
        </p:nvSpPr>
        <p:spPr>
          <a:xfrm>
            <a:off x="868680" y="5431536"/>
            <a:ext cx="5486400" cy="237744"/>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EGX Chairman · Al Arabiya · 29 Dec 2025</a:t>
            </a:r>
            <a:endParaRPr lang="en-US" sz="850" dirty="0"/>
          </a:p>
        </p:txBody>
      </p:sp>
      <p:sp>
        <p:nvSpPr>
          <p:cNvPr id="17" name="Text 15"/>
          <p:cNvSpPr/>
          <p:nvPr/>
        </p:nvSpPr>
        <p:spPr>
          <a:xfrm>
            <a:off x="594360" y="6035040"/>
            <a:ext cx="10972800" cy="411480"/>
          </a:xfrm>
          <a:prstGeom prst="rect">
            <a:avLst/>
          </a:prstGeom>
          <a:noFill/>
          <a:ln/>
        </p:spPr>
        <p:txBody>
          <a:bodyPr wrap="square" lIns="0" tIns="0" rIns="0" bIns="0" rtlCol="0" anchor="ctr"/>
          <a:lstStyle/>
          <a:p>
            <a:pPr indent="0" marL="0">
              <a:buNone/>
            </a:pPr>
            <a:r>
              <a:rPr lang="en-US" sz="1550" i="1" dirty="0">
                <a:solidFill>
                  <a:srgbClr val="0E2726"/>
                </a:solidFill>
                <a:latin typeface="Arial" pitchFamily="34" charset="0"/>
                <a:ea typeface="Arial" pitchFamily="34" charset="-122"/>
                <a:cs typeface="Arial" pitchFamily="34" charset="-120"/>
              </a:rPr>
              <a:t>They trade blind, lose, and churn — and the most expensive client a platform can acquire is the one who leaves burned.</a:t>
            </a:r>
            <a:endParaRPr lang="en-US" sz="1550" dirty="0"/>
          </a:p>
        </p:txBody>
      </p:sp>
      <p:sp>
        <p:nvSpPr>
          <p:cNvPr id="18" name="Text 16"/>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03 · THE SOLUTION</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Odds, not orders.</a:t>
            </a:r>
            <a:endParaRPr lang="en-US" sz="3400" dirty="0"/>
          </a:p>
        </p:txBody>
      </p:sp>
      <p:sp>
        <p:nvSpPr>
          <p:cNvPr id="4" name="Text 2"/>
          <p:cNvSpPr/>
          <p:nvPr/>
        </p:nvSpPr>
        <p:spPr>
          <a:xfrm>
            <a:off x="594360" y="1371600"/>
            <a:ext cx="10515600" cy="384048"/>
          </a:xfrm>
          <a:prstGeom prst="rect">
            <a:avLst/>
          </a:prstGeom>
          <a:noFill/>
          <a:ln/>
        </p:spPr>
        <p:txBody>
          <a:bodyPr wrap="square" lIns="0" tIns="0" rIns="0" bIns="0" rtlCol="0" anchor="t"/>
          <a:lstStyle/>
          <a:p>
            <a:pPr indent="0" marL="0">
              <a:buNone/>
            </a:pPr>
            <a:r>
              <a:rPr lang="en-US" sz="1500" dirty="0">
                <a:solidFill>
                  <a:srgbClr val="5C6B70"/>
                </a:solidFill>
                <a:latin typeface="Arial" pitchFamily="34" charset="0"/>
                <a:ea typeface="Arial" pitchFamily="34" charset="-122"/>
                <a:cs typeface="Arial" pitchFamily="34" charset="-120"/>
              </a:rPr>
              <a:t>Three lenses on every stock — and above all, the probability of every price, one to three months out.</a:t>
            </a:r>
            <a:endParaRPr lang="en-US" sz="1500" dirty="0"/>
          </a:p>
        </p:txBody>
      </p:sp>
      <p:sp>
        <p:nvSpPr>
          <p:cNvPr id="5" name="Text 3"/>
          <p:cNvSpPr/>
          <p:nvPr/>
        </p:nvSpPr>
        <p:spPr>
          <a:xfrm>
            <a:off x="594360" y="1956816"/>
            <a:ext cx="5120640" cy="274320"/>
          </a:xfrm>
          <a:prstGeom prst="rect">
            <a:avLst/>
          </a:prstGeom>
          <a:noFill/>
          <a:ln/>
        </p:spPr>
        <p:txBody>
          <a:bodyPr wrap="square" lIns="0" tIns="0" rIns="0" bIns="0" rtlCol="0" anchor="ctr"/>
          <a:lstStyle/>
          <a:p>
            <a:pPr indent="0" marL="0">
              <a:buNone/>
            </a:pPr>
            <a:r>
              <a:rPr lang="en-US" sz="1250" b="1" spc="150" kern="0" dirty="0">
                <a:solidFill>
                  <a:srgbClr val="12796B"/>
                </a:solidFill>
                <a:latin typeface="Arial" pitchFamily="34" charset="0"/>
                <a:ea typeface="Arial" pitchFamily="34" charset="-122"/>
                <a:cs typeface="Arial" pitchFamily="34" charset="-120"/>
              </a:rPr>
              <a:t>FUNDAMENTAL — THE 1-YEAR CLOCK</a:t>
            </a:r>
            <a:endParaRPr lang="en-US" sz="1250" dirty="0"/>
          </a:p>
        </p:txBody>
      </p:sp>
      <p:sp>
        <p:nvSpPr>
          <p:cNvPr id="6" name="Text 4"/>
          <p:cNvSpPr/>
          <p:nvPr/>
        </p:nvSpPr>
        <p:spPr>
          <a:xfrm>
            <a:off x="594360" y="2276856"/>
            <a:ext cx="5074920" cy="914400"/>
          </a:xfrm>
          <a:prstGeom prst="rect">
            <a:avLst/>
          </a:prstGeom>
          <a:noFill/>
          <a:ln/>
        </p:spPr>
        <p:txBody>
          <a:bodyPr wrap="square" lIns="0" tIns="0" rIns="0" bIns="0" rtlCol="0" anchor="t"/>
          <a:lstStyle/>
          <a:p>
            <a:pPr indent="0" marL="0">
              <a:buNone/>
            </a:pPr>
            <a:r>
              <a:rPr lang="en-US" sz="1250" dirty="0">
                <a:solidFill>
                  <a:srgbClr val="0E2726"/>
                </a:solidFill>
                <a:latin typeface="Arial" pitchFamily="34" charset="0"/>
                <a:ea typeface="Arial" pitchFamily="34" charset="-122"/>
                <a:cs typeface="Arial" pitchFamily="34" charset="-120"/>
              </a:rPr>
              <a:t>A fair-value range built from official filings only — product by product, volume × price — checked by an analyst before it publishes.</a:t>
            </a:r>
            <a:endParaRPr lang="en-US" sz="1250" dirty="0"/>
          </a:p>
        </p:txBody>
      </p:sp>
      <p:sp>
        <p:nvSpPr>
          <p:cNvPr id="7" name="Text 5"/>
          <p:cNvSpPr/>
          <p:nvPr/>
        </p:nvSpPr>
        <p:spPr>
          <a:xfrm>
            <a:off x="594360" y="3255264"/>
            <a:ext cx="5120640" cy="274320"/>
          </a:xfrm>
          <a:prstGeom prst="rect">
            <a:avLst/>
          </a:prstGeom>
          <a:noFill/>
          <a:ln/>
        </p:spPr>
        <p:txBody>
          <a:bodyPr wrap="square" lIns="0" tIns="0" rIns="0" bIns="0" rtlCol="0" anchor="ctr"/>
          <a:lstStyle/>
          <a:p>
            <a:pPr indent="0" marL="0">
              <a:buNone/>
            </a:pPr>
            <a:r>
              <a:rPr lang="en-US" sz="1250" b="1" spc="150" kern="0" dirty="0">
                <a:solidFill>
                  <a:srgbClr val="12796B"/>
                </a:solidFill>
                <a:latin typeface="Arial" pitchFamily="34" charset="0"/>
                <a:ea typeface="Arial" pitchFamily="34" charset="-122"/>
                <a:cs typeface="Arial" pitchFamily="34" charset="-120"/>
              </a:rPr>
              <a:t>TECHNICAL — THE SHORT-TERM CHART</a:t>
            </a:r>
            <a:endParaRPr lang="en-US" sz="1250" dirty="0"/>
          </a:p>
        </p:txBody>
      </p:sp>
      <p:sp>
        <p:nvSpPr>
          <p:cNvPr id="8" name="Text 6"/>
          <p:cNvSpPr/>
          <p:nvPr/>
        </p:nvSpPr>
        <p:spPr>
          <a:xfrm>
            <a:off x="594360" y="3575304"/>
            <a:ext cx="5074920" cy="914400"/>
          </a:xfrm>
          <a:prstGeom prst="rect">
            <a:avLst/>
          </a:prstGeom>
          <a:noFill/>
          <a:ln/>
        </p:spPr>
        <p:txBody>
          <a:bodyPr wrap="square" lIns="0" tIns="0" rIns="0" bIns="0" rtlCol="0" anchor="t"/>
          <a:lstStyle/>
          <a:p>
            <a:pPr indent="0" marL="0">
              <a:buNone/>
            </a:pPr>
            <a:r>
              <a:rPr lang="en-US" sz="1250" dirty="0">
                <a:solidFill>
                  <a:srgbClr val="0E2726"/>
                </a:solidFill>
                <a:latin typeface="Arial" pitchFamily="34" charset="0"/>
                <a:ea typeface="Arial" pitchFamily="34" charset="-122"/>
                <a:cs typeface="Arial" pitchFamily="34" charset="-120"/>
              </a:rPr>
              <a:t>Support, resistance, trend — the levels traders actually watch, computed from the same cleaned series, refreshed with every update.</a:t>
            </a:r>
            <a:endParaRPr lang="en-US" sz="1250" dirty="0"/>
          </a:p>
        </p:txBody>
      </p:sp>
      <p:sp>
        <p:nvSpPr>
          <p:cNvPr id="9" name="Text 7"/>
          <p:cNvSpPr/>
          <p:nvPr/>
        </p:nvSpPr>
        <p:spPr>
          <a:xfrm>
            <a:off x="594360" y="4553712"/>
            <a:ext cx="5120640" cy="274320"/>
          </a:xfrm>
          <a:prstGeom prst="rect">
            <a:avLst/>
          </a:prstGeom>
          <a:noFill/>
          <a:ln/>
        </p:spPr>
        <p:txBody>
          <a:bodyPr wrap="square" lIns="0" tIns="0" rIns="0" bIns="0" rtlCol="0" anchor="ctr"/>
          <a:lstStyle/>
          <a:p>
            <a:pPr indent="0" marL="0">
              <a:buNone/>
            </a:pPr>
            <a:r>
              <a:rPr lang="en-US" sz="1250" b="1" spc="150" kern="0" dirty="0">
                <a:solidFill>
                  <a:srgbClr val="12796B"/>
                </a:solidFill>
                <a:latin typeface="Arial" pitchFamily="34" charset="0"/>
                <a:ea typeface="Arial" pitchFamily="34" charset="-122"/>
                <a:cs typeface="Arial" pitchFamily="34" charset="-120"/>
              </a:rPr>
              <a:t>SIMULATION — ABOVE ALL, THE ODDS</a:t>
            </a:r>
            <a:endParaRPr lang="en-US" sz="1250" dirty="0"/>
          </a:p>
        </p:txBody>
      </p:sp>
      <p:sp>
        <p:nvSpPr>
          <p:cNvPr id="10" name="Text 8"/>
          <p:cNvSpPr/>
          <p:nvPr/>
        </p:nvSpPr>
        <p:spPr>
          <a:xfrm>
            <a:off x="594360" y="4873752"/>
            <a:ext cx="5074920" cy="914400"/>
          </a:xfrm>
          <a:prstGeom prst="rect">
            <a:avLst/>
          </a:prstGeom>
          <a:noFill/>
          <a:ln/>
        </p:spPr>
        <p:txBody>
          <a:bodyPr wrap="square" lIns="0" tIns="0" rIns="0" bIns="0" rtlCol="0" anchor="t"/>
          <a:lstStyle/>
          <a:p>
            <a:pPr indent="0" marL="0">
              <a:buNone/>
            </a:pPr>
            <a:r>
              <a:rPr lang="en-US" sz="1250" dirty="0">
                <a:solidFill>
                  <a:srgbClr val="0E2726"/>
                </a:solidFill>
                <a:latin typeface="Arial" pitchFamily="34" charset="0"/>
                <a:ea typeface="Arial" pitchFamily="34" charset="-122"/>
                <a:cs typeface="Arial" pitchFamily="34" charset="-120"/>
              </a:rPr>
              <a:t>50,000 Monte-Carlo paths per name, calibrated on up to 15 years of that stock’s own market — a probability on every price bracket.</a:t>
            </a:r>
            <a:endParaRPr lang="en-US" sz="1250" dirty="0"/>
          </a:p>
        </p:txBody>
      </p:sp>
      <p:pic>
        <p:nvPicPr>
          <p:cNvPr id="11" name="Image 0" descr="asset_cone_light.png">    </p:cNvPr>
          <p:cNvPicPr>
            <a:picLocks noChangeAspect="1"/>
          </p:cNvPicPr>
          <p:nvPr/>
        </p:nvPicPr>
        <p:blipFill>
          <a:blip r:embed="rId1"/>
          <a:stretch>
            <a:fillRect/>
          </a:stretch>
        </p:blipFill>
        <p:spPr>
          <a:xfrm>
            <a:off x="5989320" y="1810512"/>
            <a:ext cx="5623560" cy="2743200"/>
          </a:xfrm>
          <a:prstGeom prst="rect">
            <a:avLst/>
          </a:prstGeom>
        </p:spPr>
      </p:pic>
      <p:sp>
        <p:nvSpPr>
          <p:cNvPr id="12" name="Shape 9"/>
          <p:cNvSpPr/>
          <p:nvPr/>
        </p:nvSpPr>
        <p:spPr>
          <a:xfrm>
            <a:off x="5989320" y="4626864"/>
            <a:ext cx="5623560" cy="1481328"/>
          </a:xfrm>
          <a:prstGeom prst="roundRect">
            <a:avLst>
              <a:gd name="adj" fmla="val 3704"/>
            </a:avLst>
          </a:prstGeom>
          <a:solidFill>
            <a:srgbClr val="FFFFFF"/>
          </a:solidFill>
          <a:ln w="12700">
            <a:solidFill>
              <a:srgbClr val="D9E4E1"/>
            </a:solidFill>
            <a:prstDash val="solid"/>
          </a:ln>
        </p:spPr>
      </p:sp>
      <p:sp>
        <p:nvSpPr>
          <p:cNvPr id="13" name="Text 10"/>
          <p:cNvSpPr/>
          <p:nvPr/>
        </p:nvSpPr>
        <p:spPr>
          <a:xfrm>
            <a:off x="6217920" y="4718304"/>
            <a:ext cx="5212080" cy="237744"/>
          </a:xfrm>
          <a:prstGeom prst="rect">
            <a:avLst/>
          </a:prstGeom>
          <a:noFill/>
          <a:ln/>
        </p:spPr>
        <p:txBody>
          <a:bodyPr wrap="square" lIns="0" tIns="0" rIns="0" bIns="0" rtlCol="0" anchor="ctr"/>
          <a:lstStyle/>
          <a:p>
            <a:pPr indent="0" marL="0">
              <a:buNone/>
            </a:pPr>
            <a:r>
              <a:rPr lang="en-US" sz="950" b="1" spc="150" kern="0" dirty="0">
                <a:solidFill>
                  <a:srgbClr val="12796B"/>
                </a:solidFill>
                <a:latin typeface="Arial" pitchFamily="34" charset="0"/>
                <a:ea typeface="Arial" pitchFamily="34" charset="-122"/>
                <a:cs typeface="Arial" pitchFamily="34" charset="-120"/>
              </a:rPr>
              <a:t>THE LIVE READ — ADNOC LOGISTICS &amp; SERVICES · 3 MONTHS</a:t>
            </a:r>
            <a:endParaRPr lang="en-US" sz="950" dirty="0"/>
          </a:p>
        </p:txBody>
      </p:sp>
      <p:sp>
        <p:nvSpPr>
          <p:cNvPr id="14" name="Text 11"/>
          <p:cNvSpPr/>
          <p:nvPr/>
        </p:nvSpPr>
        <p:spPr>
          <a:xfrm>
            <a:off x="6217920" y="5010912"/>
            <a:ext cx="2651760" cy="237744"/>
          </a:xfrm>
          <a:prstGeom prst="rect">
            <a:avLst/>
          </a:prstGeom>
          <a:noFill/>
          <a:ln/>
        </p:spPr>
        <p:txBody>
          <a:bodyPr wrap="square" lIns="0" tIns="0" rIns="0" bIns="0" rtlCol="0" anchor="t"/>
          <a:lstStyle/>
          <a:p>
            <a:pPr indent="0" marL="0">
              <a:buNone/>
            </a:pPr>
            <a:r>
              <a:rPr lang="en-US" sz="1000" dirty="0">
                <a:solidFill>
                  <a:srgbClr val="5C6B70"/>
                </a:solidFill>
                <a:latin typeface="Arial" pitchFamily="34" charset="0"/>
                <a:ea typeface="Arial" pitchFamily="34" charset="-122"/>
                <a:cs typeface="Arial" pitchFamily="34" charset="-120"/>
              </a:rPr>
              <a:t>Latest price</a:t>
            </a:r>
            <a:endParaRPr lang="en-US" sz="1000" dirty="0"/>
          </a:p>
        </p:txBody>
      </p:sp>
      <p:sp>
        <p:nvSpPr>
          <p:cNvPr id="15" name="Text 12"/>
          <p:cNvSpPr/>
          <p:nvPr/>
        </p:nvSpPr>
        <p:spPr>
          <a:xfrm>
            <a:off x="8686800" y="5010912"/>
            <a:ext cx="2807208" cy="237744"/>
          </a:xfrm>
          <a:prstGeom prst="rect">
            <a:avLst/>
          </a:prstGeom>
          <a:noFill/>
          <a:ln/>
        </p:spPr>
        <p:txBody>
          <a:bodyPr wrap="square" lIns="0" tIns="0" rIns="0" bIns="0" rtlCol="0" anchor="t"/>
          <a:lstStyle/>
          <a:p>
            <a:pPr algn="r" indent="0" marL="0">
              <a:buNone/>
            </a:pPr>
            <a:r>
              <a:rPr lang="en-US" sz="1000" b="1" dirty="0">
                <a:solidFill>
                  <a:srgbClr val="0E2726"/>
                </a:solidFill>
                <a:latin typeface="Courier New" pitchFamily="34" charset="0"/>
                <a:ea typeface="Courier New" pitchFamily="34" charset="-122"/>
                <a:cs typeface="Courier New" pitchFamily="34" charset="-120"/>
              </a:rPr>
              <a:t>AED 6.16 · close 7 Aug 2026</a:t>
            </a:r>
            <a:endParaRPr lang="en-US" sz="1000" dirty="0"/>
          </a:p>
        </p:txBody>
      </p:sp>
      <p:sp>
        <p:nvSpPr>
          <p:cNvPr id="16" name="Text 13"/>
          <p:cNvSpPr/>
          <p:nvPr/>
        </p:nvSpPr>
        <p:spPr>
          <a:xfrm>
            <a:off x="6217920" y="5257800"/>
            <a:ext cx="2651760" cy="237744"/>
          </a:xfrm>
          <a:prstGeom prst="rect">
            <a:avLst/>
          </a:prstGeom>
          <a:noFill/>
          <a:ln/>
        </p:spPr>
        <p:txBody>
          <a:bodyPr wrap="square" lIns="0" tIns="0" rIns="0" bIns="0" rtlCol="0" anchor="t"/>
          <a:lstStyle/>
          <a:p>
            <a:pPr indent="0" marL="0">
              <a:buNone/>
            </a:pPr>
            <a:r>
              <a:rPr lang="en-US" sz="1000" dirty="0">
                <a:solidFill>
                  <a:srgbClr val="5C6B70"/>
                </a:solidFill>
                <a:latin typeface="Arial" pitchFamily="34" charset="0"/>
                <a:ea typeface="Arial" pitchFamily="34" charset="-122"/>
                <a:cs typeface="Arial" pitchFamily="34" charset="-120"/>
              </a:rPr>
              <a:t>Chance higher than today</a:t>
            </a:r>
            <a:endParaRPr lang="en-US" sz="1000" dirty="0"/>
          </a:p>
        </p:txBody>
      </p:sp>
      <p:sp>
        <p:nvSpPr>
          <p:cNvPr id="17" name="Text 14"/>
          <p:cNvSpPr/>
          <p:nvPr/>
        </p:nvSpPr>
        <p:spPr>
          <a:xfrm>
            <a:off x="8686800" y="5257800"/>
            <a:ext cx="2807208" cy="237744"/>
          </a:xfrm>
          <a:prstGeom prst="rect">
            <a:avLst/>
          </a:prstGeom>
          <a:noFill/>
          <a:ln/>
        </p:spPr>
        <p:txBody>
          <a:bodyPr wrap="square" lIns="0" tIns="0" rIns="0" bIns="0" rtlCol="0" anchor="t"/>
          <a:lstStyle/>
          <a:p>
            <a:pPr algn="r" indent="0" marL="0">
              <a:buNone/>
            </a:pPr>
            <a:r>
              <a:rPr lang="en-US" sz="1000" b="1" dirty="0">
                <a:solidFill>
                  <a:srgbClr val="0E2726"/>
                </a:solidFill>
                <a:latin typeface="Courier New" pitchFamily="34" charset="0"/>
                <a:ea typeface="Courier New" pitchFamily="34" charset="-122"/>
                <a:cs typeface="Courier New" pitchFamily="34" charset="-120"/>
              </a:rPr>
              <a:t>51%</a:t>
            </a:r>
            <a:endParaRPr lang="en-US" sz="1000" dirty="0"/>
          </a:p>
        </p:txBody>
      </p:sp>
      <p:sp>
        <p:nvSpPr>
          <p:cNvPr id="18" name="Text 15"/>
          <p:cNvSpPr/>
          <p:nvPr/>
        </p:nvSpPr>
        <p:spPr>
          <a:xfrm>
            <a:off x="6217920" y="5504688"/>
            <a:ext cx="2651760" cy="237744"/>
          </a:xfrm>
          <a:prstGeom prst="rect">
            <a:avLst/>
          </a:prstGeom>
          <a:noFill/>
          <a:ln/>
        </p:spPr>
        <p:txBody>
          <a:bodyPr wrap="square" lIns="0" tIns="0" rIns="0" bIns="0" rtlCol="0" anchor="t"/>
          <a:lstStyle/>
          <a:p>
            <a:pPr indent="0" marL="0">
              <a:buNone/>
            </a:pPr>
            <a:r>
              <a:rPr lang="en-US" sz="1000" dirty="0">
                <a:solidFill>
                  <a:srgbClr val="5C6B70"/>
                </a:solidFill>
                <a:latin typeface="Arial" pitchFamily="34" charset="0"/>
                <a:ea typeface="Arial" pitchFamily="34" charset="-122"/>
                <a:cs typeface="Arial" pitchFamily="34" charset="-120"/>
              </a:rPr>
              <a:t>+10% or better vs −10% or worse</a:t>
            </a:r>
            <a:endParaRPr lang="en-US" sz="1000" dirty="0"/>
          </a:p>
        </p:txBody>
      </p:sp>
      <p:sp>
        <p:nvSpPr>
          <p:cNvPr id="19" name="Text 16"/>
          <p:cNvSpPr/>
          <p:nvPr/>
        </p:nvSpPr>
        <p:spPr>
          <a:xfrm>
            <a:off x="8686800" y="5504688"/>
            <a:ext cx="2807208" cy="237744"/>
          </a:xfrm>
          <a:prstGeom prst="rect">
            <a:avLst/>
          </a:prstGeom>
          <a:noFill/>
          <a:ln/>
        </p:spPr>
        <p:txBody>
          <a:bodyPr wrap="square" lIns="0" tIns="0" rIns="0" bIns="0" rtlCol="0" anchor="t"/>
          <a:lstStyle/>
          <a:p>
            <a:pPr algn="r" indent="0" marL="0">
              <a:buNone/>
            </a:pPr>
            <a:r>
              <a:rPr lang="en-US" sz="1000" b="1" dirty="0">
                <a:solidFill>
                  <a:srgbClr val="0E2726"/>
                </a:solidFill>
                <a:latin typeface="Courier New" pitchFamily="34" charset="0"/>
                <a:ea typeface="Courier New" pitchFamily="34" charset="-122"/>
                <a:cs typeface="Courier New" pitchFamily="34" charset="-120"/>
              </a:rPr>
              <a:t>24% vs 22% · ≈ 1.1:1 up</a:t>
            </a:r>
            <a:endParaRPr lang="en-US" sz="1000" dirty="0"/>
          </a:p>
        </p:txBody>
      </p:sp>
      <p:sp>
        <p:nvSpPr>
          <p:cNvPr id="20" name="Text 17"/>
          <p:cNvSpPr/>
          <p:nvPr/>
        </p:nvSpPr>
        <p:spPr>
          <a:xfrm>
            <a:off x="6217920" y="5751576"/>
            <a:ext cx="2651760" cy="237744"/>
          </a:xfrm>
          <a:prstGeom prst="rect">
            <a:avLst/>
          </a:prstGeom>
          <a:noFill/>
          <a:ln/>
        </p:spPr>
        <p:txBody>
          <a:bodyPr wrap="square" lIns="0" tIns="0" rIns="0" bIns="0" rtlCol="0" anchor="t"/>
          <a:lstStyle/>
          <a:p>
            <a:pPr indent="0" marL="0">
              <a:buNone/>
            </a:pPr>
            <a:r>
              <a:rPr lang="en-US" sz="1000" dirty="0">
                <a:solidFill>
                  <a:srgbClr val="5C6B70"/>
                </a:solidFill>
                <a:latin typeface="Arial" pitchFamily="34" charset="0"/>
                <a:ea typeface="Arial" pitchFamily="34" charset="-122"/>
                <a:cs typeface="Arial" pitchFamily="34" charset="-120"/>
              </a:rPr>
              <a:t>Bad case · good case (1-in-20)</a:t>
            </a:r>
            <a:endParaRPr lang="en-US" sz="1000" dirty="0"/>
          </a:p>
        </p:txBody>
      </p:sp>
      <p:sp>
        <p:nvSpPr>
          <p:cNvPr id="21" name="Text 18"/>
          <p:cNvSpPr/>
          <p:nvPr/>
        </p:nvSpPr>
        <p:spPr>
          <a:xfrm>
            <a:off x="8686800" y="5751576"/>
            <a:ext cx="2807208" cy="237744"/>
          </a:xfrm>
          <a:prstGeom prst="rect">
            <a:avLst/>
          </a:prstGeom>
          <a:noFill/>
          <a:ln/>
        </p:spPr>
        <p:txBody>
          <a:bodyPr wrap="square" lIns="0" tIns="0" rIns="0" bIns="0" rtlCol="0" anchor="t"/>
          <a:lstStyle/>
          <a:p>
            <a:pPr algn="r" indent="0" marL="0">
              <a:buNone/>
            </a:pPr>
            <a:r>
              <a:rPr lang="en-US" sz="1000" b="1" dirty="0">
                <a:solidFill>
                  <a:srgbClr val="0E2726"/>
                </a:solidFill>
                <a:latin typeface="Courier New" pitchFamily="34" charset="0"/>
                <a:ea typeface="Courier New" pitchFamily="34" charset="-122"/>
                <a:cs typeface="Courier New" pitchFamily="34" charset="-120"/>
              </a:rPr>
              <a:t>4.95 · 7.73 (−20% / +25%)</a:t>
            </a:r>
            <a:endParaRPr lang="en-US" sz="1000" dirty="0"/>
          </a:p>
        </p:txBody>
      </p:sp>
      <p:sp>
        <p:nvSpPr>
          <p:cNvPr id="22" name="Text 19"/>
          <p:cNvSpPr/>
          <p:nvPr/>
        </p:nvSpPr>
        <p:spPr>
          <a:xfrm>
            <a:off x="594360" y="6108192"/>
            <a:ext cx="10607040" cy="384048"/>
          </a:xfrm>
          <a:prstGeom prst="rect">
            <a:avLst/>
          </a:prstGeom>
          <a:noFill/>
          <a:ln/>
        </p:spPr>
        <p:txBody>
          <a:bodyPr wrap="square" lIns="0" tIns="0" rIns="0" bIns="0" rtlCol="0" anchor="ctr"/>
          <a:lstStyle/>
          <a:p>
            <a:pPr indent="0" marL="0">
              <a:buNone/>
            </a:pPr>
            <a:r>
              <a:rPr lang="en-US" sz="1600" i="1" dirty="0">
                <a:solidFill>
                  <a:srgbClr val="0E2726"/>
                </a:solidFill>
                <a:latin typeface="Arial" pitchFamily="34" charset="0"/>
                <a:ea typeface="Arial" pitchFamily="34" charset="-122"/>
                <a:cs typeface="Arial" pitchFamily="34" charset="-120"/>
              </a:rPr>
              <a:t>It never says buy. It says 24% vs 22% — how likely, and by when.</a:t>
            </a:r>
            <a:endParaRPr lang="en-US" sz="1600" dirty="0"/>
          </a:p>
        </p:txBody>
      </p:sp>
      <p:sp>
        <p:nvSpPr>
          <p:cNvPr id="23" name="Text 20"/>
          <p:cNvSpPr/>
          <p:nvPr/>
        </p:nvSpPr>
        <p:spPr>
          <a:xfrm>
            <a:off x="594360" y="6510528"/>
            <a:ext cx="6949440" cy="274320"/>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Live read as computed by testahil.com on the 7-Aug close (simulation run 10 Aug 2026) — the same numbers the public sees.</a:t>
            </a:r>
            <a:endParaRPr lang="en-US" sz="850" dirty="0"/>
          </a:p>
        </p:txBody>
      </p:sp>
      <p:sp>
        <p:nvSpPr>
          <p:cNvPr id="24" name="Text 21"/>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04 · NEW THIS MONTH</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Ticker Picker: can it get there in time?</a:t>
            </a:r>
            <a:endParaRPr lang="en-US" sz="3400" dirty="0"/>
          </a:p>
        </p:txBody>
      </p:sp>
      <p:sp>
        <p:nvSpPr>
          <p:cNvPr id="4" name="Text 2"/>
          <p:cNvSpPr/>
          <p:nvPr/>
        </p:nvSpPr>
        <p:spPr>
          <a:xfrm>
            <a:off x="594360" y="1517904"/>
            <a:ext cx="5989320" cy="1600200"/>
          </a:xfrm>
          <a:prstGeom prst="rect">
            <a:avLst/>
          </a:prstGeom>
          <a:noFill/>
          <a:ln/>
        </p:spPr>
        <p:txBody>
          <a:bodyPr wrap="square" lIns="0" tIns="0" rIns="0" bIns="0" rtlCol="0" anchor="t"/>
          <a:lstStyle/>
          <a:p>
            <a:pPr indent="0" marL="0">
              <a:lnSpc>
                <a:spcPct val="112000"/>
              </a:lnSpc>
              <a:buNone/>
            </a:pPr>
            <a:r>
              <a:rPr lang="en-US" sz="1350" dirty="0">
                <a:solidFill>
                  <a:srgbClr val="0E2726"/>
                </a:solidFill>
                <a:latin typeface="Arial" pitchFamily="34" charset="0"/>
                <a:ea typeface="Arial" pitchFamily="34" charset="-122"/>
                <a:cs typeface="Arial" pitchFamily="34" charset="-120"/>
              </a:rPr>
              <a:t>Every covered stock publishes two objects: a fair value from its study, and a simulated price range from its calibrated Monte Carlo. The new </a:t>
            </a:r>
            <a:pPr indent="0" marL="0">
              <a:lnSpc>
                <a:spcPct val="112000"/>
              </a:lnSpc>
              <a:buNone/>
            </a:pPr>
            <a:r>
              <a:rPr lang="en-US" sz="1350" b="1" dirty="0">
                <a:solidFill>
                  <a:srgbClr val="0F5147"/>
                </a:solidFill>
                <a:latin typeface="Arial" pitchFamily="34" charset="0"/>
                <a:ea typeface="Arial" pitchFamily="34" charset="-122"/>
                <a:cs typeface="Arial" pitchFamily="34" charset="-120"/>
              </a:rPr>
              <a:t>Ticker Picker</a:t>
            </a:r>
            <a:pPr indent="0" marL="0">
              <a:lnSpc>
                <a:spcPct val="112000"/>
              </a:lnSpc>
              <a:buNone/>
            </a:pPr>
            <a:r>
              <a:rPr lang="en-US" sz="1350" dirty="0">
                <a:solidFill>
                  <a:srgbClr val="0E2726"/>
                </a:solidFill>
                <a:latin typeface="Arial" pitchFamily="34" charset="0"/>
                <a:ea typeface="Arial" pitchFamily="34" charset="-122"/>
                <a:cs typeface="Arial" pitchFamily="34" charset="-120"/>
              </a:rPr>
              <a:t> reads them together and asks the one question neither answers alone: </a:t>
            </a:r>
            <a:pPr indent="0" marL="0">
              <a:lnSpc>
                <a:spcPct val="112000"/>
              </a:lnSpc>
              <a:buNone/>
            </a:pPr>
            <a:r>
              <a:rPr lang="en-US" sz="1350" b="1" dirty="0">
                <a:solidFill>
                  <a:srgbClr val="0E2726"/>
                </a:solidFill>
                <a:latin typeface="Arial" pitchFamily="34" charset="0"/>
                <a:ea typeface="Arial" pitchFamily="34" charset="-122"/>
                <a:cs typeface="Arial" pitchFamily="34" charset="-120"/>
              </a:rPr>
              <a:t>is the fair value even reachable in the time given, at the speed this stock actually moves?</a:t>
            </a:r>
            <a:endParaRPr lang="en-US" sz="1350" dirty="0"/>
          </a:p>
        </p:txBody>
      </p:sp>
      <p:sp>
        <p:nvSpPr>
          <p:cNvPr id="5" name="Text 3"/>
          <p:cNvSpPr/>
          <p:nvPr/>
        </p:nvSpPr>
        <p:spPr>
          <a:xfrm>
            <a:off x="594360" y="3127248"/>
            <a:ext cx="5989320" cy="548640"/>
          </a:xfrm>
          <a:prstGeom prst="rect">
            <a:avLst/>
          </a:prstGeom>
          <a:noFill/>
          <a:ln/>
        </p:spPr>
        <p:txBody>
          <a:bodyPr wrap="square" lIns="0" tIns="0" rIns="0" bIns="0" rtlCol="0" anchor="t"/>
          <a:lstStyle/>
          <a:p>
            <a:pPr indent="0" marL="0">
              <a:lnSpc>
                <a:spcPct val="110000"/>
              </a:lnSpc>
              <a:buNone/>
            </a:pPr>
            <a:r>
              <a:rPr lang="en-US" sz="1500" b="1" i="1" dirty="0">
                <a:solidFill>
                  <a:srgbClr val="8A7440"/>
                </a:solidFill>
                <a:latin typeface="Arial" pitchFamily="34" charset="0"/>
                <a:ea typeface="Arial" pitchFamily="34" charset="-122"/>
                <a:cs typeface="Arial" pitchFamily="34" charset="-120"/>
              </a:rPr>
              <a:t>At short horizons, the upside ranking and the reachability ranking are nearly opposite.</a:t>
            </a:r>
            <a:endParaRPr lang="en-US" sz="1500" dirty="0"/>
          </a:p>
        </p:txBody>
      </p:sp>
      <p:sp>
        <p:nvSpPr>
          <p:cNvPr id="6" name="Text 4"/>
          <p:cNvSpPr/>
          <p:nvPr/>
        </p:nvSpPr>
        <p:spPr>
          <a:xfrm>
            <a:off x="594360" y="3730752"/>
            <a:ext cx="5989320" cy="1234440"/>
          </a:xfrm>
          <a:prstGeom prst="rect">
            <a:avLst/>
          </a:prstGeom>
          <a:noFill/>
          <a:ln/>
        </p:spPr>
        <p:txBody>
          <a:bodyPr wrap="square" lIns="0" tIns="0" rIns="0" bIns="0" rtlCol="0" anchor="t"/>
          <a:lstStyle/>
          <a:p>
            <a:pPr indent="0" marL="0">
              <a:lnSpc>
                <a:spcPct val="112000"/>
              </a:lnSpc>
              <a:buNone/>
            </a:pPr>
            <a:r>
              <a:rPr lang="en-US" sz="1300" dirty="0">
                <a:solidFill>
                  <a:srgbClr val="0E2726"/>
                </a:solidFill>
                <a:latin typeface="Arial" pitchFamily="34" charset="0"/>
                <a:ea typeface="Arial" pitchFamily="34" charset="-122"/>
                <a:cs typeface="Arial" pitchFamily="34" charset="-120"/>
              </a:rPr>
              <a:t>A stock 70% below fair value cannot close that gap in a month no matter how right the study is; a stock 6% below can. The Picker sorts all 91 by what is closable — and tests every case against its own market’s cash rate (Egypt’s hurdle today: 19.5%).</a:t>
            </a:r>
            <a:endParaRPr lang="en-US" sz="1300" dirty="0"/>
          </a:p>
        </p:txBody>
      </p:sp>
      <p:sp>
        <p:nvSpPr>
          <p:cNvPr id="7" name="Shape 5"/>
          <p:cNvSpPr/>
          <p:nvPr/>
        </p:nvSpPr>
        <p:spPr>
          <a:xfrm>
            <a:off x="594360" y="5138928"/>
            <a:ext cx="5989320" cy="1152144"/>
          </a:xfrm>
          <a:prstGeom prst="roundRect">
            <a:avLst>
              <a:gd name="adj" fmla="val 4762"/>
            </a:avLst>
          </a:prstGeom>
          <a:solidFill>
            <a:srgbClr val="E7F0EE"/>
          </a:solidFill>
          <a:ln w="12700">
            <a:solidFill>
              <a:srgbClr val="D9E4E1"/>
            </a:solidFill>
            <a:prstDash val="solid"/>
          </a:ln>
        </p:spPr>
      </p:sp>
      <p:sp>
        <p:nvSpPr>
          <p:cNvPr id="8" name="Text 6"/>
          <p:cNvSpPr/>
          <p:nvPr/>
        </p:nvSpPr>
        <p:spPr>
          <a:xfrm>
            <a:off x="795528" y="5248656"/>
            <a:ext cx="5623560" cy="960120"/>
          </a:xfrm>
          <a:prstGeom prst="rect">
            <a:avLst/>
          </a:prstGeom>
          <a:noFill/>
          <a:ln/>
        </p:spPr>
        <p:txBody>
          <a:bodyPr wrap="square" lIns="0" tIns="0" rIns="0" bIns="0" rtlCol="0" anchor="t"/>
          <a:lstStyle/>
          <a:p>
            <a:pPr indent="0" marL="0">
              <a:lnSpc>
                <a:spcPct val="110000"/>
              </a:lnSpc>
              <a:buNone/>
            </a:pPr>
            <a:r>
              <a:rPr lang="en-US" sz="1150" b="1" dirty="0">
                <a:solidFill>
                  <a:srgbClr val="0F5147"/>
                </a:solidFill>
                <a:latin typeface="Arial" pitchFamily="34" charset="0"/>
                <a:ea typeface="Arial" pitchFamily="34" charset="-122"/>
                <a:cs typeface="Arial" pitchFamily="34" charset="-120"/>
              </a:rPr>
              <a:t>Honest by construction: </a:t>
            </a:r>
            <a:pPr indent="0" marL="0">
              <a:lnSpc>
                <a:spcPct val="110000"/>
              </a:lnSpc>
              <a:buNone/>
            </a:pPr>
            <a:r>
              <a:rPr lang="en-US" sz="1150" dirty="0">
                <a:solidFill>
                  <a:srgbClr val="0E2726"/>
                </a:solidFill>
                <a:latin typeface="Arial" pitchFamily="34" charset="0"/>
                <a:ea typeface="Arial" pitchFamily="34" charset="-122"/>
                <a:cs typeface="Arial" pitchFamily="34" charset="-120"/>
              </a:rPr>
              <a:t>the odds machinery is graded on the public ledger. Whether fair values predict returns is not yet provable — the page itself says it needs ~783 graded observations and has 5, verdict expected around 2027. In red, before the table.</a:t>
            </a:r>
            <a:endParaRPr lang="en-US" sz="1150" dirty="0"/>
          </a:p>
        </p:txBody>
      </p:sp>
      <p:pic>
        <p:nvPicPr>
          <p:cNvPr id="9" name="Image 0" descr="asset_picker.png">    </p:cNvPr>
          <p:cNvPicPr>
            <a:picLocks noChangeAspect="1"/>
          </p:cNvPicPr>
          <p:nvPr/>
        </p:nvPicPr>
        <p:blipFill>
          <a:blip r:embed="rId1"/>
          <a:stretch>
            <a:fillRect/>
          </a:stretch>
        </p:blipFill>
        <p:spPr>
          <a:xfrm>
            <a:off x="7461504" y="1463040"/>
            <a:ext cx="4133088" cy="4846320"/>
          </a:xfrm>
          <a:prstGeom prst="rect">
            <a:avLst/>
          </a:prstGeom>
        </p:spPr>
      </p:pic>
      <p:sp>
        <p:nvSpPr>
          <p:cNvPr id="10" name="Shape 7"/>
          <p:cNvSpPr/>
          <p:nvPr/>
        </p:nvSpPr>
        <p:spPr>
          <a:xfrm>
            <a:off x="7461504" y="1463040"/>
            <a:ext cx="4133088" cy="4846320"/>
          </a:xfrm>
          <a:prstGeom prst="rect">
            <a:avLst/>
          </a:prstGeom>
          <a:ln w="19050">
            <a:solidFill>
              <a:srgbClr val="D9E4E1"/>
            </a:solidFill>
            <a:prstDash val="solid"/>
          </a:ln>
        </p:spPr>
      </p:sp>
      <p:sp>
        <p:nvSpPr>
          <p:cNvPr id="11" name="Text 8"/>
          <p:cNvSpPr/>
          <p:nvPr/>
        </p:nvSpPr>
        <p:spPr>
          <a:xfrm>
            <a:off x="594360" y="6510528"/>
            <a:ext cx="7863840" cy="274320"/>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The live table — Egypt group, 3-month horizon, sorted by reachability · testahil.com/picker · shipped 10 Aug 2026</a:t>
            </a:r>
            <a:endParaRPr lang="en-US" sz="850" dirty="0"/>
          </a:p>
        </p:txBody>
      </p:sp>
      <p:sp>
        <p:nvSpPr>
          <p:cNvPr id="12" name="Text 9"/>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05 · THE EVIDENCE</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We sat the exam 3,944 times.</a:t>
            </a:r>
            <a:endParaRPr lang="en-US" sz="3400" dirty="0"/>
          </a:p>
        </p:txBody>
      </p:sp>
      <p:sp>
        <p:nvSpPr>
          <p:cNvPr id="4" name="Text 2"/>
          <p:cNvSpPr/>
          <p:nvPr/>
        </p:nvSpPr>
        <p:spPr>
          <a:xfrm>
            <a:off x="594360" y="1371600"/>
            <a:ext cx="10607040" cy="384048"/>
          </a:xfrm>
          <a:prstGeom prst="rect">
            <a:avLst/>
          </a:prstGeom>
          <a:noFill/>
          <a:ln/>
        </p:spPr>
        <p:txBody>
          <a:bodyPr wrap="square" lIns="0" tIns="0" rIns="0" bIns="0" rtlCol="0" anchor="t"/>
          <a:lstStyle/>
          <a:p>
            <a:pPr indent="0" marL="0">
              <a:buNone/>
            </a:pPr>
            <a:r>
              <a:rPr lang="en-US" sz="1500" dirty="0">
                <a:solidFill>
                  <a:srgbClr val="5C6B70"/>
                </a:solidFill>
                <a:latin typeface="Arial" pitchFamily="34" charset="0"/>
                <a:ea typeface="Arial" pitchFamily="34" charset="-122"/>
                <a:cs typeface="Arial" pitchFamily="34" charset="-120"/>
              </a:rPr>
              <a:t>Through a revolution, a currency float, a pandemic and three devaluations — graded blind, market by market.</a:t>
            </a:r>
            <a:endParaRPr lang="en-US" sz="1500" dirty="0"/>
          </a:p>
        </p:txBody>
      </p:sp>
      <p:graphicFrame>
        <p:nvGraphicFramePr>
          <p:cNvPr id="5" name="Chart 0" descr=""/>
          <p:cNvGraphicFramePr/>
          <p:nvPr/>
        </p:nvGraphicFramePr>
        <p:xfrm>
          <a:off x="594360" y="192024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94360" y="5833872"/>
            <a:ext cx="6858000" cy="502920"/>
          </a:xfrm>
          <a:prstGeom prst="rect">
            <a:avLst/>
          </a:prstGeom>
          <a:noFill/>
          <a:ln/>
        </p:spPr>
        <p:txBody>
          <a:bodyPr wrap="square" lIns="0" tIns="0" rIns="0" bIns="0" rtlCol="0" anchor="t"/>
          <a:lstStyle/>
          <a:p>
            <a:pPr indent="0" marL="0">
              <a:buNone/>
            </a:pPr>
            <a:r>
              <a:rPr lang="en-US" sz="1000" i="1" dirty="0">
                <a:solidFill>
                  <a:srgbClr val="7A8A86"/>
                </a:solidFill>
                <a:latin typeface="Arial" pitchFamily="34" charset="0"/>
                <a:ea typeface="Arial" pitchFamily="34" charset="-122"/>
                <a:cs typeface="Arial" pitchFamily="34" charset="-120"/>
              </a:rPr>
              <a:t>Axis zoomed to 80–100 so the differences show: every market within five points of target. Gold dashes = the 90% design spec.</a:t>
            </a:r>
            <a:endParaRPr lang="en-US" sz="1000" dirty="0"/>
          </a:p>
        </p:txBody>
      </p:sp>
      <p:sp>
        <p:nvSpPr>
          <p:cNvPr id="7" name="Text 4"/>
          <p:cNvSpPr/>
          <p:nvPr/>
        </p:nvSpPr>
        <p:spPr>
          <a:xfrm>
            <a:off x="7818120" y="1920240"/>
            <a:ext cx="3794760" cy="2286000"/>
          </a:xfrm>
          <a:prstGeom prst="rect">
            <a:avLst/>
          </a:prstGeom>
          <a:noFill/>
          <a:ln/>
        </p:spPr>
        <p:txBody>
          <a:bodyPr wrap="square" lIns="0" tIns="0" rIns="0" bIns="0" rtlCol="0" anchor="t"/>
          <a:lstStyle/>
          <a:p>
            <a:pPr indent="0" marL="0">
              <a:lnSpc>
                <a:spcPct val="108000"/>
              </a:lnSpc>
              <a:buNone/>
            </a:pPr>
            <a:r>
              <a:rPr lang="en-US" sz="4000" b="1" dirty="0">
                <a:solidFill>
                  <a:srgbClr val="12796B"/>
                </a:solidFill>
                <a:latin typeface="Arial" pitchFamily="34" charset="0"/>
                <a:ea typeface="Arial" pitchFamily="34" charset="-122"/>
                <a:cs typeface="Arial" pitchFamily="34" charset="-120"/>
              </a:rPr>
              <a:t>90.6%</a:t>
            </a:r>
            <a:endParaRPr lang="en-US" sz="4000" dirty="0"/>
          </a:p>
          <a:p>
            <a:pPr indent="0" marL="0">
              <a:lnSpc>
                <a:spcPct val="108000"/>
              </a:lnSpc>
              <a:buNone/>
            </a:pPr>
            <a:r>
              <a:rPr lang="en-US" sz="1250" dirty="0">
                <a:solidFill>
                  <a:srgbClr val="0E2726"/>
                </a:solidFill>
                <a:latin typeface="Arial" pitchFamily="34" charset="0"/>
                <a:ea typeface="Arial" pitchFamily="34" charset="-122"/>
                <a:cs typeface="Arial" pitchFamily="34" charset="-120"/>
              </a:rPr>
              <a:t>of 3,944 walk-forward windows landed inside the stated 90% band. The design target, not a discovery — and the markets above the gold line are flagged too wide, not celebrated.</a:t>
            </a:r>
            <a:endParaRPr lang="en-US" sz="4000" dirty="0"/>
          </a:p>
        </p:txBody>
      </p:sp>
      <p:pic>
        <p:nvPicPr>
          <p:cNvPr id="8" name="Image 0" descr="crop_1213_banner.png">    </p:cNvPr>
          <p:cNvPicPr>
            <a:picLocks noChangeAspect="1"/>
          </p:cNvPicPr>
          <p:nvPr/>
        </p:nvPicPr>
        <p:blipFill>
          <a:blip r:embed="rId2"/>
          <a:stretch>
            <a:fillRect/>
          </a:stretch>
        </p:blipFill>
        <p:spPr>
          <a:xfrm>
            <a:off x="7818120" y="4434840"/>
            <a:ext cx="3794760" cy="448056"/>
          </a:xfrm>
          <a:prstGeom prst="rect">
            <a:avLst/>
          </a:prstGeom>
        </p:spPr>
      </p:pic>
      <p:sp>
        <p:nvSpPr>
          <p:cNvPr id="9" name="Text 5"/>
          <p:cNvSpPr/>
          <p:nvPr/>
        </p:nvSpPr>
        <p:spPr>
          <a:xfrm>
            <a:off x="7818120" y="4956048"/>
            <a:ext cx="3794760" cy="320040"/>
          </a:xfrm>
          <a:prstGeom prst="rect">
            <a:avLst/>
          </a:prstGeom>
          <a:noFill/>
          <a:ln/>
        </p:spPr>
        <p:txBody>
          <a:bodyPr wrap="square" lIns="0" tIns="0" rIns="0" bIns="0" rtlCol="0" anchor="t"/>
          <a:lstStyle/>
          <a:p>
            <a:pPr indent="0" marL="0">
              <a:buNone/>
            </a:pPr>
            <a:r>
              <a:rPr lang="en-US" sz="1000" i="1" dirty="0">
                <a:solidFill>
                  <a:srgbClr val="7A8A86"/>
                </a:solidFill>
                <a:latin typeface="Arial" pitchFamily="34" charset="0"/>
                <a:ea typeface="Arial" pitchFamily="34" charset="-122"/>
                <a:cs typeface="Arial" pitchFamily="34" charset="-120"/>
              </a:rPr>
              <a:t>The live ledger so far. The one miss is the next slide.</a:t>
            </a:r>
            <a:endParaRPr lang="en-US" sz="1000" dirty="0"/>
          </a:p>
        </p:txBody>
      </p:sp>
      <p:sp>
        <p:nvSpPr>
          <p:cNvPr id="10" name="Text 6"/>
          <p:cNvSpPr/>
          <p:nvPr/>
        </p:nvSpPr>
        <p:spPr>
          <a:xfrm>
            <a:off x="594360" y="6510528"/>
            <a:ext cx="7498080" cy="274320"/>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Backtest panels as maintained by the unattended pipeline (engine/panels), read live 18 Aug 2026 · per-market table and verdicts: appendix.</a:t>
            </a:r>
            <a:endParaRPr lang="en-US" sz="850" dirty="0"/>
          </a:p>
        </p:txBody>
      </p:sp>
      <p:sp>
        <p:nvSpPr>
          <p:cNvPr id="11" name="Text 7"/>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726"/>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C0A45F"/>
                </a:solidFill>
                <a:latin typeface="Arial" pitchFamily="34" charset="0"/>
                <a:ea typeface="Arial" pitchFamily="34" charset="-122"/>
                <a:cs typeface="Arial" pitchFamily="34" charset="-120"/>
              </a:rPr>
              <a:t>06 · THE MISS</a:t>
            </a:r>
            <a:endParaRPr lang="en-US" sz="1100" dirty="0"/>
          </a:p>
        </p:txBody>
      </p:sp>
      <p:sp>
        <p:nvSpPr>
          <p:cNvPr id="3" name="Text 1"/>
          <p:cNvSpPr/>
          <p:nvPr/>
        </p:nvSpPr>
        <p:spPr>
          <a:xfrm>
            <a:off x="594360" y="713232"/>
            <a:ext cx="10972800" cy="1051560"/>
          </a:xfrm>
          <a:prstGeom prst="rect">
            <a:avLst/>
          </a:prstGeom>
          <a:noFill/>
          <a:ln/>
        </p:spPr>
        <p:txBody>
          <a:bodyPr wrap="square" lIns="0" tIns="0" rIns="0" bIns="0" rtlCol="0" anchor="b"/>
          <a:lstStyle/>
          <a:p>
            <a:pPr indent="0" marL="0">
              <a:buNone/>
            </a:pPr>
            <a:r>
              <a:rPr lang="en-US" sz="6600" b="1" dirty="0">
                <a:solidFill>
                  <a:srgbClr val="C0A45F"/>
                </a:solidFill>
                <a:latin typeface="Arial" pitchFamily="34" charset="0"/>
                <a:ea typeface="Arial" pitchFamily="34" charset="-122"/>
                <a:cs typeface="Arial" pitchFamily="34" charset="-120"/>
              </a:rPr>
              <a:t>1 in 10 </a:t>
            </a:r>
            <a:pPr indent="0" marL="0">
              <a:buNone/>
            </a:pPr>
            <a:r>
              <a:rPr lang="en-US" sz="2800" b="1" dirty="0">
                <a:solidFill>
                  <a:srgbClr val="FFFFFF"/>
                </a:solidFill>
                <a:latin typeface="Arial" pitchFamily="34" charset="0"/>
                <a:ea typeface="Arial" pitchFamily="34" charset="-122"/>
                <a:cs typeface="Arial" pitchFamily="34" charset="-120"/>
              </a:rPr>
              <a:t>misses. Here is ours.</a:t>
            </a:r>
            <a:endParaRPr lang="en-US" sz="6600" dirty="0"/>
          </a:p>
        </p:txBody>
      </p:sp>
      <p:sp>
        <p:nvSpPr>
          <p:cNvPr id="4" name="Text 2"/>
          <p:cNvSpPr/>
          <p:nvPr/>
        </p:nvSpPr>
        <p:spPr>
          <a:xfrm>
            <a:off x="594360" y="1901952"/>
            <a:ext cx="10881360" cy="685800"/>
          </a:xfrm>
          <a:prstGeom prst="rect">
            <a:avLst/>
          </a:prstGeom>
          <a:noFill/>
          <a:ln/>
        </p:spPr>
        <p:txBody>
          <a:bodyPr wrap="square" lIns="0" tIns="0" rIns="0" bIns="0" rtlCol="0" anchor="t"/>
          <a:lstStyle/>
          <a:p>
            <a:pPr indent="0" marL="0">
              <a:buNone/>
            </a:pPr>
            <a:r>
              <a:rPr lang="en-US" sz="1500" dirty="0">
                <a:solidFill>
                  <a:srgbClr val="C9D6D2"/>
                </a:solidFill>
                <a:latin typeface="Arial" pitchFamily="34" charset="0"/>
                <a:ea typeface="Arial" pitchFamily="34" charset="-122"/>
                <a:cs typeface="Arial" pitchFamily="34" charset="-120"/>
              </a:rPr>
              <a:t>A 90% band that never missed would be too wide to be useful. Calibration means the misses arrive on schedule — about one in ten, not never.</a:t>
            </a:r>
            <a:endParaRPr lang="en-US" sz="1500" dirty="0"/>
          </a:p>
        </p:txBody>
      </p:sp>
      <p:pic>
        <p:nvPicPr>
          <p:cNvPr id="5" name="Image 0" descr="asset_cone_miss.png">    </p:cNvPr>
          <p:cNvPicPr>
            <a:picLocks noChangeAspect="1"/>
          </p:cNvPicPr>
          <p:nvPr/>
        </p:nvPicPr>
        <p:blipFill>
          <a:blip r:embed="rId1"/>
          <a:stretch>
            <a:fillRect/>
          </a:stretch>
        </p:blipFill>
        <p:spPr>
          <a:xfrm>
            <a:off x="594360" y="2761488"/>
            <a:ext cx="6766560" cy="3246120"/>
          </a:xfrm>
          <a:prstGeom prst="rect">
            <a:avLst/>
          </a:prstGeom>
        </p:spPr>
      </p:pic>
      <p:sp>
        <p:nvSpPr>
          <p:cNvPr id="6" name="Text 3"/>
          <p:cNvSpPr/>
          <p:nvPr/>
        </p:nvSpPr>
        <p:spPr>
          <a:xfrm>
            <a:off x="7726680" y="2852928"/>
            <a:ext cx="3840480" cy="274320"/>
          </a:xfrm>
          <a:prstGeom prst="rect">
            <a:avLst/>
          </a:prstGeom>
          <a:noFill/>
          <a:ln/>
        </p:spPr>
        <p:txBody>
          <a:bodyPr wrap="square" lIns="0" tIns="0" rIns="0" bIns="0" rtlCol="0" anchor="ctr"/>
          <a:lstStyle/>
          <a:p>
            <a:pPr indent="0" marL="0">
              <a:buNone/>
            </a:pPr>
            <a:r>
              <a:rPr lang="en-US" sz="1150" b="1" spc="200" kern="0" dirty="0">
                <a:solidFill>
                  <a:srgbClr val="C0A45F"/>
                </a:solidFill>
                <a:latin typeface="Arial" pitchFamily="34" charset="0"/>
                <a:ea typeface="Arial" pitchFamily="34" charset="-122"/>
                <a:cs typeface="Arial" pitchFamily="34" charset="-120"/>
              </a:rPr>
              <a:t>THE ONE LIVE MISS SO FAR</a:t>
            </a:r>
            <a:endParaRPr lang="en-US" sz="1150" dirty="0"/>
          </a:p>
        </p:txBody>
      </p:sp>
      <p:sp>
        <p:nvSpPr>
          <p:cNvPr id="7" name="Text 4"/>
          <p:cNvSpPr/>
          <p:nvPr/>
        </p:nvSpPr>
        <p:spPr>
          <a:xfrm>
            <a:off x="7726680" y="3200400"/>
            <a:ext cx="3886200" cy="2103120"/>
          </a:xfrm>
          <a:prstGeom prst="rect">
            <a:avLst/>
          </a:prstGeom>
          <a:noFill/>
          <a:ln/>
        </p:spPr>
        <p:txBody>
          <a:bodyPr wrap="square" lIns="0" tIns="0" rIns="0" bIns="0" rtlCol="0" anchor="t"/>
          <a:lstStyle/>
          <a:p>
            <a:pPr indent="0" marL="0">
              <a:spcAft>
                <a:spcPts val="600"/>
              </a:spcAft>
              <a:buNone/>
            </a:pPr>
            <a:r>
              <a:rPr lang="en-US" sz="1250" b="1" dirty="0">
                <a:solidFill>
                  <a:srgbClr val="FFFFFF"/>
                </a:solidFill>
                <a:latin typeface="Arial" pitchFamily="34" charset="0"/>
                <a:ea typeface="Arial" pitchFamily="34" charset="-122"/>
                <a:cs typeface="Arial" pitchFamily="34" charset="-120"/>
              </a:rPr>
              <a:t>Samsung Electronics — 1-month cone</a:t>
            </a:r>
            <a:endParaRPr lang="en-US" sz="1250" dirty="0"/>
          </a:p>
          <a:p>
            <a:pPr indent="0" marL="0">
              <a:spcAft>
                <a:spcPts val="600"/>
              </a:spcAft>
              <a:buNone/>
            </a:pPr>
            <a:r>
              <a:rPr lang="en-US" sz="1250" dirty="0">
                <a:solidFill>
                  <a:srgbClr val="C9D6D2"/>
                </a:solidFill>
                <a:latin typeface="Arial" pitchFamily="34" charset="0"/>
                <a:ea typeface="Arial" pitchFamily="34" charset="-122"/>
                <a:cs typeface="Arial" pitchFamily="34" charset="-120"/>
              </a:rPr>
              <a:t>Anchored 26 Jun 2026 at ₩339,500</a:t>
            </a:r>
            <a:endParaRPr lang="en-US" sz="1250" dirty="0"/>
          </a:p>
          <a:p>
            <a:pPr indent="0" marL="0">
              <a:spcAft>
                <a:spcPts val="600"/>
              </a:spcAft>
              <a:buNone/>
            </a:pPr>
            <a:r>
              <a:rPr lang="en-US" sz="1250" dirty="0">
                <a:solidFill>
                  <a:srgbClr val="C9D6D2"/>
                </a:solidFill>
                <a:latin typeface="Arial" pitchFamily="34" charset="0"/>
                <a:ea typeface="Arial" pitchFamily="34" charset="-122"/>
                <a:cs typeface="Arial" pitchFamily="34" charset="-120"/>
              </a:rPr>
              <a:t>Published band ₩277,676 – ₩430,413</a:t>
            </a:r>
            <a:endParaRPr lang="en-US" sz="1250" dirty="0"/>
          </a:p>
          <a:p>
            <a:pPr indent="0" marL="0">
              <a:spcAft>
                <a:spcPts val="600"/>
              </a:spcAft>
              <a:buNone/>
            </a:pPr>
            <a:r>
              <a:rPr lang="en-US" sz="1250" b="1" dirty="0">
                <a:solidFill>
                  <a:srgbClr val="C0A45F"/>
                </a:solidFill>
                <a:latin typeface="Arial" pitchFamily="34" charset="0"/>
                <a:ea typeface="Arial" pitchFamily="34" charset="-122"/>
                <a:cs typeface="Arial" pitchFamily="34" charset="-120"/>
              </a:rPr>
              <a:t>Realized ₩254,000 — below the band</a:t>
            </a:r>
            <a:endParaRPr lang="en-US" sz="1250" dirty="0"/>
          </a:p>
          <a:p>
            <a:pPr indent="0" marL="0">
              <a:spcAft>
                <a:spcPts val="600"/>
              </a:spcAft>
              <a:buNone/>
            </a:pPr>
            <a:r>
              <a:rPr lang="en-US" sz="1250" dirty="0">
                <a:solidFill>
                  <a:srgbClr val="C9D6D2"/>
                </a:solidFill>
                <a:latin typeface="Arial" pitchFamily="34" charset="0"/>
                <a:ea typeface="Arial" pitchFamily="34" charset="-122"/>
                <a:cs typeface="Arial" pitchFamily="34" charset="-120"/>
              </a:rPr>
              <a:t>Graded as a miss. Kept on the ledger, unedited.</a:t>
            </a:r>
            <a:endParaRPr lang="en-US" sz="1250" dirty="0"/>
          </a:p>
        </p:txBody>
      </p:sp>
      <p:sp>
        <p:nvSpPr>
          <p:cNvPr id="8" name="Text 5"/>
          <p:cNvSpPr/>
          <p:nvPr/>
        </p:nvSpPr>
        <p:spPr>
          <a:xfrm>
            <a:off x="7726680" y="5394960"/>
            <a:ext cx="3886200" cy="685800"/>
          </a:xfrm>
          <a:prstGeom prst="rect">
            <a:avLst/>
          </a:prstGeom>
          <a:noFill/>
          <a:ln/>
        </p:spPr>
        <p:txBody>
          <a:bodyPr wrap="square" lIns="0" tIns="0" rIns="0" bIns="0" rtlCol="0" anchor="t"/>
          <a:lstStyle/>
          <a:p>
            <a:pPr indent="0" marL="0">
              <a:buNone/>
            </a:pPr>
            <a:r>
              <a:rPr lang="en-US" sz="1150" i="1" dirty="0">
                <a:solidFill>
                  <a:srgbClr val="9FB4AF"/>
                </a:solidFill>
                <a:latin typeface="Arial" pitchFamily="34" charset="0"/>
                <a:ea typeface="Arial" pitchFamily="34" charset="-122"/>
                <a:cs typeface="Arial" pitchFamily="34" charset="-120"/>
              </a:rPr>
              <a:t>12 of 13 matured forecasts inside their band. The miss is named, plotted, and permanent.</a:t>
            </a:r>
            <a:endParaRPr lang="en-US" sz="1150" dirty="0"/>
          </a:p>
        </p:txBody>
      </p:sp>
      <p:sp>
        <p:nvSpPr>
          <p:cNvPr id="9" name="Text 6"/>
          <p:cNvSpPr/>
          <p:nvPr/>
        </p:nvSpPr>
        <p:spPr>
          <a:xfrm>
            <a:off x="594360" y="6144768"/>
            <a:ext cx="10972800" cy="457200"/>
          </a:xfrm>
          <a:prstGeom prst="rect">
            <a:avLst/>
          </a:prstGeom>
          <a:noFill/>
          <a:ln/>
        </p:spPr>
        <p:txBody>
          <a:bodyPr wrap="square" lIns="0" tIns="0" rIns="0" bIns="0" rtlCol="0" anchor="ctr"/>
          <a:lstStyle/>
          <a:p>
            <a:pPr indent="0" marL="0">
              <a:buNone/>
            </a:pPr>
            <a:r>
              <a:rPr lang="en-US" sz="1550" b="1" i="1" dirty="0">
                <a:solidFill>
                  <a:srgbClr val="C0A45F"/>
                </a:solidFill>
                <a:latin typeface="Arial" pitchFamily="34" charset="0"/>
                <a:ea typeface="Arial" pitchFamily="34" charset="-122"/>
                <a:cs typeface="Arial" pitchFamily="34" charset="-120"/>
              </a:rPr>
              <a:t>No competitor can show you this slide. </a:t>
            </a:r>
            <a:pPr indent="0" marL="0">
              <a:buNone/>
            </a:pPr>
            <a:r>
              <a:rPr lang="en-US" sz="1550" i="1" dirty="0">
                <a:solidFill>
                  <a:srgbClr val="FFFFFF"/>
                </a:solidFill>
                <a:latin typeface="Arial" pitchFamily="34" charset="0"/>
                <a:ea typeface="Arial" pitchFamily="34" charset="-122"/>
                <a:cs typeface="Arial" pitchFamily="34" charset="-120"/>
              </a:rPr>
              <a:t>A public miss record cannot be backdated — only started. Ours started in June.</a:t>
            </a:r>
            <a:endParaRPr lang="en-US" sz="1550" dirty="0"/>
          </a:p>
        </p:txBody>
      </p:sp>
      <p:sp>
        <p:nvSpPr>
          <p:cNvPr id="10" name="Text 7"/>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9FB4AF"/>
                </a:solidFill>
                <a:latin typeface="Arial" pitchFamily="34" charset="0"/>
                <a:ea typeface="Arial" pitchFamily="34" charset="-122"/>
                <a:cs typeface="Arial" pitchFamily="34" charset="-120"/>
              </a:rPr>
              <a:t>Testahil — distributions, not tips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07 · THE TRAJECTORY</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This deck aged in fifteen days.</a:t>
            </a:r>
            <a:endParaRPr lang="en-US" sz="3400" dirty="0"/>
          </a:p>
        </p:txBody>
      </p:sp>
      <p:graphicFrame>
        <p:nvGraphicFramePr>
          <p:cNvPr id="4" name="Chart 0" descr=""/>
          <p:cNvGraphicFramePr/>
          <p:nvPr/>
        </p:nvGraphicFramePr>
        <p:xfrm>
          <a:off x="594360" y="1691640"/>
          <a:ext cx="576072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720840" y="1645920"/>
            <a:ext cx="1325880" cy="685800"/>
          </a:xfrm>
          <a:prstGeom prst="rect">
            <a:avLst/>
          </a:prstGeom>
          <a:noFill/>
          <a:ln/>
        </p:spPr>
        <p:txBody>
          <a:bodyPr wrap="square" lIns="0" tIns="0" rIns="0" bIns="0" rtlCol="0" anchor="ctr"/>
          <a:lstStyle/>
          <a:p>
            <a:pPr indent="0" marL="0">
              <a:buNone/>
            </a:pPr>
            <a:r>
              <a:rPr lang="en-US" sz="3400" b="1" dirty="0">
                <a:solidFill>
                  <a:srgbClr val="12796B"/>
                </a:solidFill>
                <a:latin typeface="Arial" pitchFamily="34" charset="0"/>
                <a:ea typeface="Arial" pitchFamily="34" charset="-122"/>
                <a:cs typeface="Arial" pitchFamily="34" charset="-120"/>
              </a:rPr>
              <a:t>+17</a:t>
            </a:r>
            <a:endParaRPr lang="en-US" sz="3400" dirty="0"/>
          </a:p>
        </p:txBody>
      </p:sp>
      <p:sp>
        <p:nvSpPr>
          <p:cNvPr id="6" name="Text 3"/>
          <p:cNvSpPr/>
          <p:nvPr/>
        </p:nvSpPr>
        <p:spPr>
          <a:xfrm>
            <a:off x="8138160" y="1645920"/>
            <a:ext cx="3474720" cy="685800"/>
          </a:xfrm>
          <a:prstGeom prst="rect">
            <a:avLst/>
          </a:prstGeom>
          <a:noFill/>
          <a:ln/>
        </p:spPr>
        <p:txBody>
          <a:bodyPr wrap="square" lIns="0" tIns="0" rIns="0" bIns="0" rtlCol="0" anchor="ctr"/>
          <a:lstStyle/>
          <a:p>
            <a:pPr indent="0" marL="0">
              <a:buNone/>
            </a:pPr>
            <a:r>
              <a:rPr lang="en-US" sz="1200" dirty="0">
                <a:solidFill>
                  <a:srgbClr val="0E2726"/>
                </a:solidFill>
                <a:latin typeface="Arial" pitchFamily="34" charset="0"/>
                <a:ea typeface="Arial" pitchFamily="34" charset="-122"/>
                <a:cs typeface="Arial" pitchFamily="34" charset="-120"/>
              </a:rPr>
              <a:t>instruments — the whole ADNOC family, du, Borouge, Empower, Air Arabia and more</a:t>
            </a:r>
            <a:endParaRPr lang="en-US" sz="1200" dirty="0"/>
          </a:p>
        </p:txBody>
      </p:sp>
      <p:sp>
        <p:nvSpPr>
          <p:cNvPr id="7" name="Text 4"/>
          <p:cNvSpPr/>
          <p:nvPr/>
        </p:nvSpPr>
        <p:spPr>
          <a:xfrm>
            <a:off x="6720840" y="2670048"/>
            <a:ext cx="1325880" cy="685800"/>
          </a:xfrm>
          <a:prstGeom prst="rect">
            <a:avLst/>
          </a:prstGeom>
          <a:noFill/>
          <a:ln/>
        </p:spPr>
        <p:txBody>
          <a:bodyPr wrap="square" lIns="0" tIns="0" rIns="0" bIns="0" rtlCol="0" anchor="ctr"/>
          <a:lstStyle/>
          <a:p>
            <a:pPr indent="0" marL="0">
              <a:buNone/>
            </a:pPr>
            <a:r>
              <a:rPr lang="en-US" sz="3400" b="1" dirty="0">
                <a:solidFill>
                  <a:srgbClr val="12796B"/>
                </a:solidFill>
                <a:latin typeface="Arial" pitchFamily="34" charset="0"/>
                <a:ea typeface="Arial" pitchFamily="34" charset="-122"/>
                <a:cs typeface="Arial" pitchFamily="34" charset="-120"/>
              </a:rPr>
              <a:t>+38</a:t>
            </a:r>
            <a:endParaRPr lang="en-US" sz="3400" dirty="0"/>
          </a:p>
        </p:txBody>
      </p:sp>
      <p:sp>
        <p:nvSpPr>
          <p:cNvPr id="8" name="Text 5"/>
          <p:cNvSpPr/>
          <p:nvPr/>
        </p:nvSpPr>
        <p:spPr>
          <a:xfrm>
            <a:off x="8138160" y="2670048"/>
            <a:ext cx="3474720" cy="685800"/>
          </a:xfrm>
          <a:prstGeom prst="rect">
            <a:avLst/>
          </a:prstGeom>
          <a:noFill/>
          <a:ln/>
        </p:spPr>
        <p:txBody>
          <a:bodyPr wrap="square" lIns="0" tIns="0" rIns="0" bIns="0" rtlCol="0" anchor="ctr"/>
          <a:lstStyle/>
          <a:p>
            <a:pPr indent="0" marL="0">
              <a:buNone/>
            </a:pPr>
            <a:r>
              <a:rPr lang="en-US" sz="1200" dirty="0">
                <a:solidFill>
                  <a:srgbClr val="0E2726"/>
                </a:solidFill>
                <a:latin typeface="Arial" pitchFamily="34" charset="0"/>
                <a:ea typeface="Arial" pitchFamily="34" charset="-122"/>
                <a:cs typeface="Arial" pitchFamily="34" charset="-120"/>
              </a:rPr>
              <a:t>public forecasts struck, dated and on the ledger</a:t>
            </a:r>
            <a:endParaRPr lang="en-US" sz="1200" dirty="0"/>
          </a:p>
        </p:txBody>
      </p:sp>
      <p:sp>
        <p:nvSpPr>
          <p:cNvPr id="9" name="Text 6"/>
          <p:cNvSpPr/>
          <p:nvPr/>
        </p:nvSpPr>
        <p:spPr>
          <a:xfrm>
            <a:off x="6720840" y="3694176"/>
            <a:ext cx="1325880" cy="685800"/>
          </a:xfrm>
          <a:prstGeom prst="rect">
            <a:avLst/>
          </a:prstGeom>
          <a:noFill/>
          <a:ln/>
        </p:spPr>
        <p:txBody>
          <a:bodyPr wrap="square" lIns="0" tIns="0" rIns="0" bIns="0" rtlCol="0" anchor="ctr"/>
          <a:lstStyle/>
          <a:p>
            <a:pPr indent="0" marL="0">
              <a:buNone/>
            </a:pPr>
            <a:r>
              <a:rPr lang="en-US" sz="3400" b="1" dirty="0">
                <a:solidFill>
                  <a:srgbClr val="12796B"/>
                </a:solidFill>
                <a:latin typeface="Arial" pitchFamily="34" charset="0"/>
                <a:ea typeface="Arial" pitchFamily="34" charset="-122"/>
                <a:cs typeface="Arial" pitchFamily="34" charset="-120"/>
              </a:rPr>
              <a:t>12</a:t>
            </a:r>
            <a:endParaRPr lang="en-US" sz="3400" dirty="0"/>
          </a:p>
        </p:txBody>
      </p:sp>
      <p:sp>
        <p:nvSpPr>
          <p:cNvPr id="10" name="Text 7"/>
          <p:cNvSpPr/>
          <p:nvPr/>
        </p:nvSpPr>
        <p:spPr>
          <a:xfrm>
            <a:off x="8138160" y="3694176"/>
            <a:ext cx="3474720" cy="685800"/>
          </a:xfrm>
          <a:prstGeom prst="rect">
            <a:avLst/>
          </a:prstGeom>
          <a:noFill/>
          <a:ln/>
        </p:spPr>
        <p:txBody>
          <a:bodyPr wrap="square" lIns="0" tIns="0" rIns="0" bIns="0" rtlCol="0" anchor="ctr"/>
          <a:lstStyle/>
          <a:p>
            <a:pPr indent="0" marL="0">
              <a:buNone/>
            </a:pPr>
            <a:r>
              <a:rPr lang="en-US" sz="1200" dirty="0">
                <a:solidFill>
                  <a:srgbClr val="0E2726"/>
                </a:solidFill>
                <a:latin typeface="Arial" pitchFamily="34" charset="0"/>
                <a:ea typeface="Arial" pitchFamily="34" charset="-122"/>
                <a:cs typeface="Arial" pitchFamily="34" charset="-120"/>
              </a:rPr>
              <a:t>new full ground-up studies shipped, 9–17 Aug</a:t>
            </a:r>
            <a:endParaRPr lang="en-US" sz="1200" dirty="0"/>
          </a:p>
        </p:txBody>
      </p:sp>
      <p:sp>
        <p:nvSpPr>
          <p:cNvPr id="11" name="Text 8"/>
          <p:cNvSpPr/>
          <p:nvPr/>
        </p:nvSpPr>
        <p:spPr>
          <a:xfrm>
            <a:off x="6720840" y="4718304"/>
            <a:ext cx="1325880" cy="685800"/>
          </a:xfrm>
          <a:prstGeom prst="rect">
            <a:avLst/>
          </a:prstGeom>
          <a:noFill/>
          <a:ln/>
        </p:spPr>
        <p:txBody>
          <a:bodyPr wrap="square" lIns="0" tIns="0" rIns="0" bIns="0" rtlCol="0" anchor="ctr"/>
          <a:lstStyle/>
          <a:p>
            <a:pPr indent="0" marL="0">
              <a:buNone/>
            </a:pPr>
            <a:r>
              <a:rPr lang="en-US" sz="3400" b="1" dirty="0">
                <a:solidFill>
                  <a:srgbClr val="C0A45F"/>
                </a:solidFill>
                <a:latin typeface="Arial" pitchFamily="34" charset="0"/>
                <a:ea typeface="Arial" pitchFamily="34" charset="-122"/>
                <a:cs typeface="Arial" pitchFamily="34" charset="-120"/>
              </a:rPr>
              <a:t>1</a:t>
            </a:r>
            <a:endParaRPr lang="en-US" sz="3400" dirty="0"/>
          </a:p>
        </p:txBody>
      </p:sp>
      <p:sp>
        <p:nvSpPr>
          <p:cNvPr id="12" name="Text 9"/>
          <p:cNvSpPr/>
          <p:nvPr/>
        </p:nvSpPr>
        <p:spPr>
          <a:xfrm>
            <a:off x="8138160" y="4718304"/>
            <a:ext cx="3474720" cy="685800"/>
          </a:xfrm>
          <a:prstGeom prst="rect">
            <a:avLst/>
          </a:prstGeom>
          <a:noFill/>
          <a:ln/>
        </p:spPr>
        <p:txBody>
          <a:bodyPr wrap="square" lIns="0" tIns="0" rIns="0" bIns="0" rtlCol="0" anchor="ctr"/>
          <a:lstStyle/>
          <a:p>
            <a:pPr indent="0" marL="0">
              <a:buNone/>
            </a:pPr>
            <a:r>
              <a:rPr lang="en-US" sz="1200" dirty="0">
                <a:solidFill>
                  <a:srgbClr val="0E2726"/>
                </a:solidFill>
                <a:latin typeface="Arial" pitchFamily="34" charset="0"/>
                <a:ea typeface="Arial" pitchFamily="34" charset="-122"/>
                <a:cs typeface="Arial" pitchFamily="34" charset="-120"/>
              </a:rPr>
              <a:t>new product tab — the Ticker Picker, live 10 Aug</a:t>
            </a:r>
            <a:endParaRPr lang="en-US" sz="1200" dirty="0"/>
          </a:p>
        </p:txBody>
      </p:sp>
      <p:sp>
        <p:nvSpPr>
          <p:cNvPr id="13" name="Text 10"/>
          <p:cNvSpPr/>
          <p:nvPr/>
        </p:nvSpPr>
        <p:spPr>
          <a:xfrm>
            <a:off x="594360" y="5742432"/>
            <a:ext cx="10972800" cy="548640"/>
          </a:xfrm>
          <a:prstGeom prst="rect">
            <a:avLst/>
          </a:prstGeom>
          <a:noFill/>
          <a:ln/>
        </p:spPr>
        <p:txBody>
          <a:bodyPr wrap="square" lIns="0" tIns="0" rIns="0" bIns="0" rtlCol="0" anchor="t"/>
          <a:lstStyle/>
          <a:p>
            <a:pPr indent="0" marL="0">
              <a:buNone/>
            </a:pPr>
            <a:r>
              <a:rPr lang="en-US" sz="1250" b="1" dirty="0">
                <a:solidFill>
                  <a:srgbClr val="0F5147"/>
                </a:solidFill>
                <a:latin typeface="Arial" pitchFamily="34" charset="0"/>
                <a:ea typeface="Arial" pitchFamily="34" charset="-122"/>
                <a:cs typeface="Arial" pitchFamily="34" charset="-120"/>
              </a:rPr>
              <a:t>NEXT: </a:t>
            </a:r>
            <a:pPr indent="0" marL="0">
              <a:buNone/>
            </a:pPr>
            <a:r>
              <a:rPr lang="en-US" sz="1250" dirty="0">
                <a:solidFill>
                  <a:srgbClr val="0E2726"/>
                </a:solidFill>
                <a:latin typeface="Arial" pitchFamily="34" charset="0"/>
                <a:ea typeface="Arial" pitchFamily="34" charset="-122"/>
                <a:cs typeface="Arial" pitchFamily="34" charset="-120"/>
              </a:rPr>
              <a:t>every stock carrying 95% of daily traded value across Middle East and EM exchanges.  </a:t>
            </a:r>
            <a:pPr indent="0" marL="0">
              <a:buNone/>
            </a:pPr>
            <a:r>
              <a:rPr lang="en-US" sz="1250" b="1" dirty="0">
                <a:solidFill>
                  <a:srgbClr val="0F5147"/>
                </a:solidFill>
                <a:latin typeface="Arial" pitchFamily="34" charset="0"/>
                <a:ea typeface="Arial" pitchFamily="34" charset="-122"/>
                <a:cs typeface="Arial" pitchFamily="34" charset="-120"/>
              </a:rPr>
              <a:t>THEN: </a:t>
            </a:r>
            <a:pPr indent="0" marL="0">
              <a:buNone/>
            </a:pPr>
            <a:r>
              <a:rPr lang="en-US" sz="1250" dirty="0">
                <a:solidFill>
                  <a:srgbClr val="0E2726"/>
                </a:solidFill>
                <a:latin typeface="Arial" pitchFamily="34" charset="0"/>
                <a:ea typeface="Arial" pitchFamily="34" charset="-122"/>
                <a:cs typeface="Arial" pitchFamily="34" charset="-120"/>
              </a:rPr>
              <a:t>Arabic delivery across the full list, and portfolio-level tools — strictly inside your licensed perimeter.</a:t>
            </a:r>
            <a:endParaRPr lang="en-US" sz="1250" dirty="0"/>
          </a:p>
        </p:txBody>
      </p:sp>
      <p:sp>
        <p:nvSpPr>
          <p:cNvPr id="14" name="Text 11"/>
          <p:cNvSpPr/>
          <p:nvPr/>
        </p:nvSpPr>
        <p:spPr>
          <a:xfrm>
            <a:off x="594360" y="6272784"/>
            <a:ext cx="10515600" cy="365760"/>
          </a:xfrm>
          <a:prstGeom prst="rect">
            <a:avLst/>
          </a:prstGeom>
          <a:noFill/>
          <a:ln/>
        </p:spPr>
        <p:txBody>
          <a:bodyPr wrap="square" lIns="0" tIns="0" rIns="0" bIns="0" rtlCol="0" anchor="ctr"/>
          <a:lstStyle/>
          <a:p>
            <a:pPr indent="0" marL="0">
              <a:buNone/>
            </a:pPr>
            <a:r>
              <a:rPr lang="en-US" sz="1450" i="1" dirty="0">
                <a:solidFill>
                  <a:srgbClr val="0E2726"/>
                </a:solidFill>
                <a:latin typeface="Arial" pitchFamily="34" charset="0"/>
                <a:ea typeface="Arial" pitchFamily="34" charset="-122"/>
                <a:cs typeface="Arial" pitchFamily="34" charset="-120"/>
              </a:rPr>
              <a:t>By the time we meet, these numbers will be stale again. That is the pitch.</a:t>
            </a:r>
            <a:endParaRPr lang="en-US" sz="1450" dirty="0"/>
          </a:p>
        </p:txBody>
      </p:sp>
      <p:sp>
        <p:nvSpPr>
          <p:cNvPr id="15" name="Text 12"/>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08 · THE BUSINESS</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How this makes money.</a:t>
            </a:r>
            <a:endParaRPr lang="en-US" sz="3400" dirty="0"/>
          </a:p>
        </p:txBody>
      </p:sp>
      <p:pic>
        <p:nvPicPr>
          <p:cNvPr id="4" name="Image 0" descr="asset_business.png">    </p:cNvPr>
          <p:cNvPicPr>
            <a:picLocks noChangeAspect="1"/>
          </p:cNvPicPr>
          <p:nvPr/>
        </p:nvPicPr>
        <p:blipFill>
          <a:blip r:embed="rId1"/>
          <a:stretch>
            <a:fillRect/>
          </a:stretch>
        </p:blipFill>
        <p:spPr>
          <a:xfrm>
            <a:off x="594360" y="1481328"/>
            <a:ext cx="11000232" cy="4032504"/>
          </a:xfrm>
          <a:prstGeom prst="rect">
            <a:avLst/>
          </a:prstGeom>
        </p:spPr>
      </p:pic>
      <p:sp>
        <p:nvSpPr>
          <p:cNvPr id="5" name="Text 2"/>
          <p:cNvSpPr/>
          <p:nvPr/>
        </p:nvSpPr>
        <p:spPr>
          <a:xfrm>
            <a:off x="594360" y="5596128"/>
            <a:ext cx="5257800" cy="502920"/>
          </a:xfrm>
          <a:prstGeom prst="rect">
            <a:avLst/>
          </a:prstGeom>
          <a:noFill/>
          <a:ln/>
        </p:spPr>
        <p:txBody>
          <a:bodyPr wrap="square" lIns="0" tIns="0" rIns="0" bIns="0" rtlCol="0" anchor="t"/>
          <a:lstStyle/>
          <a:p>
            <a:pPr indent="0" marL="0">
              <a:buNone/>
            </a:pPr>
            <a:r>
              <a:rPr lang="en-US" sz="1200" dirty="0">
                <a:solidFill>
                  <a:srgbClr val="5C6B70"/>
                </a:solidFill>
                <a:latin typeface="Arial" pitchFamily="34" charset="0"/>
                <a:ea typeface="Arial" pitchFamily="34" charset="-122"/>
                <a:cs typeface="Arial" pitchFamily="34" charset="-120"/>
              </a:rPr>
              <a:t>Accessible odds create investors — and guided clients stay, trade, and fund the next name.</a:t>
            </a:r>
            <a:endParaRPr lang="en-US" sz="1200" dirty="0"/>
          </a:p>
        </p:txBody>
      </p:sp>
      <p:sp>
        <p:nvSpPr>
          <p:cNvPr id="6" name="Text 3"/>
          <p:cNvSpPr/>
          <p:nvPr/>
        </p:nvSpPr>
        <p:spPr>
          <a:xfrm>
            <a:off x="6263640" y="5596128"/>
            <a:ext cx="5303520" cy="502920"/>
          </a:xfrm>
          <a:prstGeom prst="rect">
            <a:avLst/>
          </a:prstGeom>
          <a:noFill/>
          <a:ln/>
        </p:spPr>
        <p:txBody>
          <a:bodyPr wrap="square" lIns="0" tIns="0" rIns="0" bIns="0" rtlCol="0" anchor="t"/>
          <a:lstStyle/>
          <a:p>
            <a:pPr indent="0" marL="0">
              <a:buNone/>
            </a:pPr>
            <a:r>
              <a:rPr lang="en-US" sz="1200" dirty="0">
                <a:solidFill>
                  <a:srgbClr val="5C6B70"/>
                </a:solidFill>
                <a:latin typeface="Arial" pitchFamily="34" charset="0"/>
                <a:ea typeface="Arial" pitchFamily="34" charset="-122"/>
                <a:cs typeface="Arial" pitchFamily="34" charset="-120"/>
              </a:rPr>
              <a:t>One partner, one deep integration — scoped per country, per language, per feature tier.</a:t>
            </a:r>
            <a:endParaRPr lang="en-US" sz="1200" dirty="0"/>
          </a:p>
        </p:txBody>
      </p:sp>
      <p:sp>
        <p:nvSpPr>
          <p:cNvPr id="7" name="Text 4"/>
          <p:cNvSpPr/>
          <p:nvPr/>
        </p:nvSpPr>
        <p:spPr>
          <a:xfrm>
            <a:off x="594360" y="6172200"/>
            <a:ext cx="10972800" cy="411480"/>
          </a:xfrm>
          <a:prstGeom prst="rect">
            <a:avLst/>
          </a:prstGeom>
          <a:noFill/>
          <a:ln/>
        </p:spPr>
        <p:txBody>
          <a:bodyPr wrap="square" lIns="0" tIns="0" rIns="0" bIns="0" rtlCol="0" anchor="ctr"/>
          <a:lstStyle/>
          <a:p>
            <a:pPr indent="0" marL="0">
              <a:buNone/>
            </a:pPr>
            <a:r>
              <a:rPr lang="en-US" sz="1450" i="1" dirty="0">
                <a:solidFill>
                  <a:srgbClr val="0E2726"/>
                </a:solidFill>
                <a:latin typeface="Arial" pitchFamily="34" charset="0"/>
                <a:ea typeface="Arial" pitchFamily="34" charset="-122"/>
                <a:cs typeface="Arial" pitchFamily="34" charset="-120"/>
              </a:rPr>
              <a:t>The marginal name is nearly free. Each new market is priced openly — data, licensing, residency — never buried.</a:t>
            </a:r>
            <a:endParaRPr lang="en-US" sz="1450" dirty="0"/>
          </a:p>
        </p:txBody>
      </p:sp>
      <p:sp>
        <p:nvSpPr>
          <p:cNvPr id="8" name="Text 5"/>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09 · THE ASK</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90 days to an answer.</a:t>
            </a:r>
            <a:endParaRPr lang="en-US" sz="3400" dirty="0"/>
          </a:p>
        </p:txBody>
      </p:sp>
      <p:pic>
        <p:nvPicPr>
          <p:cNvPr id="4" name="Image 0" descr="asset_timeline.png">    </p:cNvPr>
          <p:cNvPicPr>
            <a:picLocks noChangeAspect="1"/>
          </p:cNvPicPr>
          <p:nvPr/>
        </p:nvPicPr>
        <p:blipFill>
          <a:blip r:embed="rId1"/>
          <a:stretch>
            <a:fillRect/>
          </a:stretch>
        </p:blipFill>
        <p:spPr>
          <a:xfrm>
            <a:off x="594360" y="1536192"/>
            <a:ext cx="11000232" cy="4123944"/>
          </a:xfrm>
          <a:prstGeom prst="rect">
            <a:avLst/>
          </a:prstGeom>
        </p:spPr>
      </p:pic>
      <p:sp>
        <p:nvSpPr>
          <p:cNvPr id="5" name="Text 2"/>
          <p:cNvSpPr/>
          <p:nvPr/>
        </p:nvSpPr>
        <p:spPr>
          <a:xfrm>
            <a:off x="594360" y="5943600"/>
            <a:ext cx="10972800" cy="411480"/>
          </a:xfrm>
          <a:prstGeom prst="rect">
            <a:avLst/>
          </a:prstGeom>
          <a:noFill/>
          <a:ln/>
        </p:spPr>
        <p:txBody>
          <a:bodyPr wrap="square" lIns="0" tIns="0" rIns="0" bIns="0" rtlCol="0" anchor="ctr"/>
          <a:lstStyle/>
          <a:p>
            <a:pPr indent="0" marL="0">
              <a:buNone/>
            </a:pPr>
            <a:r>
              <a:rPr lang="en-US" sz="1500" i="1" dirty="0">
                <a:solidFill>
                  <a:srgbClr val="0E2726"/>
                </a:solidFill>
                <a:latin typeface="Arial" pitchFamily="34" charset="0"/>
                <a:ea typeface="Arial" pitchFamily="34" charset="-122"/>
                <a:cs typeface="Arial" pitchFamily="34" charset="-120"/>
              </a:rPr>
              <a:t>What we bring: the engine, the ledger, the discipline. What we ask: your umbrella, your licence, your scale.</a:t>
            </a:r>
            <a:endParaRPr lang="en-US" sz="1500" dirty="0"/>
          </a:p>
        </p:txBody>
      </p:sp>
      <p:sp>
        <p:nvSpPr>
          <p:cNvPr id="6" name="Text 3"/>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726"/>
        </a:solidFill>
      </p:bgPr>
    </p:bg>
    <p:spTree>
      <p:nvGrpSpPr>
        <p:cNvPr id="1" name=""/>
        <p:cNvGrpSpPr/>
        <p:nvPr/>
      </p:nvGrpSpPr>
      <p:grpSpPr>
        <a:xfrm>
          <a:off x="0" y="0"/>
          <a:ext cx="0" cy="0"/>
          <a:chOff x="0" y="0"/>
          <a:chExt cx="0" cy="0"/>
        </a:xfrm>
      </p:grpSpPr>
      <p:pic>
        <p:nvPicPr>
          <p:cNvPr id="2" name="Image 0" descr="asset_cover_fan.png">    </p:cNvPr>
          <p:cNvPicPr>
            <a:picLocks noChangeAspect="1"/>
          </p:cNvPicPr>
          <p:nvPr/>
        </p:nvPicPr>
        <p:blipFill>
          <a:blip r:embed="rId1">
            <a:alphaModFix amt="60000"/>
          </a:blip>
          <a:stretch>
            <a:fillRect/>
          </a:stretch>
        </p:blipFill>
        <p:spPr>
          <a:xfrm>
            <a:off x="5239512" y="3090672"/>
            <a:ext cx="6949440" cy="3767328"/>
          </a:xfrm>
          <a:prstGeom prst="rect">
            <a:avLst/>
          </a:prstGeom>
        </p:spPr>
      </p:pic>
      <p:sp>
        <p:nvSpPr>
          <p:cNvPr id="3"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C0A45F"/>
                </a:solidFill>
                <a:latin typeface="Arial" pitchFamily="34" charset="0"/>
                <a:ea typeface="Arial" pitchFamily="34" charset="-122"/>
                <a:cs typeface="Arial" pitchFamily="34" charset="-120"/>
              </a:rPr>
              <a:t>10 · THE DEMO</a:t>
            </a:r>
            <a:endParaRPr lang="en-US" sz="1100" dirty="0"/>
          </a:p>
        </p:txBody>
      </p:sp>
      <p:sp>
        <p:nvSpPr>
          <p:cNvPr id="4" name="Text 1"/>
          <p:cNvSpPr/>
          <p:nvPr/>
        </p:nvSpPr>
        <p:spPr>
          <a:xfrm>
            <a:off x="594360" y="105156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Enough slides. The engine is live.</a:t>
            </a:r>
            <a:endParaRPr lang="en-US" sz="4000" dirty="0"/>
          </a:p>
        </p:txBody>
      </p:sp>
      <p:sp>
        <p:nvSpPr>
          <p:cNvPr id="5" name="Text 2"/>
          <p:cNvSpPr/>
          <p:nvPr/>
        </p:nvSpPr>
        <p:spPr>
          <a:xfrm>
            <a:off x="594360" y="2103120"/>
            <a:ext cx="10972800" cy="457200"/>
          </a:xfrm>
          <a:prstGeom prst="rect">
            <a:avLst/>
          </a:prstGeom>
          <a:noFill/>
          <a:ln/>
        </p:spPr>
        <p:txBody>
          <a:bodyPr wrap="square" lIns="0" tIns="0" rIns="0" bIns="0" rtlCol="0" anchor="ctr"/>
          <a:lstStyle/>
          <a:p>
            <a:pPr indent="0" marL="0">
              <a:buNone/>
            </a:pPr>
            <a:r>
              <a:rPr lang="en-US" sz="1800" b="1" dirty="0">
                <a:solidFill>
                  <a:srgbClr val="C0A45F"/>
                </a:solidFill>
                <a:latin typeface="Arial" pitchFamily="34" charset="0"/>
                <a:ea typeface="Arial" pitchFamily="34" charset="-122"/>
                <a:cs typeface="Arial" pitchFamily="34" charset="-120"/>
              </a:rPr>
              <a:t>testahil.com</a:t>
            </a:r>
            <a:pPr indent="0" marL="0">
              <a:buNone/>
            </a:pPr>
            <a:r>
              <a:rPr lang="en-US" sz="1800" dirty="0">
                <a:solidFill>
                  <a:srgbClr val="C9D6D2"/>
                </a:solidFill>
                <a:latin typeface="Arial" pitchFamily="34" charset="0"/>
                <a:ea typeface="Arial" pitchFamily="34" charset="-122"/>
                <a:cs typeface="Arial" pitchFamily="34" charset="-120"/>
              </a:rPr>
              <a:t>  —  Ticker Picker · Compare · Trade · Portfolio · the public Ledger</a:t>
            </a:r>
            <a:endParaRPr lang="en-US" sz="1800" dirty="0"/>
          </a:p>
        </p:txBody>
      </p:sp>
      <p:sp>
        <p:nvSpPr>
          <p:cNvPr id="6" name="Text 3"/>
          <p:cNvSpPr/>
          <p:nvPr/>
        </p:nvSpPr>
        <p:spPr>
          <a:xfrm>
            <a:off x="594360" y="2724912"/>
            <a:ext cx="8778240" cy="502920"/>
          </a:xfrm>
          <a:prstGeom prst="rect">
            <a:avLst/>
          </a:prstGeom>
          <a:noFill/>
          <a:ln/>
        </p:spPr>
        <p:txBody>
          <a:bodyPr wrap="square" lIns="0" tIns="0" rIns="0" bIns="0" rtlCol="0" anchor="t"/>
          <a:lstStyle/>
          <a:p>
            <a:pPr indent="0" marL="0">
              <a:buNone/>
            </a:pPr>
            <a:r>
              <a:rPr lang="en-US" sz="1550" i="1" dirty="0">
                <a:solidFill>
                  <a:srgbClr val="FFFFFF"/>
                </a:solidFill>
                <a:latin typeface="Arial" pitchFamily="34" charset="0"/>
                <a:ea typeface="Arial" pitchFamily="34" charset="-122"/>
                <a:cs typeface="Arial" pitchFamily="34" charset="-120"/>
              </a:rPr>
              <a:t>Every number in the demo is the same number the public sees — graded, dated, and accountable.</a:t>
            </a:r>
            <a:endParaRPr lang="en-US" sz="1550" dirty="0"/>
          </a:p>
        </p:txBody>
      </p:sp>
      <p:sp>
        <p:nvSpPr>
          <p:cNvPr id="7" name="Text 4"/>
          <p:cNvSpPr/>
          <p:nvPr/>
        </p:nvSpPr>
        <p:spPr>
          <a:xfrm>
            <a:off x="594360" y="3310128"/>
            <a:ext cx="8778240" cy="502920"/>
          </a:xfrm>
          <a:prstGeom prst="rect">
            <a:avLst/>
          </a:prstGeom>
          <a:noFill/>
          <a:ln/>
        </p:spPr>
        <p:txBody>
          <a:bodyPr wrap="square" lIns="0" tIns="0" rIns="0" bIns="0" rtlCol="0" anchor="t"/>
          <a:lstStyle/>
          <a:p>
            <a:pPr indent="0" marL="0">
              <a:buNone/>
            </a:pPr>
            <a:r>
              <a:rPr lang="en-US" sz="1250" dirty="0">
                <a:solidFill>
                  <a:srgbClr val="9FB4AF"/>
                </a:solidFill>
                <a:latin typeface="Arial" pitchFamily="34" charset="0"/>
                <a:ea typeface="Arial" pitchFamily="34" charset="-122"/>
                <a:cs typeface="Arial" pitchFamily="34" charset="-120"/>
              </a:rPr>
              <a:t>Leave-behind for your technical team: the full Tata Motors validation study — every assumption on the record.</a:t>
            </a:r>
            <a:endParaRPr lang="en-US" sz="1250" dirty="0"/>
          </a:p>
        </p:txBody>
      </p:sp>
      <p:sp>
        <p:nvSpPr>
          <p:cNvPr id="8" name="Shape 5"/>
          <p:cNvSpPr/>
          <p:nvPr/>
        </p:nvSpPr>
        <p:spPr>
          <a:xfrm>
            <a:off x="594360" y="4041648"/>
            <a:ext cx="11000232" cy="1691640"/>
          </a:xfrm>
          <a:prstGeom prst="roundRect">
            <a:avLst>
              <a:gd name="adj" fmla="val 4324"/>
            </a:avLst>
          </a:prstGeom>
          <a:solidFill>
            <a:srgbClr val="FFFFFF"/>
          </a:solidFill>
          <a:ln w="12700">
            <a:solidFill>
              <a:srgbClr val="D9E4E1"/>
            </a:solidFill>
            <a:prstDash val="solid"/>
          </a:ln>
        </p:spPr>
      </p:sp>
      <p:pic>
        <p:nvPicPr>
          <p:cNvPr id="9" name="Image 1" descr="asset_countdown.png">    </p:cNvPr>
          <p:cNvPicPr>
            <a:picLocks noChangeAspect="1"/>
          </p:cNvPicPr>
          <p:nvPr/>
        </p:nvPicPr>
        <p:blipFill>
          <a:blip r:embed="rId2"/>
          <a:stretch>
            <a:fillRect/>
          </a:stretch>
        </p:blipFill>
        <p:spPr>
          <a:xfrm>
            <a:off x="850392" y="4261104"/>
            <a:ext cx="5120640" cy="1261872"/>
          </a:xfrm>
          <a:prstGeom prst="rect">
            <a:avLst/>
          </a:prstGeom>
        </p:spPr>
      </p:pic>
      <p:sp>
        <p:nvSpPr>
          <p:cNvPr id="10" name="Text 6"/>
          <p:cNvSpPr/>
          <p:nvPr/>
        </p:nvSpPr>
        <p:spPr>
          <a:xfrm>
            <a:off x="6053328" y="4297680"/>
            <a:ext cx="4709160" cy="1005840"/>
          </a:xfrm>
          <a:prstGeom prst="rect">
            <a:avLst/>
          </a:prstGeom>
          <a:noFill/>
          <a:ln/>
        </p:spPr>
        <p:txBody>
          <a:bodyPr wrap="square" lIns="0" tIns="0" rIns="0" bIns="0" rtlCol="0" anchor="t"/>
          <a:lstStyle/>
          <a:p>
            <a:pPr indent="0" marL="0">
              <a:lnSpc>
                <a:spcPct val="112000"/>
              </a:lnSpc>
              <a:buNone/>
            </a:pPr>
            <a:r>
              <a:rPr lang="en-US" sz="1250" b="1" dirty="0">
                <a:solidFill>
                  <a:srgbClr val="0F5147"/>
                </a:solidFill>
                <a:latin typeface="Arial" pitchFamily="34" charset="0"/>
                <a:ea typeface="Arial" pitchFamily="34" charset="-122"/>
                <a:cs typeface="Arial" pitchFamily="34" charset="-120"/>
              </a:rPr>
              <a:t>Live on the ledger right now: </a:t>
            </a:r>
            <a:pPr indent="0" marL="0">
              <a:lnSpc>
                <a:spcPct val="112000"/>
              </a:lnSpc>
              <a:buNone/>
            </a:pPr>
            <a:r>
              <a:rPr lang="en-US" sz="1250" dirty="0">
                <a:solidFill>
                  <a:srgbClr val="0E2726"/>
                </a:solidFill>
                <a:latin typeface="Arial" pitchFamily="34" charset="0"/>
                <a:ea typeface="Arial" pitchFamily="34" charset="-122"/>
                <a:cs typeface="Arial" pitchFamily="34" charset="-120"/>
              </a:rPr>
              <a:t>the record so far, and a countdown to the next grading — platinum’s 1-month resolves 20 August. Watch us be right, or wrong, in real time.</a:t>
            </a:r>
            <a:endParaRPr lang="en-US" sz="1250" dirty="0"/>
          </a:p>
        </p:txBody>
      </p:sp>
      <p:sp>
        <p:nvSpPr>
          <p:cNvPr id="11" name="Text 7"/>
          <p:cNvSpPr/>
          <p:nvPr/>
        </p:nvSpPr>
        <p:spPr>
          <a:xfrm>
            <a:off x="6053328" y="5358384"/>
            <a:ext cx="4663440" cy="274320"/>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as rendered 18 Aug 2026 · testahil.com/ledger</a:t>
            </a:r>
            <a:endParaRPr lang="en-US" sz="850" dirty="0"/>
          </a:p>
        </p:txBody>
      </p:sp>
      <p:sp>
        <p:nvSpPr>
          <p:cNvPr id="12" name="Text 8"/>
          <p:cNvSpPr/>
          <p:nvPr/>
        </p:nvSpPr>
        <p:spPr>
          <a:xfrm>
            <a:off x="594360" y="6080760"/>
            <a:ext cx="9144000" cy="457200"/>
          </a:xfrm>
          <a:prstGeom prst="rect">
            <a:avLst/>
          </a:prstGeom>
          <a:noFill/>
          <a:ln/>
        </p:spPr>
        <p:txBody>
          <a:bodyPr wrap="square" lIns="0" tIns="0" rIns="0" bIns="0" rtlCol="0" anchor="ctr"/>
          <a:lstStyle/>
          <a:p>
            <a:pPr indent="0" marL="0">
              <a:buNone/>
            </a:pPr>
            <a:r>
              <a:rPr lang="en-US" sz="1600" b="1" spc="200" kern="0" dirty="0">
                <a:solidFill>
                  <a:srgbClr val="C0A45F"/>
                </a:solidFill>
                <a:latin typeface="Courier New" pitchFamily="34" charset="0"/>
                <a:ea typeface="Courier New" pitchFamily="34" charset="-122"/>
                <a:cs typeface="Courier New" pitchFamily="34" charset="-120"/>
              </a:rPr>
              <a:t>INFO@TESTAHIL.COM   ·   TESTAHIL.COM</a:t>
            </a:r>
            <a:endParaRPr lang="en-US" sz="1600" dirty="0"/>
          </a:p>
        </p:txBody>
      </p:sp>
      <p:sp>
        <p:nvSpPr>
          <p:cNvPr id="13" name="Text 9"/>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9FB4AF"/>
                </a:solidFill>
                <a:latin typeface="Arial" pitchFamily="34" charset="0"/>
                <a:ea typeface="Arial" pitchFamily="34" charset="-122"/>
                <a:cs typeface="Arial" pitchFamily="34" charset="-120"/>
              </a:rPr>
              <a:t>Testahil — distributions, not tips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APPENDIX · GOVERNANCE</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Every number runs this gauntlet.</a:t>
            </a:r>
            <a:endParaRPr lang="en-US" sz="3400" dirty="0"/>
          </a:p>
        </p:txBody>
      </p:sp>
      <p:sp>
        <p:nvSpPr>
          <p:cNvPr id="4" name="Text 2"/>
          <p:cNvSpPr/>
          <p:nvPr/>
        </p:nvSpPr>
        <p:spPr>
          <a:xfrm>
            <a:off x="594360" y="1389888"/>
            <a:ext cx="10789920" cy="365760"/>
          </a:xfrm>
          <a:prstGeom prst="rect">
            <a:avLst/>
          </a:prstGeom>
          <a:noFill/>
          <a:ln/>
        </p:spPr>
        <p:txBody>
          <a:bodyPr wrap="square" lIns="0" tIns="0" rIns="0" bIns="0" rtlCol="0" anchor="t"/>
          <a:lstStyle/>
          <a:p>
            <a:pPr indent="0" marL="0">
              <a:buNone/>
            </a:pPr>
            <a:r>
              <a:rPr lang="en-US" sz="1350" dirty="0">
                <a:solidFill>
                  <a:srgbClr val="5C6B70"/>
                </a:solidFill>
                <a:latin typeface="Arial" pitchFamily="34" charset="0"/>
                <a:ea typeface="Arial" pitchFamily="34" charset="-122"/>
                <a:cs typeface="Arial" pitchFamily="34" charset="-120"/>
              </a:rPr>
              <a:t>Written for the three teams who will read this deck without us in the room: compliance, model risk, vendor risk.</a:t>
            </a:r>
            <a:endParaRPr lang="en-US" sz="1350" dirty="0"/>
          </a:p>
        </p:txBody>
      </p:sp>
      <p:pic>
        <p:nvPicPr>
          <p:cNvPr id="5" name="Image 0" descr="asset_chain.png">    </p:cNvPr>
          <p:cNvPicPr>
            <a:picLocks noChangeAspect="1"/>
          </p:cNvPicPr>
          <p:nvPr/>
        </p:nvPicPr>
        <p:blipFill>
          <a:blip r:embed="rId1"/>
          <a:stretch>
            <a:fillRect/>
          </a:stretch>
        </p:blipFill>
        <p:spPr>
          <a:xfrm>
            <a:off x="594360" y="1874520"/>
            <a:ext cx="11000232" cy="3849624"/>
          </a:xfrm>
          <a:prstGeom prst="rect">
            <a:avLst/>
          </a:prstGeom>
        </p:spPr>
      </p:pic>
      <p:sp>
        <p:nvSpPr>
          <p:cNvPr id="6" name="Text 3"/>
          <p:cNvSpPr/>
          <p:nvPr/>
        </p:nvSpPr>
        <p:spPr>
          <a:xfrm>
            <a:off x="594360" y="5943600"/>
            <a:ext cx="10972800" cy="457200"/>
          </a:xfrm>
          <a:prstGeom prst="rect">
            <a:avLst/>
          </a:prstGeom>
          <a:noFill/>
          <a:ln/>
        </p:spPr>
        <p:txBody>
          <a:bodyPr wrap="square" lIns="0" tIns="0" rIns="0" bIns="0" rtlCol="0" anchor="ctr"/>
          <a:lstStyle/>
          <a:p>
            <a:pPr indent="0" marL="0">
              <a:buNone/>
            </a:pPr>
            <a:r>
              <a:rPr lang="en-US" sz="1450" i="1" dirty="0">
                <a:solidFill>
                  <a:srgbClr val="0E2726"/>
                </a:solidFill>
                <a:latin typeface="Arial" pitchFamily="34" charset="0"/>
                <a:ea typeface="Arial" pitchFamily="34" charset="-122"/>
                <a:cs typeface="Arial" pitchFamily="34" charset="-120"/>
              </a:rPr>
              <a:t>Published, time-stamped, graded, misses kept — that’s what honest AI looks like to a regulator. Continuity is a deliverable, not a promise.</a:t>
            </a:r>
            <a:endParaRPr lang="en-US" sz="1450" dirty="0"/>
          </a:p>
        </p:txBody>
      </p:sp>
      <p:sp>
        <p:nvSpPr>
          <p:cNvPr id="7" name="Text 4"/>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APPENDIX · METHOD</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What we built — and what we threw away.</a:t>
            </a:r>
            <a:endParaRPr lang="en-US" sz="3400" dirty="0"/>
          </a:p>
        </p:txBody>
      </p:sp>
      <p:pic>
        <p:nvPicPr>
          <p:cNvPr id="4" name="Image 0" descr="asset_method.png">    </p:cNvPr>
          <p:cNvPicPr>
            <a:picLocks noChangeAspect="1"/>
          </p:cNvPicPr>
          <p:nvPr/>
        </p:nvPicPr>
        <p:blipFill>
          <a:blip r:embed="rId1"/>
          <a:stretch>
            <a:fillRect/>
          </a:stretch>
        </p:blipFill>
        <p:spPr>
          <a:xfrm>
            <a:off x="786384" y="1463040"/>
            <a:ext cx="10607040" cy="4773168"/>
          </a:xfrm>
          <a:prstGeom prst="rect">
            <a:avLst/>
          </a:prstGeom>
        </p:spPr>
      </p:pic>
      <p:sp>
        <p:nvSpPr>
          <p:cNvPr id="5" name="Text 2"/>
          <p:cNvSpPr/>
          <p:nvPr/>
        </p:nvSpPr>
        <p:spPr>
          <a:xfrm>
            <a:off x="594360" y="6355080"/>
            <a:ext cx="10881360" cy="365760"/>
          </a:xfrm>
          <a:prstGeom prst="rect">
            <a:avLst/>
          </a:prstGeom>
          <a:noFill/>
          <a:ln/>
        </p:spPr>
        <p:txBody>
          <a:bodyPr wrap="square" lIns="0" tIns="0" rIns="0" bIns="0" rtlCol="0" anchor="t"/>
          <a:lstStyle/>
          <a:p>
            <a:pPr indent="0" marL="0">
              <a:buNone/>
            </a:pPr>
            <a:r>
              <a:rPr lang="en-US" sz="1050" i="1" dirty="0">
                <a:solidFill>
                  <a:srgbClr val="5C6B70"/>
                </a:solidFill>
                <a:latin typeface="Arial" pitchFamily="34" charset="0"/>
                <a:ea typeface="Arial" pitchFamily="34" charset="-122"/>
                <a:cs typeface="Arial" pitchFamily="34" charset="-120"/>
              </a:rPr>
              <a:t>Testahil publishes fair-value ranges and probability distributions. It does not publish ratings, price targets, or recommendations, and nothing it publishes is investment advice.</a:t>
            </a:r>
            <a:endParaRPr lang="en-US" sz="1050" dirty="0"/>
          </a:p>
        </p:txBody>
      </p:sp>
      <p:sp>
        <p:nvSpPr>
          <p:cNvPr id="6" name="Text 3"/>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APPENDIX · THE FULL TABLE</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Every market, every window.</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8229600" cy="914400"/>
        </p:xfrm>
        <a:graphic>
          <a:graphicData uri="http://schemas.openxmlformats.org/drawingml/2006/table">
            <a:tbl>
              <a:tblPr/>
              <a:tblGrid>
                <a:gridCol w="2377440"/>
                <a:gridCol w="969264"/>
                <a:gridCol w="1298448"/>
                <a:gridCol w="1207008"/>
                <a:gridCol w="1188720"/>
                <a:gridCol w="1188720"/>
              </a:tblGrid>
              <a:tr h="310896">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MARKET</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NAMES</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WINDOWS</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INSIDE</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MISS RATE</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12796B"/>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Egypt (EGX)</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37</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1,787</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1,654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7.4%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F5147"/>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UAE (ADX + DFM)</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848</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759</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10.5%</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Saudi Arabia (Tadawul)</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486</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420</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13.6%</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USA (NASDAQ)</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149</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14.4%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India (NSE)</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172</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151</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12.2%</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Korea (KRX)</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125</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110</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12.0%</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Qatar (QSE)</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174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162</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6.9%</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0E2726"/>
                          </a:solidFill>
                          <a:latin typeface="Arial" pitchFamily="34" charset="0"/>
                          <a:ea typeface="Arial" pitchFamily="34" charset="-122"/>
                          <a:cs typeface="Arial" pitchFamily="34" charset="-120"/>
                        </a:rPr>
                        <a:t>Metals (Au · Ag · Pt)</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178</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167</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0E2726"/>
                          </a:solidFill>
                          <a:latin typeface="Arial" pitchFamily="34" charset="0"/>
                          <a:ea typeface="Arial" pitchFamily="34" charset="-122"/>
                          <a:cs typeface="Arial" pitchFamily="34" charset="-120"/>
                        </a:rPr>
                        <a:t>6.2%</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c>
                  <a:txBody>
                    <a:bodyPr/>
                    <a:lstStyle/>
                    <a:p>
                      <a:pPr algn="r" indent="0" marL="0">
                        <a:buNone/>
                      </a:pPr>
                      <a:r>
                        <a:rPr lang="en-US" sz="1050" dirty="0">
                          <a:solidFill>
                            <a:srgbClr val="5C6B70"/>
                          </a:solidFill>
                          <a:latin typeface="Arial" pitchFamily="34" charset="0"/>
                          <a:ea typeface="Arial" pitchFamily="34" charset="-122"/>
                          <a:cs typeface="Arial" pitchFamily="34" charset="-120"/>
                        </a:rPr>
                        <a:t>PARITY</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FF4F2"/>
                    </a:solidFill>
                  </a:tcPr>
                </a:tc>
              </a:tr>
              <a:tr h="310896">
                <a:tc>
                  <a:txBody>
                    <a:bodyPr/>
                    <a:lstStyle/>
                    <a:p>
                      <a:pPr algn="l" indent="0" marL="0">
                        <a:buNone/>
                      </a:pPr>
                      <a:r>
                        <a:rPr lang="en-US" sz="1050" b="1" dirty="0">
                          <a:solidFill>
                            <a:srgbClr val="0E2726"/>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c>
                  <a:txBody>
                    <a:bodyPr/>
                    <a:lstStyle/>
                    <a:p>
                      <a:pPr algn="r" indent="0" marL="0">
                        <a:buNone/>
                      </a:pPr>
                      <a:r>
                        <a:rPr lang="en-US" sz="1050" b="1" dirty="0">
                          <a:solidFill>
                            <a:srgbClr val="0E2726"/>
                          </a:solidFill>
                          <a:latin typeface="Arial" pitchFamily="34" charset="0"/>
                          <a:ea typeface="Arial" pitchFamily="34" charset="-122"/>
                          <a:cs typeface="Arial" pitchFamily="34" charset="-120"/>
                        </a:rPr>
                        <a:t>88</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c>
                  <a:txBody>
                    <a:bodyPr/>
                    <a:lstStyle/>
                    <a:p>
                      <a:pPr algn="r" indent="0" marL="0">
                        <a:buNone/>
                      </a:pPr>
                      <a:r>
                        <a:rPr lang="en-US" sz="1050" b="1" dirty="0">
                          <a:solidFill>
                            <a:srgbClr val="0E2726"/>
                          </a:solidFill>
                          <a:latin typeface="Arial" pitchFamily="34" charset="0"/>
                          <a:ea typeface="Arial" pitchFamily="34" charset="-122"/>
                          <a:cs typeface="Arial" pitchFamily="34" charset="-120"/>
                        </a:rPr>
                        <a:t>3,944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c>
                  <a:txBody>
                    <a:bodyPr/>
                    <a:lstStyle/>
                    <a:p>
                      <a:pPr algn="r" indent="0" marL="0">
                        <a:buNone/>
                      </a:pPr>
                      <a:r>
                        <a:rPr lang="en-US" sz="1050" b="1" dirty="0">
                          <a:solidFill>
                            <a:srgbClr val="0E2726"/>
                          </a:solidFill>
                          <a:latin typeface="Arial" pitchFamily="34" charset="0"/>
                          <a:ea typeface="Arial" pitchFamily="34" charset="-122"/>
                          <a:cs typeface="Arial" pitchFamily="34" charset="-120"/>
                        </a:rPr>
                        <a:t>3,572</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c>
                  <a:txBody>
                    <a:bodyPr/>
                    <a:lstStyle/>
                    <a:p>
                      <a:pPr algn="r" indent="0" marL="0">
                        <a:buNone/>
                      </a:pPr>
                      <a:r>
                        <a:rPr lang="en-US" sz="1050" b="1" dirty="0">
                          <a:solidFill>
                            <a:srgbClr val="0E2726"/>
                          </a:solidFill>
                          <a:latin typeface="Arial" pitchFamily="34" charset="0"/>
                          <a:ea typeface="Arial" pitchFamily="34" charset="-122"/>
                          <a:cs typeface="Arial" pitchFamily="34" charset="-120"/>
                        </a:rPr>
                        <a:t>9.4%</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c>
                  <a:txBody>
                    <a:bodyPr/>
                    <a:lstStyle/>
                    <a:p>
                      <a:pPr algn="r" indent="0" marL="0">
                        <a:buNone/>
                      </a:pPr>
                      <a:r>
                        <a:rPr lang="en-US" sz="1050" b="1" dirty="0">
                          <a:solidFill>
                            <a:srgbClr val="0E2726"/>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ctr">
                    <a:lnL w="6350" cap="flat" cmpd="sng" algn="ctr">
                      <a:solidFill>
                        <a:srgbClr val="D9E4E1"/>
                      </a:solidFill>
                      <a:prstDash val="solid"/>
                      <a:round/>
                      <a:headEnd type="none" w="med" len="med"/>
                      <a:tailEnd type="none" w="med" len="med"/>
                    </a:lnL>
                    <a:lnR w="6350" cap="flat" cmpd="sng" algn="ctr">
                      <a:solidFill>
                        <a:srgbClr val="D9E4E1"/>
                      </a:solidFill>
                      <a:prstDash val="solid"/>
                      <a:round/>
                      <a:headEnd type="none" w="med" len="med"/>
                      <a:tailEnd type="none" w="med" len="med"/>
                    </a:lnR>
                    <a:lnT w="6350" cap="flat" cmpd="sng" algn="ctr">
                      <a:solidFill>
                        <a:srgbClr val="D9E4E1"/>
                      </a:solidFill>
                      <a:prstDash val="solid"/>
                      <a:round/>
                      <a:headEnd type="none" w="med" len="med"/>
                      <a:tailEnd type="none" w="med" len="med"/>
                    </a:lnT>
                    <a:lnB w="6350" cap="flat" cmpd="sng" algn="ctr">
                      <a:solidFill>
                        <a:srgbClr val="D9E4E1"/>
                      </a:solidFill>
                      <a:prstDash val="solid"/>
                      <a:round/>
                      <a:headEnd type="none" w="med" len="med"/>
                      <a:tailEnd type="none" w="med" len="med"/>
                    </a:lnB>
                    <a:solidFill>
                      <a:srgbClr val="E3EDEA"/>
                    </a:solidFill>
                  </a:tcPr>
                </a:tc>
              </a:tr>
            </a:tbl>
          </a:graphicData>
        </a:graphic>
      </p:graphicFrame>
      <p:sp>
        <p:nvSpPr>
          <p:cNvPr id="5" name="Text 2"/>
          <p:cNvSpPr/>
          <p:nvPr/>
        </p:nvSpPr>
        <p:spPr>
          <a:xfrm>
            <a:off x="9144000" y="1600200"/>
            <a:ext cx="2487168" cy="1737360"/>
          </a:xfrm>
          <a:prstGeom prst="rect">
            <a:avLst/>
          </a:prstGeom>
          <a:noFill/>
          <a:ln/>
        </p:spPr>
        <p:txBody>
          <a:bodyPr wrap="square" lIns="0" tIns="0" rIns="0" bIns="0" rtlCol="0" anchor="t"/>
          <a:lstStyle/>
          <a:p>
            <a:pPr indent="0" marL="0">
              <a:lnSpc>
                <a:spcPct val="112000"/>
              </a:lnSpc>
              <a:buNone/>
            </a:pPr>
            <a:r>
              <a:rPr lang="en-US" sz="1000" b="1" dirty="0">
                <a:solidFill>
                  <a:srgbClr val="0F5147"/>
                </a:solidFill>
                <a:latin typeface="Arial" pitchFamily="34" charset="0"/>
                <a:ea typeface="Arial" pitchFamily="34" charset="-122"/>
                <a:cs typeface="Arial" pitchFamily="34" charset="-120"/>
              </a:rPr>
              <a:t>PASS</a:t>
            </a:r>
            <a:pPr indent="0" marL="0">
              <a:lnSpc>
                <a:spcPct val="112000"/>
              </a:lnSpc>
              <a:buNone/>
            </a:pPr>
            <a:r>
              <a:rPr lang="en-US" sz="1000" dirty="0">
                <a:solidFill>
                  <a:srgbClr val="0E2726"/>
                </a:solidFill>
                <a:latin typeface="Arial" pitchFamily="34" charset="0"/>
                <a:ea typeface="Arial" pitchFamily="34" charset="-122"/>
                <a:cs typeface="Arial" pitchFamily="34" charset="-120"/>
              </a:rPr>
              <a:t> = beats a carry-anchored benchmark with statistical confidence.  </a:t>
            </a:r>
            <a:pPr indent="0" marL="0">
              <a:lnSpc>
                <a:spcPct val="112000"/>
              </a:lnSpc>
              <a:buNone/>
            </a:pPr>
            <a:r>
              <a:rPr lang="en-US" sz="1000" b="1" dirty="0">
                <a:solidFill>
                  <a:srgbClr val="5C6B70"/>
                </a:solidFill>
                <a:latin typeface="Arial" pitchFamily="34" charset="0"/>
                <a:ea typeface="Arial" pitchFamily="34" charset="-122"/>
                <a:cs typeface="Arial" pitchFamily="34" charset="-120"/>
              </a:rPr>
              <a:t>PARITY</a:t>
            </a:r>
            <a:pPr indent="0" marL="0">
              <a:lnSpc>
                <a:spcPct val="112000"/>
              </a:lnSpc>
              <a:buNone/>
            </a:pPr>
            <a:r>
              <a:rPr lang="en-US" sz="1000" dirty="0">
                <a:solidFill>
                  <a:srgbClr val="0E2726"/>
                </a:solidFill>
                <a:latin typeface="Arial" pitchFamily="34" charset="0"/>
                <a:ea typeface="Arial" pitchFamily="34" charset="-122"/>
                <a:cs typeface="Arial" pitchFamily="34" charset="-120"/>
              </a:rPr>
              <a:t> = honestly calibrated, edge not yet proven — what an un-gamed system looks like outside its deepest market.</a:t>
            </a:r>
            <a:endParaRPr lang="en-US" sz="1000" dirty="0"/>
          </a:p>
        </p:txBody>
      </p:sp>
      <p:sp>
        <p:nvSpPr>
          <p:cNvPr id="6" name="Text 3"/>
          <p:cNvSpPr/>
          <p:nvPr/>
        </p:nvSpPr>
        <p:spPr>
          <a:xfrm>
            <a:off x="9144000" y="3474720"/>
            <a:ext cx="2487168" cy="868680"/>
          </a:xfrm>
          <a:prstGeom prst="rect">
            <a:avLst/>
          </a:prstGeom>
          <a:noFill/>
          <a:ln/>
        </p:spPr>
        <p:txBody>
          <a:bodyPr wrap="square" lIns="0" tIns="0" rIns="0" bIns="0" rtlCol="0" anchor="t"/>
          <a:lstStyle/>
          <a:p>
            <a:pPr indent="0" marL="0">
              <a:lnSpc>
                <a:spcPct val="112000"/>
              </a:lnSpc>
              <a:buNone/>
            </a:pPr>
            <a:r>
              <a:rPr lang="en-US" sz="1000" dirty="0">
                <a:solidFill>
                  <a:srgbClr val="0E2726"/>
                </a:solidFill>
                <a:latin typeface="Arial" pitchFamily="34" charset="0"/>
                <a:ea typeface="Arial" pitchFamily="34" charset="-122"/>
                <a:cs typeface="Arial" pitchFamily="34" charset="-120"/>
              </a:rPr>
              <a:t>One name-level robust FAIL on the record — EXTRA (Tadawul) — kept, unedited.</a:t>
            </a:r>
            <a:endParaRPr lang="en-US" sz="1000" dirty="0"/>
          </a:p>
        </p:txBody>
      </p:sp>
      <p:sp>
        <p:nvSpPr>
          <p:cNvPr id="7" name="Text 4"/>
          <p:cNvSpPr/>
          <p:nvPr/>
        </p:nvSpPr>
        <p:spPr>
          <a:xfrm>
            <a:off x="594360" y="5138928"/>
            <a:ext cx="10972800" cy="777240"/>
          </a:xfrm>
          <a:prstGeom prst="rect">
            <a:avLst/>
          </a:prstGeom>
          <a:noFill/>
          <a:ln/>
        </p:spPr>
        <p:txBody>
          <a:bodyPr wrap="square" lIns="0" tIns="0" rIns="0" bIns="0" rtlCol="0" anchor="t"/>
          <a:lstStyle/>
          <a:p>
            <a:pPr indent="0" marL="0">
              <a:lnSpc>
                <a:spcPct val="112000"/>
              </a:lnSpc>
              <a:buNone/>
            </a:pPr>
            <a:r>
              <a:rPr lang="en-US" sz="1000" dirty="0">
                <a:solidFill>
                  <a:srgbClr val="5C6B70"/>
                </a:solidFill>
                <a:latin typeface="Arial" pitchFamily="34" charset="0"/>
                <a:ea typeface="Arial" pitchFamily="34" charset="-122"/>
                <a:cs typeface="Arial" pitchFamily="34" charset="-120"/>
              </a:rPr>
              <a:t>* UAE covers 28 names; the three ADNOC names published 17-Aug enter the panel at the next market refit.  </a:t>
            </a:r>
            <a:pPr indent="0" marL="0">
              <a:lnSpc>
                <a:spcPct val="112000"/>
              </a:lnSpc>
              <a:buNone/>
            </a:pPr>
            <a:r>
              <a:rPr lang="en-US" sz="1000" b="1" dirty="0">
                <a:solidFill>
                  <a:srgbClr val="5C6B70"/>
                </a:solidFill>
                <a:latin typeface="Arial" pitchFamily="34" charset="0"/>
                <a:ea typeface="Arial" pitchFamily="34" charset="-122"/>
                <a:cs typeface="Arial" pitchFamily="34" charset="-120"/>
              </a:rPr>
              <a:t>Metals is the weakest calibration in the system and we say so: gold is a single-name self-fit (its verdict is circular) and silver borrows gold’s fit until its own history is long enough.</a:t>
            </a:r>
            <a:endParaRPr lang="en-US" sz="1000" dirty="0"/>
          </a:p>
        </p:txBody>
      </p:sp>
      <p:sp>
        <p:nvSpPr>
          <p:cNvPr id="8" name="Text 5"/>
          <p:cNvSpPr/>
          <p:nvPr/>
        </p:nvSpPr>
        <p:spPr>
          <a:xfrm>
            <a:off x="594360" y="5943600"/>
            <a:ext cx="10972800" cy="548640"/>
          </a:xfrm>
          <a:prstGeom prst="rect">
            <a:avLst/>
          </a:prstGeom>
          <a:noFill/>
          <a:ln/>
        </p:spPr>
        <p:txBody>
          <a:bodyPr wrap="square" lIns="0" tIns="0" rIns="0" bIns="0" rtlCol="0" anchor="t"/>
          <a:lstStyle/>
          <a:p>
            <a:pPr indent="0" marL="0">
              <a:buNone/>
            </a:pPr>
            <a:r>
              <a:rPr lang="en-US" sz="1000" i="1" dirty="0">
                <a:solidFill>
                  <a:srgbClr val="7A8A86"/>
                </a:solidFill>
                <a:latin typeface="Arial" pitchFamily="34" charset="0"/>
                <a:ea typeface="Arial" pitchFamily="34" charset="-122"/>
                <a:cs typeface="Arial" pitchFamily="34" charset="-120"/>
              </a:rPr>
              <a:t>Run: 18 Aug 2026, production panels, calendar 3-month walk-forward windows, up to 15 years per name — spanning the 2011 revolution, the 2016 EGP float, COVID and the 2022–24 devaluations. Live per-name detail: testahil.com/ledger</a:t>
            </a:r>
            <a:endParaRPr lang="en-US" sz="1000" dirty="0"/>
          </a:p>
        </p:txBody>
      </p:sp>
      <p:sp>
        <p:nvSpPr>
          <p:cNvPr id="9" name="Text 6"/>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APPENDIX · THE ALTERNATIVES</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Why not just add this to a vendor contract?</a:t>
            </a:r>
            <a:endParaRPr lang="en-US" sz="3400" dirty="0"/>
          </a:p>
        </p:txBody>
      </p:sp>
      <p:sp>
        <p:nvSpPr>
          <p:cNvPr id="4" name="Text 2"/>
          <p:cNvSpPr/>
          <p:nvPr/>
        </p:nvSpPr>
        <p:spPr>
          <a:xfrm>
            <a:off x="4343400" y="1810512"/>
            <a:ext cx="2331720" cy="777240"/>
          </a:xfrm>
          <a:prstGeom prst="rect">
            <a:avLst/>
          </a:prstGeom>
          <a:noFill/>
          <a:ln/>
        </p:spPr>
        <p:txBody>
          <a:bodyPr wrap="square" lIns="0" tIns="0" rIns="0" bIns="0" rtlCol="0" anchor="b"/>
          <a:lstStyle/>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Covers the EGX·ADX·Tadawul</a:t>
            </a:r>
            <a:endParaRPr lang="en-US" sz="1050" dirty="0"/>
          </a:p>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long tail, from filings</a:t>
            </a:r>
            <a:endParaRPr lang="en-US" sz="1050" dirty="0"/>
          </a:p>
        </p:txBody>
      </p:sp>
      <p:sp>
        <p:nvSpPr>
          <p:cNvPr id="5" name="Text 3"/>
          <p:cNvSpPr/>
          <p:nvPr/>
        </p:nvSpPr>
        <p:spPr>
          <a:xfrm>
            <a:off x="6858000" y="1810512"/>
            <a:ext cx="2331720" cy="777240"/>
          </a:xfrm>
          <a:prstGeom prst="rect">
            <a:avLst/>
          </a:prstGeom>
          <a:noFill/>
          <a:ln/>
        </p:spPr>
        <p:txBody>
          <a:bodyPr wrap="square" lIns="0" tIns="0" rIns="0" bIns="0" rtlCol="0" anchor="b"/>
          <a:lstStyle/>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A public record,</a:t>
            </a:r>
            <a:endParaRPr lang="en-US" sz="1050" dirty="0"/>
          </a:p>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misses kept</a:t>
            </a:r>
            <a:endParaRPr lang="en-US" sz="1050" dirty="0"/>
          </a:p>
        </p:txBody>
      </p:sp>
      <p:sp>
        <p:nvSpPr>
          <p:cNvPr id="6" name="Text 4"/>
          <p:cNvSpPr/>
          <p:nvPr/>
        </p:nvSpPr>
        <p:spPr>
          <a:xfrm>
            <a:off x="9372600" y="1810512"/>
            <a:ext cx="2331720" cy="777240"/>
          </a:xfrm>
          <a:prstGeom prst="rect">
            <a:avLst/>
          </a:prstGeom>
          <a:noFill/>
          <a:ln/>
        </p:spPr>
        <p:txBody>
          <a:bodyPr wrap="square" lIns="0" tIns="0" rIns="0" bIns="0" rtlCol="0" anchor="b"/>
          <a:lstStyle/>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Live for your</a:t>
            </a:r>
            <a:endParaRPr lang="en-US" sz="1050" dirty="0"/>
          </a:p>
          <a:p>
            <a:pPr algn="ctr" indent="0" marL="0">
              <a:lnSpc>
                <a:spcPct val="105000"/>
              </a:lnSpc>
              <a:buNone/>
            </a:pPr>
            <a:r>
              <a:rPr lang="en-US" sz="1050" b="1" dirty="0">
                <a:solidFill>
                  <a:srgbClr val="5C6B70"/>
                </a:solidFill>
                <a:latin typeface="Arial" pitchFamily="34" charset="0"/>
                <a:ea typeface="Arial" pitchFamily="34" charset="-122"/>
                <a:cs typeface="Arial" pitchFamily="34" charset="-120"/>
              </a:rPr>
              <a:t>clients today</a:t>
            </a:r>
            <a:endParaRPr lang="en-US" sz="1050" dirty="0"/>
          </a:p>
        </p:txBody>
      </p:sp>
      <p:sp>
        <p:nvSpPr>
          <p:cNvPr id="7" name="Text 5"/>
          <p:cNvSpPr/>
          <p:nvPr/>
        </p:nvSpPr>
        <p:spPr>
          <a:xfrm>
            <a:off x="594360" y="2743200"/>
            <a:ext cx="3566160" cy="310896"/>
          </a:xfrm>
          <a:prstGeom prst="rect">
            <a:avLst/>
          </a:prstGeom>
          <a:noFill/>
          <a:ln/>
        </p:spPr>
        <p:txBody>
          <a:bodyPr wrap="square" lIns="0" tIns="0" rIns="0" bIns="0" rtlCol="0" anchor="ctr"/>
          <a:lstStyle/>
          <a:p>
            <a:pPr indent="0" marL="0">
              <a:buNone/>
            </a:pPr>
            <a:r>
              <a:rPr lang="en-US" sz="1450" b="1" dirty="0">
                <a:solidFill>
                  <a:srgbClr val="0E2726"/>
                </a:solidFill>
                <a:latin typeface="Arial" pitchFamily="34" charset="0"/>
                <a:ea typeface="Arial" pitchFamily="34" charset="-122"/>
                <a:cs typeface="Arial" pitchFamily="34" charset="-120"/>
              </a:rPr>
              <a:t>Global vendors</a:t>
            </a:r>
            <a:endParaRPr lang="en-US" sz="1450" dirty="0"/>
          </a:p>
        </p:txBody>
      </p:sp>
      <p:sp>
        <p:nvSpPr>
          <p:cNvPr id="8" name="Text 6"/>
          <p:cNvSpPr/>
          <p:nvPr/>
        </p:nvSpPr>
        <p:spPr>
          <a:xfrm>
            <a:off x="594360" y="3072384"/>
            <a:ext cx="3566160" cy="274320"/>
          </a:xfrm>
          <a:prstGeom prst="rect">
            <a:avLst/>
          </a:prstGeom>
          <a:noFill/>
          <a:ln/>
        </p:spPr>
        <p:txBody>
          <a:bodyPr wrap="square" lIns="0" tIns="0" rIns="0" bIns="0" rtlCol="0" anchor="ctr"/>
          <a:lstStyle/>
          <a:p>
            <a:pPr indent="0" marL="0">
              <a:buNone/>
            </a:pPr>
            <a:r>
              <a:rPr lang="en-US" sz="950" i="1" dirty="0">
                <a:solidFill>
                  <a:srgbClr val="7A8A86"/>
                </a:solidFill>
                <a:latin typeface="Arial" pitchFamily="34" charset="0"/>
                <a:ea typeface="Arial" pitchFamily="34" charset="-122"/>
                <a:cs typeface="Arial" pitchFamily="34" charset="-120"/>
              </a:rPr>
              <a:t>Trading Central, Morningstar &amp; peers</a:t>
            </a:r>
            <a:endParaRPr lang="en-US" sz="950" dirty="0"/>
          </a:p>
        </p:txBody>
      </p:sp>
      <p:sp>
        <p:nvSpPr>
          <p:cNvPr id="9" name="Shape 7"/>
          <p:cNvSpPr/>
          <p:nvPr/>
        </p:nvSpPr>
        <p:spPr>
          <a:xfrm>
            <a:off x="4480560" y="2834640"/>
            <a:ext cx="2057400" cy="411480"/>
          </a:xfrm>
          <a:prstGeom prst="roundRect">
            <a:avLst>
              <a:gd name="adj" fmla="val 48889"/>
            </a:avLst>
          </a:prstGeom>
          <a:solidFill>
            <a:srgbClr val="E4E9E7"/>
          </a:solidFill>
          <a:ln w="12700">
            <a:solidFill>
              <a:srgbClr val="D5DDDA"/>
            </a:solidFill>
            <a:prstDash val="solid"/>
          </a:ln>
        </p:spPr>
      </p:sp>
      <p:sp>
        <p:nvSpPr>
          <p:cNvPr id="10" name="Text 8"/>
          <p:cNvSpPr/>
          <p:nvPr/>
        </p:nvSpPr>
        <p:spPr>
          <a:xfrm>
            <a:off x="4480560" y="283464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a:t>
            </a:r>
            <a:endParaRPr lang="en-US" sz="1150" dirty="0"/>
          </a:p>
        </p:txBody>
      </p:sp>
      <p:sp>
        <p:nvSpPr>
          <p:cNvPr id="11" name="Shape 9"/>
          <p:cNvSpPr/>
          <p:nvPr/>
        </p:nvSpPr>
        <p:spPr>
          <a:xfrm>
            <a:off x="6995160" y="2834640"/>
            <a:ext cx="2057400" cy="411480"/>
          </a:xfrm>
          <a:prstGeom prst="roundRect">
            <a:avLst>
              <a:gd name="adj" fmla="val 48889"/>
            </a:avLst>
          </a:prstGeom>
          <a:solidFill>
            <a:srgbClr val="E4E9E7"/>
          </a:solidFill>
          <a:ln w="12700">
            <a:solidFill>
              <a:srgbClr val="D5DDDA"/>
            </a:solidFill>
            <a:prstDash val="solid"/>
          </a:ln>
        </p:spPr>
      </p:sp>
      <p:sp>
        <p:nvSpPr>
          <p:cNvPr id="12" name="Text 10"/>
          <p:cNvSpPr/>
          <p:nvPr/>
        </p:nvSpPr>
        <p:spPr>
          <a:xfrm>
            <a:off x="6995160" y="283464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a:t>
            </a:r>
            <a:endParaRPr lang="en-US" sz="1150" dirty="0"/>
          </a:p>
        </p:txBody>
      </p:sp>
      <p:sp>
        <p:nvSpPr>
          <p:cNvPr id="13" name="Shape 11"/>
          <p:cNvSpPr/>
          <p:nvPr/>
        </p:nvSpPr>
        <p:spPr>
          <a:xfrm>
            <a:off x="9509760" y="2834640"/>
            <a:ext cx="2057400" cy="411480"/>
          </a:xfrm>
          <a:prstGeom prst="roundRect">
            <a:avLst>
              <a:gd name="adj" fmla="val 48889"/>
            </a:avLst>
          </a:prstGeom>
          <a:solidFill>
            <a:srgbClr val="E4E9E7"/>
          </a:solidFill>
          <a:ln w="12700">
            <a:solidFill>
              <a:srgbClr val="D5DDDA"/>
            </a:solidFill>
            <a:prstDash val="solid"/>
          </a:ln>
        </p:spPr>
      </p:sp>
      <p:sp>
        <p:nvSpPr>
          <p:cNvPr id="14" name="Text 12"/>
          <p:cNvSpPr/>
          <p:nvPr/>
        </p:nvSpPr>
        <p:spPr>
          <a:xfrm>
            <a:off x="9509760" y="283464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NOT HERE</a:t>
            </a:r>
            <a:endParaRPr lang="en-US" sz="1150" dirty="0"/>
          </a:p>
        </p:txBody>
      </p:sp>
      <p:sp>
        <p:nvSpPr>
          <p:cNvPr id="15" name="Text 13"/>
          <p:cNvSpPr/>
          <p:nvPr/>
        </p:nvSpPr>
        <p:spPr>
          <a:xfrm>
            <a:off x="594360" y="3566160"/>
            <a:ext cx="3566160" cy="310896"/>
          </a:xfrm>
          <a:prstGeom prst="rect">
            <a:avLst/>
          </a:prstGeom>
          <a:noFill/>
          <a:ln/>
        </p:spPr>
        <p:txBody>
          <a:bodyPr wrap="square" lIns="0" tIns="0" rIns="0" bIns="0" rtlCol="0" anchor="ctr"/>
          <a:lstStyle/>
          <a:p>
            <a:pPr indent="0" marL="0">
              <a:buNone/>
            </a:pPr>
            <a:r>
              <a:rPr lang="en-US" sz="1450" b="1" dirty="0">
                <a:solidFill>
                  <a:srgbClr val="0E2726"/>
                </a:solidFill>
                <a:latin typeface="Arial" pitchFamily="34" charset="0"/>
                <a:ea typeface="Arial" pitchFamily="34" charset="-122"/>
                <a:cs typeface="Arial" pitchFamily="34" charset="-120"/>
              </a:rPr>
              <a:t>Build it in-house</a:t>
            </a:r>
            <a:endParaRPr lang="en-US" sz="1450" dirty="0"/>
          </a:p>
        </p:txBody>
      </p:sp>
      <p:sp>
        <p:nvSpPr>
          <p:cNvPr id="16" name="Text 14"/>
          <p:cNvSpPr/>
          <p:nvPr/>
        </p:nvSpPr>
        <p:spPr>
          <a:xfrm>
            <a:off x="594360" y="3895344"/>
            <a:ext cx="3566160" cy="274320"/>
          </a:xfrm>
          <a:prstGeom prst="rect">
            <a:avLst/>
          </a:prstGeom>
          <a:noFill/>
          <a:ln/>
        </p:spPr>
        <p:txBody>
          <a:bodyPr wrap="square" lIns="0" tIns="0" rIns="0" bIns="0" rtlCol="0" anchor="ctr"/>
          <a:lstStyle/>
          <a:p>
            <a:pPr indent="0" marL="0">
              <a:buNone/>
            </a:pPr>
            <a:r>
              <a:rPr lang="en-US" sz="950" i="1" dirty="0">
                <a:solidFill>
                  <a:srgbClr val="7A8A86"/>
                </a:solidFill>
                <a:latin typeface="Arial" pitchFamily="34" charset="0"/>
                <a:ea typeface="Arial" pitchFamily="34" charset="-122"/>
                <a:cs typeface="Arial" pitchFamily="34" charset="-120"/>
              </a:rPr>
              <a:t>a capable quant desk</a:t>
            </a:r>
            <a:endParaRPr lang="en-US" sz="950" dirty="0"/>
          </a:p>
        </p:txBody>
      </p:sp>
      <p:sp>
        <p:nvSpPr>
          <p:cNvPr id="17" name="Shape 15"/>
          <p:cNvSpPr/>
          <p:nvPr/>
        </p:nvSpPr>
        <p:spPr>
          <a:xfrm>
            <a:off x="4480560" y="3657600"/>
            <a:ext cx="2057400" cy="411480"/>
          </a:xfrm>
          <a:prstGeom prst="roundRect">
            <a:avLst>
              <a:gd name="adj" fmla="val 48889"/>
            </a:avLst>
          </a:prstGeom>
          <a:solidFill>
            <a:srgbClr val="F3ECD9"/>
          </a:solidFill>
          <a:ln w="12700">
            <a:solidFill>
              <a:srgbClr val="E2D5B4"/>
            </a:solidFill>
            <a:prstDash val="solid"/>
          </a:ln>
        </p:spPr>
      </p:sp>
      <p:sp>
        <p:nvSpPr>
          <p:cNvPr id="18" name="Text 16"/>
          <p:cNvSpPr/>
          <p:nvPr/>
        </p:nvSpPr>
        <p:spPr>
          <a:xfrm>
            <a:off x="4480560" y="3657600"/>
            <a:ext cx="2057400" cy="411480"/>
          </a:xfrm>
          <a:prstGeom prst="rect">
            <a:avLst/>
          </a:prstGeom>
          <a:noFill/>
          <a:ln/>
        </p:spPr>
        <p:txBody>
          <a:bodyPr wrap="square" lIns="0" tIns="0" rIns="0" bIns="0" rtlCol="0" anchor="ctr"/>
          <a:lstStyle/>
          <a:p>
            <a:pPr algn="ctr" indent="0" marL="0">
              <a:buNone/>
            </a:pPr>
            <a:r>
              <a:rPr lang="en-US" sz="1150" b="1" spc="100" kern="0" dirty="0">
                <a:solidFill>
                  <a:srgbClr val="8A7440"/>
                </a:solidFill>
                <a:latin typeface="Arial" pitchFamily="34" charset="0"/>
                <a:ea typeface="Arial" pitchFamily="34" charset="-122"/>
                <a:cs typeface="Arial" pitchFamily="34" charset="-120"/>
              </a:rPr>
              <a:t>IN MONTHS</a:t>
            </a:r>
            <a:endParaRPr lang="en-US" sz="1150" dirty="0"/>
          </a:p>
        </p:txBody>
      </p:sp>
      <p:sp>
        <p:nvSpPr>
          <p:cNvPr id="19" name="Shape 17"/>
          <p:cNvSpPr/>
          <p:nvPr/>
        </p:nvSpPr>
        <p:spPr>
          <a:xfrm>
            <a:off x="6995160" y="3657600"/>
            <a:ext cx="2057400" cy="411480"/>
          </a:xfrm>
          <a:prstGeom prst="roundRect">
            <a:avLst>
              <a:gd name="adj" fmla="val 48889"/>
            </a:avLst>
          </a:prstGeom>
          <a:solidFill>
            <a:srgbClr val="F3ECD9"/>
          </a:solidFill>
          <a:ln w="12700">
            <a:solidFill>
              <a:srgbClr val="E2D5B4"/>
            </a:solidFill>
            <a:prstDash val="solid"/>
          </a:ln>
        </p:spPr>
      </p:sp>
      <p:sp>
        <p:nvSpPr>
          <p:cNvPr id="20" name="Text 18"/>
          <p:cNvSpPr/>
          <p:nvPr/>
        </p:nvSpPr>
        <p:spPr>
          <a:xfrm>
            <a:off x="6995160" y="3657600"/>
            <a:ext cx="2057400" cy="411480"/>
          </a:xfrm>
          <a:prstGeom prst="rect">
            <a:avLst/>
          </a:prstGeom>
          <a:noFill/>
          <a:ln/>
        </p:spPr>
        <p:txBody>
          <a:bodyPr wrap="square" lIns="0" tIns="0" rIns="0" bIns="0" rtlCol="0" anchor="ctr"/>
          <a:lstStyle/>
          <a:p>
            <a:pPr algn="ctr" indent="0" marL="0">
              <a:buNone/>
            </a:pPr>
            <a:r>
              <a:rPr lang="en-US" sz="1150" b="1" spc="100" kern="0" dirty="0">
                <a:solidFill>
                  <a:srgbClr val="8A7440"/>
                </a:solidFill>
                <a:latin typeface="Arial" pitchFamily="34" charset="0"/>
                <a:ea typeface="Arial" pitchFamily="34" charset="-122"/>
                <a:cs typeface="Arial" pitchFamily="34" charset="-120"/>
              </a:rPr>
              <a:t>STARTS AT 0</a:t>
            </a:r>
            <a:endParaRPr lang="en-US" sz="1150" dirty="0"/>
          </a:p>
        </p:txBody>
      </p:sp>
      <p:sp>
        <p:nvSpPr>
          <p:cNvPr id="21" name="Shape 19"/>
          <p:cNvSpPr/>
          <p:nvPr/>
        </p:nvSpPr>
        <p:spPr>
          <a:xfrm>
            <a:off x="9509760" y="3657600"/>
            <a:ext cx="2057400" cy="411480"/>
          </a:xfrm>
          <a:prstGeom prst="roundRect">
            <a:avLst>
              <a:gd name="adj" fmla="val 48889"/>
            </a:avLst>
          </a:prstGeom>
          <a:solidFill>
            <a:srgbClr val="E4E9E7"/>
          </a:solidFill>
          <a:ln w="12700">
            <a:solidFill>
              <a:srgbClr val="D5DDDA"/>
            </a:solidFill>
            <a:prstDash val="solid"/>
          </a:ln>
        </p:spPr>
      </p:sp>
      <p:sp>
        <p:nvSpPr>
          <p:cNvPr id="22" name="Text 20"/>
          <p:cNvSpPr/>
          <p:nvPr/>
        </p:nvSpPr>
        <p:spPr>
          <a:xfrm>
            <a:off x="9509760" y="365760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a:t>
            </a:r>
            <a:endParaRPr lang="en-US" sz="1150" dirty="0"/>
          </a:p>
        </p:txBody>
      </p:sp>
      <p:sp>
        <p:nvSpPr>
          <p:cNvPr id="23" name="Text 21"/>
          <p:cNvSpPr/>
          <p:nvPr/>
        </p:nvSpPr>
        <p:spPr>
          <a:xfrm>
            <a:off x="594360" y="4389120"/>
            <a:ext cx="3566160" cy="310896"/>
          </a:xfrm>
          <a:prstGeom prst="rect">
            <a:avLst/>
          </a:prstGeom>
          <a:noFill/>
          <a:ln/>
        </p:spPr>
        <p:txBody>
          <a:bodyPr wrap="square" lIns="0" tIns="0" rIns="0" bIns="0" rtlCol="0" anchor="ctr"/>
          <a:lstStyle/>
          <a:p>
            <a:pPr indent="0" marL="0">
              <a:buNone/>
            </a:pPr>
            <a:r>
              <a:rPr lang="en-US" sz="1450" b="1" dirty="0">
                <a:solidFill>
                  <a:srgbClr val="0E2726"/>
                </a:solidFill>
                <a:latin typeface="Arial" pitchFamily="34" charset="0"/>
                <a:ea typeface="Arial" pitchFamily="34" charset="-122"/>
                <a:cs typeface="Arial" pitchFamily="34" charset="-120"/>
              </a:rPr>
              <a:t>Do nothing</a:t>
            </a:r>
            <a:endParaRPr lang="en-US" sz="1450" dirty="0"/>
          </a:p>
        </p:txBody>
      </p:sp>
      <p:sp>
        <p:nvSpPr>
          <p:cNvPr id="24" name="Text 22"/>
          <p:cNvSpPr/>
          <p:nvPr/>
        </p:nvSpPr>
        <p:spPr>
          <a:xfrm>
            <a:off x="594360" y="4718304"/>
            <a:ext cx="3566160" cy="274320"/>
          </a:xfrm>
          <a:prstGeom prst="rect">
            <a:avLst/>
          </a:prstGeom>
          <a:noFill/>
          <a:ln/>
        </p:spPr>
        <p:txBody>
          <a:bodyPr wrap="square" lIns="0" tIns="0" rIns="0" bIns="0" rtlCol="0" anchor="ctr"/>
          <a:lstStyle/>
          <a:p>
            <a:pPr indent="0" marL="0">
              <a:buNone/>
            </a:pPr>
            <a:r>
              <a:rPr lang="en-US" sz="950" i="1" dirty="0">
                <a:solidFill>
                  <a:srgbClr val="7A8A86"/>
                </a:solidFill>
                <a:latin typeface="Arial" pitchFamily="34" charset="0"/>
                <a:ea typeface="Arial" pitchFamily="34" charset="-122"/>
                <a:cs typeface="Arial" pitchFamily="34" charset="-120"/>
              </a:rPr>
              <a:t>the status quo for the long tail</a:t>
            </a:r>
            <a:endParaRPr lang="en-US" sz="950" dirty="0"/>
          </a:p>
        </p:txBody>
      </p:sp>
      <p:sp>
        <p:nvSpPr>
          <p:cNvPr id="25" name="Shape 23"/>
          <p:cNvSpPr/>
          <p:nvPr/>
        </p:nvSpPr>
        <p:spPr>
          <a:xfrm>
            <a:off x="4480560" y="4480560"/>
            <a:ext cx="2057400" cy="411480"/>
          </a:xfrm>
          <a:prstGeom prst="roundRect">
            <a:avLst>
              <a:gd name="adj" fmla="val 48889"/>
            </a:avLst>
          </a:prstGeom>
          <a:solidFill>
            <a:srgbClr val="E4E9E7"/>
          </a:solidFill>
          <a:ln w="12700">
            <a:solidFill>
              <a:srgbClr val="D5DDDA"/>
            </a:solidFill>
            <a:prstDash val="solid"/>
          </a:ln>
        </p:spPr>
      </p:sp>
      <p:sp>
        <p:nvSpPr>
          <p:cNvPr id="26" name="Text 24"/>
          <p:cNvSpPr/>
          <p:nvPr/>
        </p:nvSpPr>
        <p:spPr>
          <a:xfrm>
            <a:off x="4480560" y="448056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a:t>
            </a:r>
            <a:endParaRPr lang="en-US" sz="1150" dirty="0"/>
          </a:p>
        </p:txBody>
      </p:sp>
      <p:sp>
        <p:nvSpPr>
          <p:cNvPr id="27" name="Shape 25"/>
          <p:cNvSpPr/>
          <p:nvPr/>
        </p:nvSpPr>
        <p:spPr>
          <a:xfrm>
            <a:off x="6995160" y="4480560"/>
            <a:ext cx="2057400" cy="411480"/>
          </a:xfrm>
          <a:prstGeom prst="roundRect">
            <a:avLst>
              <a:gd name="adj" fmla="val 48889"/>
            </a:avLst>
          </a:prstGeom>
          <a:solidFill>
            <a:srgbClr val="E4E9E7"/>
          </a:solidFill>
          <a:ln w="12700">
            <a:solidFill>
              <a:srgbClr val="D5DDDA"/>
            </a:solidFill>
            <a:prstDash val="solid"/>
          </a:ln>
        </p:spPr>
      </p:sp>
      <p:sp>
        <p:nvSpPr>
          <p:cNvPr id="28" name="Text 26"/>
          <p:cNvSpPr/>
          <p:nvPr/>
        </p:nvSpPr>
        <p:spPr>
          <a:xfrm>
            <a:off x="6995160" y="4480560"/>
            <a:ext cx="2057400" cy="411480"/>
          </a:xfrm>
          <a:prstGeom prst="rect">
            <a:avLst/>
          </a:prstGeom>
          <a:noFill/>
          <a:ln/>
        </p:spPr>
        <p:txBody>
          <a:bodyPr wrap="square" lIns="0" tIns="0" rIns="0" bIns="0" rtlCol="0" anchor="ctr"/>
          <a:lstStyle/>
          <a:p>
            <a:pPr algn="ctr" indent="0" marL="0">
              <a:buNone/>
            </a:pPr>
            <a:r>
              <a:rPr lang="en-US" sz="1150" b="1" spc="100" kern="0" dirty="0">
                <a:solidFill>
                  <a:srgbClr val="5C6B70"/>
                </a:solidFill>
                <a:latin typeface="Arial" pitchFamily="34" charset="0"/>
                <a:ea typeface="Arial" pitchFamily="34" charset="-122"/>
                <a:cs typeface="Arial" pitchFamily="34" charset="-120"/>
              </a:rPr>
              <a:t>NO</a:t>
            </a:r>
            <a:endParaRPr lang="en-US" sz="1150" dirty="0"/>
          </a:p>
        </p:txBody>
      </p:sp>
      <p:sp>
        <p:nvSpPr>
          <p:cNvPr id="29" name="Shape 27"/>
          <p:cNvSpPr/>
          <p:nvPr/>
        </p:nvSpPr>
        <p:spPr>
          <a:xfrm>
            <a:off x="9509760" y="4480560"/>
            <a:ext cx="2057400" cy="411480"/>
          </a:xfrm>
          <a:prstGeom prst="roundRect">
            <a:avLst>
              <a:gd name="adj" fmla="val 48889"/>
            </a:avLst>
          </a:prstGeom>
          <a:solidFill>
            <a:srgbClr val="F3ECD9"/>
          </a:solidFill>
          <a:ln w="12700">
            <a:solidFill>
              <a:srgbClr val="E2D5B4"/>
            </a:solidFill>
            <a:prstDash val="solid"/>
          </a:ln>
        </p:spPr>
      </p:sp>
      <p:sp>
        <p:nvSpPr>
          <p:cNvPr id="30" name="Text 28"/>
          <p:cNvSpPr/>
          <p:nvPr/>
        </p:nvSpPr>
        <p:spPr>
          <a:xfrm>
            <a:off x="9509760" y="4480560"/>
            <a:ext cx="2057400" cy="411480"/>
          </a:xfrm>
          <a:prstGeom prst="rect">
            <a:avLst/>
          </a:prstGeom>
          <a:noFill/>
          <a:ln/>
        </p:spPr>
        <p:txBody>
          <a:bodyPr wrap="square" lIns="0" tIns="0" rIns="0" bIns="0" rtlCol="0" anchor="ctr"/>
          <a:lstStyle/>
          <a:p>
            <a:pPr algn="ctr" indent="0" marL="0">
              <a:buNone/>
            </a:pPr>
            <a:r>
              <a:rPr lang="en-US" sz="1150" b="1" spc="100" kern="0" dirty="0">
                <a:solidFill>
                  <a:srgbClr val="8A7440"/>
                </a:solidFill>
                <a:latin typeface="Arial" pitchFamily="34" charset="0"/>
                <a:ea typeface="Arial" pitchFamily="34" charset="-122"/>
                <a:cs typeface="Arial" pitchFamily="34" charset="-120"/>
              </a:rPr>
              <a:t>TELEGRAM</a:t>
            </a:r>
            <a:endParaRPr lang="en-US" sz="1150" dirty="0"/>
          </a:p>
        </p:txBody>
      </p:sp>
      <p:sp>
        <p:nvSpPr>
          <p:cNvPr id="31" name="Shape 29"/>
          <p:cNvSpPr/>
          <p:nvPr/>
        </p:nvSpPr>
        <p:spPr>
          <a:xfrm>
            <a:off x="484632" y="5084064"/>
            <a:ext cx="11338560" cy="841248"/>
          </a:xfrm>
          <a:prstGeom prst="roundRect">
            <a:avLst>
              <a:gd name="adj" fmla="val 7609"/>
            </a:avLst>
          </a:prstGeom>
          <a:solidFill>
            <a:srgbClr val="E7F0EE"/>
          </a:solidFill>
          <a:ln w="12700">
            <a:solidFill>
              <a:srgbClr val="CBDDD8"/>
            </a:solidFill>
            <a:prstDash val="solid"/>
          </a:ln>
        </p:spPr>
      </p:sp>
      <p:sp>
        <p:nvSpPr>
          <p:cNvPr id="32" name="Text 30"/>
          <p:cNvSpPr/>
          <p:nvPr/>
        </p:nvSpPr>
        <p:spPr>
          <a:xfrm>
            <a:off x="594360" y="5212080"/>
            <a:ext cx="3566160" cy="310896"/>
          </a:xfrm>
          <a:prstGeom prst="rect">
            <a:avLst/>
          </a:prstGeom>
          <a:noFill/>
          <a:ln/>
        </p:spPr>
        <p:txBody>
          <a:bodyPr wrap="square" lIns="0" tIns="0" rIns="0" bIns="0" rtlCol="0" anchor="ctr"/>
          <a:lstStyle/>
          <a:p>
            <a:pPr indent="0" marL="0">
              <a:buNone/>
            </a:pPr>
            <a:r>
              <a:rPr lang="en-US" sz="1450" b="1" dirty="0">
                <a:solidFill>
                  <a:srgbClr val="0F5147"/>
                </a:solidFill>
                <a:latin typeface="Arial" pitchFamily="34" charset="0"/>
                <a:ea typeface="Arial" pitchFamily="34" charset="-122"/>
                <a:cs typeface="Arial" pitchFamily="34" charset="-120"/>
              </a:rPr>
              <a:t>Testahil</a:t>
            </a:r>
            <a:endParaRPr lang="en-US" sz="1450" dirty="0"/>
          </a:p>
        </p:txBody>
      </p:sp>
      <p:sp>
        <p:nvSpPr>
          <p:cNvPr id="33" name="Text 31"/>
          <p:cNvSpPr/>
          <p:nvPr/>
        </p:nvSpPr>
        <p:spPr>
          <a:xfrm>
            <a:off x="594360" y="5541264"/>
            <a:ext cx="3566160" cy="274320"/>
          </a:xfrm>
          <a:prstGeom prst="rect">
            <a:avLst/>
          </a:prstGeom>
          <a:noFill/>
          <a:ln/>
        </p:spPr>
        <p:txBody>
          <a:bodyPr wrap="square" lIns="0" tIns="0" rIns="0" bIns="0" rtlCol="0" anchor="ctr"/>
          <a:lstStyle/>
          <a:p>
            <a:pPr indent="0" marL="0">
              <a:buNone/>
            </a:pPr>
            <a:r>
              <a:rPr lang="en-US" sz="950" i="1" dirty="0">
                <a:solidFill>
                  <a:srgbClr val="7A8A86"/>
                </a:solidFill>
                <a:latin typeface="Arial" pitchFamily="34" charset="0"/>
                <a:ea typeface="Arial" pitchFamily="34" charset="-122"/>
                <a:cs typeface="Arial" pitchFamily="34" charset="-120"/>
              </a:rPr>
              <a:t>live at testahil.com</a:t>
            </a:r>
            <a:endParaRPr lang="en-US" sz="950" dirty="0"/>
          </a:p>
        </p:txBody>
      </p:sp>
      <p:sp>
        <p:nvSpPr>
          <p:cNvPr id="34" name="Shape 32"/>
          <p:cNvSpPr/>
          <p:nvPr/>
        </p:nvSpPr>
        <p:spPr>
          <a:xfrm>
            <a:off x="4480560" y="5303520"/>
            <a:ext cx="2057400" cy="411480"/>
          </a:xfrm>
          <a:prstGeom prst="roundRect">
            <a:avLst>
              <a:gd name="adj" fmla="val 48889"/>
            </a:avLst>
          </a:prstGeom>
          <a:solidFill>
            <a:srgbClr val="12796B"/>
          </a:solidFill>
          <a:ln w="12700">
            <a:solidFill>
              <a:srgbClr val="12796B"/>
            </a:solidFill>
            <a:prstDash val="solid"/>
          </a:ln>
        </p:spPr>
      </p:sp>
      <p:sp>
        <p:nvSpPr>
          <p:cNvPr id="35" name="Text 33"/>
          <p:cNvSpPr/>
          <p:nvPr/>
        </p:nvSpPr>
        <p:spPr>
          <a:xfrm>
            <a:off x="4480560" y="5303520"/>
            <a:ext cx="2057400" cy="41148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Arial" pitchFamily="34" charset="0"/>
                <a:ea typeface="Arial" pitchFamily="34" charset="-122"/>
                <a:cs typeface="Arial" pitchFamily="34" charset="-120"/>
              </a:rPr>
              <a:t>91 NAMES</a:t>
            </a:r>
            <a:endParaRPr lang="en-US" sz="1150" dirty="0"/>
          </a:p>
        </p:txBody>
      </p:sp>
      <p:sp>
        <p:nvSpPr>
          <p:cNvPr id="36" name="Shape 34"/>
          <p:cNvSpPr/>
          <p:nvPr/>
        </p:nvSpPr>
        <p:spPr>
          <a:xfrm>
            <a:off x="6995160" y="5303520"/>
            <a:ext cx="2057400" cy="411480"/>
          </a:xfrm>
          <a:prstGeom prst="roundRect">
            <a:avLst>
              <a:gd name="adj" fmla="val 48889"/>
            </a:avLst>
          </a:prstGeom>
          <a:solidFill>
            <a:srgbClr val="12796B"/>
          </a:solidFill>
          <a:ln w="12700">
            <a:solidFill>
              <a:srgbClr val="12796B"/>
            </a:solidFill>
            <a:prstDash val="solid"/>
          </a:ln>
        </p:spPr>
      </p:sp>
      <p:sp>
        <p:nvSpPr>
          <p:cNvPr id="37" name="Text 35"/>
          <p:cNvSpPr/>
          <p:nvPr/>
        </p:nvSpPr>
        <p:spPr>
          <a:xfrm>
            <a:off x="6995160" y="5303520"/>
            <a:ext cx="2057400" cy="41148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Arial" pitchFamily="34" charset="0"/>
                <a:ea typeface="Arial" pitchFamily="34" charset="-122"/>
                <a:cs typeface="Arial" pitchFamily="34" charset="-120"/>
              </a:rPr>
              <a:t>SINCE JUN-26</a:t>
            </a:r>
            <a:endParaRPr lang="en-US" sz="1150" dirty="0"/>
          </a:p>
        </p:txBody>
      </p:sp>
      <p:sp>
        <p:nvSpPr>
          <p:cNvPr id="38" name="Shape 36"/>
          <p:cNvSpPr/>
          <p:nvPr/>
        </p:nvSpPr>
        <p:spPr>
          <a:xfrm>
            <a:off x="9509760" y="5303520"/>
            <a:ext cx="2057400" cy="411480"/>
          </a:xfrm>
          <a:prstGeom prst="roundRect">
            <a:avLst>
              <a:gd name="adj" fmla="val 48889"/>
            </a:avLst>
          </a:prstGeom>
          <a:solidFill>
            <a:srgbClr val="12796B"/>
          </a:solidFill>
          <a:ln w="12700">
            <a:solidFill>
              <a:srgbClr val="12796B"/>
            </a:solidFill>
            <a:prstDash val="solid"/>
          </a:ln>
        </p:spPr>
      </p:sp>
      <p:sp>
        <p:nvSpPr>
          <p:cNvPr id="39" name="Text 37"/>
          <p:cNvSpPr/>
          <p:nvPr/>
        </p:nvSpPr>
        <p:spPr>
          <a:xfrm>
            <a:off x="9509760" y="5303520"/>
            <a:ext cx="2057400" cy="41148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Arial" pitchFamily="34" charset="0"/>
                <a:ea typeface="Arial" pitchFamily="34" charset="-122"/>
                <a:cs typeface="Arial" pitchFamily="34" charset="-120"/>
              </a:rPr>
              <a:t>YES</a:t>
            </a:r>
            <a:endParaRPr lang="en-US" sz="1150" dirty="0"/>
          </a:p>
        </p:txBody>
      </p:sp>
      <p:sp>
        <p:nvSpPr>
          <p:cNvPr id="40" name="Text 38"/>
          <p:cNvSpPr/>
          <p:nvPr/>
        </p:nvSpPr>
        <p:spPr>
          <a:xfrm>
            <a:off x="594360" y="6144768"/>
            <a:ext cx="10972800" cy="411480"/>
          </a:xfrm>
          <a:prstGeom prst="rect">
            <a:avLst/>
          </a:prstGeom>
          <a:noFill/>
          <a:ln/>
        </p:spPr>
        <p:txBody>
          <a:bodyPr wrap="square" lIns="0" tIns="0" rIns="0" bIns="0" rtlCol="0" anchor="ctr"/>
          <a:lstStyle/>
          <a:p>
            <a:pPr indent="0" marL="0">
              <a:buNone/>
            </a:pPr>
            <a:r>
              <a:rPr lang="en-US" sz="1500" i="1" dirty="0">
                <a:solidFill>
                  <a:srgbClr val="0E2726"/>
                </a:solidFill>
                <a:latin typeface="Arial" pitchFamily="34" charset="0"/>
                <a:ea typeface="Arial" pitchFamily="34" charset="-122"/>
                <a:cs typeface="Arial" pitchFamily="34" charset="-120"/>
              </a:rPr>
              <a:t>We are not asking you to replace a vendor. We are asking you to cover the names no vendor covers.</a:t>
            </a:r>
            <a:endParaRPr lang="en-US" sz="1500" dirty="0"/>
          </a:p>
        </p:txBody>
      </p:sp>
      <p:sp>
        <p:nvSpPr>
          <p:cNvPr id="41" name="Text 39"/>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594360" y="347472"/>
            <a:ext cx="11000232" cy="292608"/>
          </a:xfrm>
          <a:prstGeom prst="rect">
            <a:avLst/>
          </a:prstGeom>
          <a:noFill/>
          <a:ln/>
        </p:spPr>
        <p:txBody>
          <a:bodyPr wrap="square" lIns="0" tIns="0" rIns="0" bIns="0" rtlCol="0" anchor="ctr"/>
          <a:lstStyle/>
          <a:p>
            <a:pPr indent="0" marL="0">
              <a:buNone/>
            </a:pPr>
            <a:r>
              <a:rPr lang="en-US" sz="1100" b="1" spc="300" kern="0" dirty="0">
                <a:solidFill>
                  <a:srgbClr val="12796B"/>
                </a:solidFill>
                <a:latin typeface="Arial" pitchFamily="34" charset="0"/>
                <a:ea typeface="Arial" pitchFamily="34" charset="-122"/>
                <a:cs typeface="Arial" pitchFamily="34" charset="-120"/>
              </a:rPr>
              <a:t>APPENDIX · THE LIVE READ</a:t>
            </a:r>
            <a:endParaRPr lang="en-US" sz="1100" dirty="0"/>
          </a:p>
        </p:txBody>
      </p:sp>
      <p:sp>
        <p:nvSpPr>
          <p:cNvPr id="3" name="Text 1"/>
          <p:cNvSpPr/>
          <p:nvPr/>
        </p:nvSpPr>
        <p:spPr>
          <a:xfrm>
            <a:off x="594360" y="603504"/>
            <a:ext cx="11000232" cy="868680"/>
          </a:xfrm>
          <a:prstGeom prst="rect">
            <a:avLst/>
          </a:prstGeom>
          <a:noFill/>
          <a:ln/>
        </p:spPr>
        <p:txBody>
          <a:bodyPr wrap="square" lIns="0" tIns="0" rIns="0" bIns="0" rtlCol="0" anchor="ctr"/>
          <a:lstStyle/>
          <a:p>
            <a:pPr indent="0" marL="0">
              <a:buNone/>
            </a:pPr>
            <a:r>
              <a:rPr lang="en-US" sz="3400" b="1" dirty="0">
                <a:solidFill>
                  <a:srgbClr val="0E2726"/>
                </a:solidFill>
                <a:latin typeface="Arial" pitchFamily="34" charset="0"/>
                <a:ea typeface="Arial" pitchFamily="34" charset="-122"/>
                <a:cs typeface="Arial" pitchFamily="34" charset="-120"/>
              </a:rPr>
              <a:t>Two clocks, two lists — live on the site.</a:t>
            </a:r>
            <a:endParaRPr lang="en-US" sz="3400" dirty="0"/>
          </a:p>
        </p:txBody>
      </p:sp>
      <p:sp>
        <p:nvSpPr>
          <p:cNvPr id="4" name="Text 2"/>
          <p:cNvSpPr/>
          <p:nvPr/>
        </p:nvSpPr>
        <p:spPr>
          <a:xfrm>
            <a:off x="594360" y="1737360"/>
            <a:ext cx="5394960" cy="274320"/>
          </a:xfrm>
          <a:prstGeom prst="rect">
            <a:avLst/>
          </a:prstGeom>
          <a:noFill/>
          <a:ln/>
        </p:spPr>
        <p:txBody>
          <a:bodyPr wrap="square" lIns="0" tIns="0" rIns="0" bIns="0" rtlCol="0" anchor="ctr"/>
          <a:lstStyle/>
          <a:p>
            <a:pPr indent="0" marL="0">
              <a:buNone/>
            </a:pPr>
            <a:r>
              <a:rPr lang="en-US" sz="1200" b="1" spc="150" kern="0" dirty="0">
                <a:solidFill>
                  <a:srgbClr val="12796B"/>
                </a:solidFill>
                <a:latin typeface="Arial" pitchFamily="34" charset="0"/>
                <a:ea typeface="Arial" pitchFamily="34" charset="-122"/>
                <a:cs typeface="Arial" pitchFamily="34" charset="-120"/>
              </a:rPr>
              <a:t>FUNDAMENTAL · 1-YEAR GAP TO FAIR VALUE</a:t>
            </a:r>
            <a:endParaRPr lang="en-US" sz="1200" dirty="0"/>
          </a:p>
        </p:txBody>
      </p:sp>
      <p:sp>
        <p:nvSpPr>
          <p:cNvPr id="5" name="Shape 3"/>
          <p:cNvSpPr/>
          <p:nvPr/>
        </p:nvSpPr>
        <p:spPr>
          <a:xfrm>
            <a:off x="594360" y="2194560"/>
            <a:ext cx="5349240" cy="713232"/>
          </a:xfrm>
          <a:prstGeom prst="roundRect">
            <a:avLst>
              <a:gd name="adj" fmla="val 7692"/>
            </a:avLst>
          </a:prstGeom>
          <a:solidFill>
            <a:srgbClr val="FFFFFF"/>
          </a:solidFill>
          <a:ln w="12700">
            <a:solidFill>
              <a:srgbClr val="D9E4E1"/>
            </a:solidFill>
            <a:prstDash val="solid"/>
          </a:ln>
        </p:spPr>
      </p:sp>
      <p:sp>
        <p:nvSpPr>
          <p:cNvPr id="6" name="Text 4"/>
          <p:cNvSpPr/>
          <p:nvPr/>
        </p:nvSpPr>
        <p:spPr>
          <a:xfrm>
            <a:off x="777240" y="2267712"/>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371600" y="2267712"/>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Emaar Misr for Development (EGX)</a:t>
            </a:r>
            <a:endParaRPr lang="en-US" sz="1250" dirty="0"/>
          </a:p>
        </p:txBody>
      </p:sp>
      <p:sp>
        <p:nvSpPr>
          <p:cNvPr id="8" name="Text 6"/>
          <p:cNvSpPr/>
          <p:nvPr/>
        </p:nvSpPr>
        <p:spPr>
          <a:xfrm>
            <a:off x="4663440" y="2267712"/>
            <a:ext cx="1097280" cy="566928"/>
          </a:xfrm>
          <a:prstGeom prst="rect">
            <a:avLst/>
          </a:prstGeom>
          <a:noFill/>
          <a:ln/>
        </p:spPr>
        <p:txBody>
          <a:bodyPr wrap="square" lIns="0" tIns="0" rIns="0" bIns="0" rtlCol="0" anchor="ctr"/>
          <a:lstStyle/>
          <a:p>
            <a:pPr algn="r" indent="0" marL="0">
              <a:buNone/>
            </a:pPr>
            <a:r>
              <a:rPr lang="en-US" sz="1600" b="1" dirty="0">
                <a:solidFill>
                  <a:srgbClr val="0F5147"/>
                </a:solidFill>
                <a:latin typeface="Courier New" pitchFamily="34" charset="0"/>
                <a:ea typeface="Courier New" pitchFamily="34" charset="-122"/>
                <a:cs typeface="Courier New" pitchFamily="34" charset="-120"/>
              </a:rPr>
              <a:t>+72.1%</a:t>
            </a:r>
            <a:endParaRPr lang="en-US" sz="1600" dirty="0"/>
          </a:p>
        </p:txBody>
      </p:sp>
      <p:sp>
        <p:nvSpPr>
          <p:cNvPr id="9" name="Shape 7"/>
          <p:cNvSpPr/>
          <p:nvPr/>
        </p:nvSpPr>
        <p:spPr>
          <a:xfrm>
            <a:off x="594360" y="3035808"/>
            <a:ext cx="5349240" cy="713232"/>
          </a:xfrm>
          <a:prstGeom prst="roundRect">
            <a:avLst>
              <a:gd name="adj" fmla="val 7692"/>
            </a:avLst>
          </a:prstGeom>
          <a:solidFill>
            <a:srgbClr val="FFFFFF"/>
          </a:solidFill>
          <a:ln w="12700">
            <a:solidFill>
              <a:srgbClr val="D9E4E1"/>
            </a:solidFill>
            <a:prstDash val="solid"/>
          </a:ln>
        </p:spPr>
      </p:sp>
      <p:sp>
        <p:nvSpPr>
          <p:cNvPr id="10" name="Text 8"/>
          <p:cNvSpPr/>
          <p:nvPr/>
        </p:nvSpPr>
        <p:spPr>
          <a:xfrm>
            <a:off x="777240" y="3108960"/>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1371600" y="3108960"/>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Burjeel Holdings (ADX)</a:t>
            </a:r>
            <a:endParaRPr lang="en-US" sz="1250" dirty="0"/>
          </a:p>
        </p:txBody>
      </p:sp>
      <p:sp>
        <p:nvSpPr>
          <p:cNvPr id="12" name="Text 10"/>
          <p:cNvSpPr/>
          <p:nvPr/>
        </p:nvSpPr>
        <p:spPr>
          <a:xfrm>
            <a:off x="4663440" y="3108960"/>
            <a:ext cx="1097280" cy="566928"/>
          </a:xfrm>
          <a:prstGeom prst="rect">
            <a:avLst/>
          </a:prstGeom>
          <a:noFill/>
          <a:ln/>
        </p:spPr>
        <p:txBody>
          <a:bodyPr wrap="square" lIns="0" tIns="0" rIns="0" bIns="0" rtlCol="0" anchor="ctr"/>
          <a:lstStyle/>
          <a:p>
            <a:pPr algn="r" indent="0" marL="0">
              <a:buNone/>
            </a:pPr>
            <a:r>
              <a:rPr lang="en-US" sz="1600" b="1" dirty="0">
                <a:solidFill>
                  <a:srgbClr val="0F5147"/>
                </a:solidFill>
                <a:latin typeface="Courier New" pitchFamily="34" charset="0"/>
                <a:ea typeface="Courier New" pitchFamily="34" charset="-122"/>
                <a:cs typeface="Courier New" pitchFamily="34" charset="-120"/>
              </a:rPr>
              <a:t>+54.2%</a:t>
            </a:r>
            <a:endParaRPr lang="en-US" sz="1600" dirty="0"/>
          </a:p>
        </p:txBody>
      </p:sp>
      <p:sp>
        <p:nvSpPr>
          <p:cNvPr id="13" name="Shape 11"/>
          <p:cNvSpPr/>
          <p:nvPr/>
        </p:nvSpPr>
        <p:spPr>
          <a:xfrm>
            <a:off x="594360" y="3877056"/>
            <a:ext cx="5349240" cy="713232"/>
          </a:xfrm>
          <a:prstGeom prst="roundRect">
            <a:avLst>
              <a:gd name="adj" fmla="val 7692"/>
            </a:avLst>
          </a:prstGeom>
          <a:solidFill>
            <a:srgbClr val="FFFFFF"/>
          </a:solidFill>
          <a:ln w="12700">
            <a:solidFill>
              <a:srgbClr val="D9E4E1"/>
            </a:solidFill>
            <a:prstDash val="solid"/>
          </a:ln>
        </p:spPr>
      </p:sp>
      <p:sp>
        <p:nvSpPr>
          <p:cNvPr id="14" name="Text 12"/>
          <p:cNvSpPr/>
          <p:nvPr/>
        </p:nvSpPr>
        <p:spPr>
          <a:xfrm>
            <a:off x="777240" y="3950208"/>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1371600" y="3950208"/>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Ibnsina Pharma (EGX)</a:t>
            </a:r>
            <a:endParaRPr lang="en-US" sz="1250" dirty="0"/>
          </a:p>
        </p:txBody>
      </p:sp>
      <p:sp>
        <p:nvSpPr>
          <p:cNvPr id="16" name="Text 14"/>
          <p:cNvSpPr/>
          <p:nvPr/>
        </p:nvSpPr>
        <p:spPr>
          <a:xfrm>
            <a:off x="4663440" y="3950208"/>
            <a:ext cx="1097280" cy="566928"/>
          </a:xfrm>
          <a:prstGeom prst="rect">
            <a:avLst/>
          </a:prstGeom>
          <a:noFill/>
          <a:ln/>
        </p:spPr>
        <p:txBody>
          <a:bodyPr wrap="square" lIns="0" tIns="0" rIns="0" bIns="0" rtlCol="0" anchor="ctr"/>
          <a:lstStyle/>
          <a:p>
            <a:pPr algn="r" indent="0" marL="0">
              <a:buNone/>
            </a:pPr>
            <a:r>
              <a:rPr lang="en-US" sz="1600" b="1" dirty="0">
                <a:solidFill>
                  <a:srgbClr val="0F5147"/>
                </a:solidFill>
                <a:latin typeface="Courier New" pitchFamily="34" charset="0"/>
                <a:ea typeface="Courier New" pitchFamily="34" charset="-122"/>
                <a:cs typeface="Courier New" pitchFamily="34" charset="-120"/>
              </a:rPr>
              <a:t>+51.6%</a:t>
            </a:r>
            <a:endParaRPr lang="en-US" sz="1600" dirty="0"/>
          </a:p>
        </p:txBody>
      </p:sp>
      <p:sp>
        <p:nvSpPr>
          <p:cNvPr id="17" name="Text 15"/>
          <p:cNvSpPr/>
          <p:nvPr/>
        </p:nvSpPr>
        <p:spPr>
          <a:xfrm>
            <a:off x="6263640" y="1737360"/>
            <a:ext cx="5394960" cy="274320"/>
          </a:xfrm>
          <a:prstGeom prst="rect">
            <a:avLst/>
          </a:prstGeom>
          <a:noFill/>
          <a:ln/>
        </p:spPr>
        <p:txBody>
          <a:bodyPr wrap="square" lIns="0" tIns="0" rIns="0" bIns="0" rtlCol="0" anchor="ctr"/>
          <a:lstStyle/>
          <a:p>
            <a:pPr indent="0" marL="0">
              <a:buNone/>
            </a:pPr>
            <a:r>
              <a:rPr lang="en-US" sz="1200" b="1" spc="150" kern="0" dirty="0">
                <a:solidFill>
                  <a:srgbClr val="12796B"/>
                </a:solidFill>
                <a:latin typeface="Arial" pitchFamily="34" charset="0"/>
                <a:ea typeface="Arial" pitchFamily="34" charset="-122"/>
                <a:cs typeface="Arial" pitchFamily="34" charset="-120"/>
              </a:rPr>
              <a:t>SIMULATION · 3-MONTH MEDIAN MOVE</a:t>
            </a:r>
            <a:endParaRPr lang="en-US" sz="1200" dirty="0"/>
          </a:p>
        </p:txBody>
      </p:sp>
      <p:sp>
        <p:nvSpPr>
          <p:cNvPr id="18" name="Shape 16"/>
          <p:cNvSpPr/>
          <p:nvPr/>
        </p:nvSpPr>
        <p:spPr>
          <a:xfrm>
            <a:off x="6263640" y="2194560"/>
            <a:ext cx="5349240" cy="713232"/>
          </a:xfrm>
          <a:prstGeom prst="roundRect">
            <a:avLst>
              <a:gd name="adj" fmla="val 7692"/>
            </a:avLst>
          </a:prstGeom>
          <a:solidFill>
            <a:srgbClr val="FFFFFF"/>
          </a:solidFill>
          <a:ln w="12700">
            <a:solidFill>
              <a:srgbClr val="D9E4E1"/>
            </a:solidFill>
            <a:prstDash val="solid"/>
          </a:ln>
        </p:spPr>
      </p:sp>
      <p:sp>
        <p:nvSpPr>
          <p:cNvPr id="19" name="Text 17"/>
          <p:cNvSpPr/>
          <p:nvPr/>
        </p:nvSpPr>
        <p:spPr>
          <a:xfrm>
            <a:off x="6446520" y="2267712"/>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1</a:t>
            </a:r>
            <a:endParaRPr lang="en-US" sz="2200" dirty="0"/>
          </a:p>
        </p:txBody>
      </p:sp>
      <p:sp>
        <p:nvSpPr>
          <p:cNvPr id="20" name="Text 18"/>
          <p:cNvSpPr/>
          <p:nvPr/>
        </p:nvSpPr>
        <p:spPr>
          <a:xfrm>
            <a:off x="7040880" y="2267712"/>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Beltone Financial (EGX)</a:t>
            </a:r>
            <a:endParaRPr lang="en-US" sz="1250" dirty="0"/>
          </a:p>
        </p:txBody>
      </p:sp>
      <p:sp>
        <p:nvSpPr>
          <p:cNvPr id="21" name="Text 19"/>
          <p:cNvSpPr/>
          <p:nvPr/>
        </p:nvSpPr>
        <p:spPr>
          <a:xfrm>
            <a:off x="10332720" y="2267712"/>
            <a:ext cx="1097280" cy="566928"/>
          </a:xfrm>
          <a:prstGeom prst="rect">
            <a:avLst/>
          </a:prstGeom>
          <a:noFill/>
          <a:ln/>
        </p:spPr>
        <p:txBody>
          <a:bodyPr wrap="square" lIns="0" tIns="0" rIns="0" bIns="0" rtlCol="0" anchor="ctr"/>
          <a:lstStyle/>
          <a:p>
            <a:pPr algn="r" indent="0" marL="0">
              <a:buNone/>
            </a:pPr>
            <a:r>
              <a:rPr lang="en-US" sz="1600" b="1" dirty="0">
                <a:solidFill>
                  <a:srgbClr val="C0A45F"/>
                </a:solidFill>
                <a:latin typeface="Courier New" pitchFamily="34" charset="0"/>
                <a:ea typeface="Courier New" pitchFamily="34" charset="-122"/>
                <a:cs typeface="Courier New" pitchFamily="34" charset="-120"/>
              </a:rPr>
              <a:t>+4.9%</a:t>
            </a:r>
            <a:endParaRPr lang="en-US" sz="1600" dirty="0"/>
          </a:p>
        </p:txBody>
      </p:sp>
      <p:sp>
        <p:nvSpPr>
          <p:cNvPr id="22" name="Shape 20"/>
          <p:cNvSpPr/>
          <p:nvPr/>
        </p:nvSpPr>
        <p:spPr>
          <a:xfrm>
            <a:off x="6263640" y="3035808"/>
            <a:ext cx="5349240" cy="713232"/>
          </a:xfrm>
          <a:prstGeom prst="roundRect">
            <a:avLst>
              <a:gd name="adj" fmla="val 7692"/>
            </a:avLst>
          </a:prstGeom>
          <a:solidFill>
            <a:srgbClr val="FFFFFF"/>
          </a:solidFill>
          <a:ln w="12700">
            <a:solidFill>
              <a:srgbClr val="D9E4E1"/>
            </a:solidFill>
            <a:prstDash val="solid"/>
          </a:ln>
        </p:spPr>
      </p:sp>
      <p:sp>
        <p:nvSpPr>
          <p:cNvPr id="23" name="Text 21"/>
          <p:cNvSpPr/>
          <p:nvPr/>
        </p:nvSpPr>
        <p:spPr>
          <a:xfrm>
            <a:off x="6446520" y="3108960"/>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2</a:t>
            </a:r>
            <a:endParaRPr lang="en-US" sz="2200" dirty="0"/>
          </a:p>
        </p:txBody>
      </p:sp>
      <p:sp>
        <p:nvSpPr>
          <p:cNvPr id="24" name="Text 22"/>
          <p:cNvSpPr/>
          <p:nvPr/>
        </p:nvSpPr>
        <p:spPr>
          <a:xfrm>
            <a:off x="7040880" y="3108960"/>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Sinai Cement (EGX)</a:t>
            </a:r>
            <a:endParaRPr lang="en-US" sz="1250" dirty="0"/>
          </a:p>
        </p:txBody>
      </p:sp>
      <p:sp>
        <p:nvSpPr>
          <p:cNvPr id="25" name="Text 23"/>
          <p:cNvSpPr/>
          <p:nvPr/>
        </p:nvSpPr>
        <p:spPr>
          <a:xfrm>
            <a:off x="10332720" y="3108960"/>
            <a:ext cx="1097280" cy="566928"/>
          </a:xfrm>
          <a:prstGeom prst="rect">
            <a:avLst/>
          </a:prstGeom>
          <a:noFill/>
          <a:ln/>
        </p:spPr>
        <p:txBody>
          <a:bodyPr wrap="square" lIns="0" tIns="0" rIns="0" bIns="0" rtlCol="0" anchor="ctr"/>
          <a:lstStyle/>
          <a:p>
            <a:pPr algn="r" indent="0" marL="0">
              <a:buNone/>
            </a:pPr>
            <a:r>
              <a:rPr lang="en-US" sz="1600" b="1" dirty="0">
                <a:solidFill>
                  <a:srgbClr val="C0A45F"/>
                </a:solidFill>
                <a:latin typeface="Courier New" pitchFamily="34" charset="0"/>
                <a:ea typeface="Courier New" pitchFamily="34" charset="-122"/>
                <a:cs typeface="Courier New" pitchFamily="34" charset="-120"/>
              </a:rPr>
              <a:t>+4.8%</a:t>
            </a:r>
            <a:endParaRPr lang="en-US" sz="1600" dirty="0"/>
          </a:p>
        </p:txBody>
      </p:sp>
      <p:sp>
        <p:nvSpPr>
          <p:cNvPr id="26" name="Shape 24"/>
          <p:cNvSpPr/>
          <p:nvPr/>
        </p:nvSpPr>
        <p:spPr>
          <a:xfrm>
            <a:off x="6263640" y="3877056"/>
            <a:ext cx="5349240" cy="713232"/>
          </a:xfrm>
          <a:prstGeom prst="roundRect">
            <a:avLst>
              <a:gd name="adj" fmla="val 7692"/>
            </a:avLst>
          </a:prstGeom>
          <a:solidFill>
            <a:srgbClr val="FFFFFF"/>
          </a:solidFill>
          <a:ln w="12700">
            <a:solidFill>
              <a:srgbClr val="D9E4E1"/>
            </a:solidFill>
            <a:prstDash val="solid"/>
          </a:ln>
        </p:spPr>
      </p:sp>
      <p:sp>
        <p:nvSpPr>
          <p:cNvPr id="27" name="Text 25"/>
          <p:cNvSpPr/>
          <p:nvPr/>
        </p:nvSpPr>
        <p:spPr>
          <a:xfrm>
            <a:off x="6446520" y="3950208"/>
            <a:ext cx="457200" cy="548640"/>
          </a:xfrm>
          <a:prstGeom prst="rect">
            <a:avLst/>
          </a:prstGeom>
          <a:noFill/>
          <a:ln/>
        </p:spPr>
        <p:txBody>
          <a:bodyPr wrap="square" lIns="0" tIns="0" rIns="0" bIns="0" rtlCol="0" anchor="ctr"/>
          <a:lstStyle/>
          <a:p>
            <a:pPr indent="0" marL="0">
              <a:buNone/>
            </a:pPr>
            <a:r>
              <a:rPr lang="en-US" sz="2200" b="1" dirty="0">
                <a:solidFill>
                  <a:srgbClr val="B9CCC7"/>
                </a:solidFill>
                <a:latin typeface="Arial" pitchFamily="34" charset="0"/>
                <a:ea typeface="Arial" pitchFamily="34" charset="-122"/>
                <a:cs typeface="Arial" pitchFamily="34" charset="-120"/>
              </a:rPr>
              <a:t>3</a:t>
            </a:r>
            <a:endParaRPr lang="en-US" sz="2200" dirty="0"/>
          </a:p>
        </p:txBody>
      </p:sp>
      <p:sp>
        <p:nvSpPr>
          <p:cNvPr id="28" name="Text 26"/>
          <p:cNvSpPr/>
          <p:nvPr/>
        </p:nvSpPr>
        <p:spPr>
          <a:xfrm>
            <a:off x="7040880" y="3950208"/>
            <a:ext cx="3291840" cy="566928"/>
          </a:xfrm>
          <a:prstGeom prst="rect">
            <a:avLst/>
          </a:prstGeom>
          <a:noFill/>
          <a:ln/>
        </p:spPr>
        <p:txBody>
          <a:bodyPr wrap="square" lIns="0" tIns="0" rIns="0" bIns="0" rtlCol="0" anchor="ctr"/>
          <a:lstStyle/>
          <a:p>
            <a:pPr indent="0" marL="0">
              <a:buNone/>
            </a:pPr>
            <a:r>
              <a:rPr lang="en-US" sz="1250" dirty="0">
                <a:solidFill>
                  <a:srgbClr val="0E2726"/>
                </a:solidFill>
                <a:latin typeface="Arial" pitchFamily="34" charset="0"/>
                <a:ea typeface="Arial" pitchFamily="34" charset="-122"/>
                <a:cs typeface="Arial" pitchFamily="34" charset="-120"/>
              </a:rPr>
              <a:t>El Nasr Clothing (EGX)</a:t>
            </a:r>
            <a:endParaRPr lang="en-US" sz="1250" dirty="0"/>
          </a:p>
        </p:txBody>
      </p:sp>
      <p:sp>
        <p:nvSpPr>
          <p:cNvPr id="29" name="Text 27"/>
          <p:cNvSpPr/>
          <p:nvPr/>
        </p:nvSpPr>
        <p:spPr>
          <a:xfrm>
            <a:off x="10332720" y="3950208"/>
            <a:ext cx="1097280" cy="566928"/>
          </a:xfrm>
          <a:prstGeom prst="rect">
            <a:avLst/>
          </a:prstGeom>
          <a:noFill/>
          <a:ln/>
        </p:spPr>
        <p:txBody>
          <a:bodyPr wrap="square" lIns="0" tIns="0" rIns="0" bIns="0" rtlCol="0" anchor="ctr"/>
          <a:lstStyle/>
          <a:p>
            <a:pPr algn="r" indent="0" marL="0">
              <a:buNone/>
            </a:pPr>
            <a:r>
              <a:rPr lang="en-US" sz="1600" b="1" dirty="0">
                <a:solidFill>
                  <a:srgbClr val="C0A45F"/>
                </a:solidFill>
                <a:latin typeface="Courier New" pitchFamily="34" charset="0"/>
                <a:ea typeface="Courier New" pitchFamily="34" charset="-122"/>
                <a:cs typeface="Courier New" pitchFamily="34" charset="-120"/>
              </a:rPr>
              <a:t>+4.8%</a:t>
            </a:r>
            <a:endParaRPr lang="en-US" sz="1600" dirty="0"/>
          </a:p>
        </p:txBody>
      </p:sp>
      <p:sp>
        <p:nvSpPr>
          <p:cNvPr id="30" name="Text 28"/>
          <p:cNvSpPr/>
          <p:nvPr/>
        </p:nvSpPr>
        <p:spPr>
          <a:xfrm>
            <a:off x="594360" y="5029200"/>
            <a:ext cx="10972800" cy="640080"/>
          </a:xfrm>
          <a:prstGeom prst="rect">
            <a:avLst/>
          </a:prstGeom>
          <a:noFill/>
          <a:ln/>
        </p:spPr>
        <p:txBody>
          <a:bodyPr wrap="square" lIns="0" tIns="0" rIns="0" bIns="0" rtlCol="0" anchor="t"/>
          <a:lstStyle/>
          <a:p>
            <a:pPr indent="0" marL="0">
              <a:buNone/>
            </a:pPr>
            <a:r>
              <a:rPr lang="en-US" sz="1100" dirty="0">
                <a:solidFill>
                  <a:srgbClr val="5C6B70"/>
                </a:solidFill>
                <a:latin typeface="Arial" pitchFamily="34" charset="0"/>
                <a:ea typeface="Arial" pitchFamily="34" charset="-122"/>
                <a:cs typeface="Arial" pitchFamily="34" charset="-120"/>
              </a:rPr>
              <a:t>Ranked estimates, not picks. The 3-month simulation lens is graded on the public ledger; the 1-year fundamental lens is not — its first cohort matures June 2027. Every number on the site is tagged with its source lens.</a:t>
            </a:r>
            <a:endParaRPr lang="en-US" sz="1100" dirty="0"/>
          </a:p>
        </p:txBody>
      </p:sp>
      <p:sp>
        <p:nvSpPr>
          <p:cNvPr id="31" name="Text 29"/>
          <p:cNvSpPr/>
          <p:nvPr/>
        </p:nvSpPr>
        <p:spPr>
          <a:xfrm>
            <a:off x="594360" y="5806440"/>
            <a:ext cx="10972800" cy="548640"/>
          </a:xfrm>
          <a:prstGeom prst="rect">
            <a:avLst/>
          </a:prstGeom>
          <a:noFill/>
          <a:ln/>
        </p:spPr>
        <p:txBody>
          <a:bodyPr wrap="square" lIns="0" tIns="0" rIns="0" bIns="0" rtlCol="0" anchor="t"/>
          <a:lstStyle/>
          <a:p>
            <a:pPr indent="0" marL="0">
              <a:buNone/>
            </a:pPr>
            <a:r>
              <a:rPr lang="en-US" sz="1350" i="1" dirty="0">
                <a:solidFill>
                  <a:srgbClr val="0E2726"/>
                </a:solidFill>
                <a:latin typeface="Arial" pitchFamily="34" charset="0"/>
                <a:ea typeface="Arial" pitchFamily="34" charset="-122"/>
                <a:cs typeface="Arial" pitchFamily="34" charset="-120"/>
              </a:rPr>
              <a:t>They rarely agree — and that disagreement is the product: a 1-year value clock and a 3-month odds clock, never blended into one number. The Ticker Picker exists to read them together.</a:t>
            </a:r>
            <a:endParaRPr lang="en-US" sz="1350" dirty="0"/>
          </a:p>
        </p:txBody>
      </p:sp>
      <p:sp>
        <p:nvSpPr>
          <p:cNvPr id="32" name="Text 30"/>
          <p:cNvSpPr/>
          <p:nvPr/>
        </p:nvSpPr>
        <p:spPr>
          <a:xfrm>
            <a:off x="594360" y="6510528"/>
            <a:ext cx="7315200" cy="274320"/>
          </a:xfrm>
          <a:prstGeom prst="rect">
            <a:avLst/>
          </a:prstGeom>
          <a:noFill/>
          <a:ln/>
        </p:spPr>
        <p:txBody>
          <a:bodyPr wrap="square" lIns="0" tIns="0" rIns="0" bIns="0" rtlCol="0" anchor="ctr"/>
          <a:lstStyle/>
          <a:p>
            <a:pPr indent="0" marL="0">
              <a:buNone/>
            </a:pPr>
            <a:r>
              <a:rPr lang="en-US" sz="850" i="1" dirty="0">
                <a:solidFill>
                  <a:srgbClr val="7A8A86"/>
                </a:solidFill>
                <a:latin typeface="Arial" pitchFamily="34" charset="0"/>
                <a:ea typeface="Arial" pitchFamily="34" charset="-122"/>
                <a:cs typeface="Arial" pitchFamily="34" charset="-120"/>
              </a:rPr>
              <a:t>Computed from the live TICKERS object in assets/data.js, 18 Aug 2026 — sort by (fair.base/spot − 1) and by (dist.t60.p50/spot − 1).</a:t>
            </a:r>
            <a:endParaRPr lang="en-US" sz="850" dirty="0"/>
          </a:p>
        </p:txBody>
      </p:sp>
      <p:sp>
        <p:nvSpPr>
          <p:cNvPr id="33" name="Text 31"/>
          <p:cNvSpPr/>
          <p:nvPr/>
        </p:nvSpPr>
        <p:spPr>
          <a:xfrm>
            <a:off x="7982712" y="6510528"/>
            <a:ext cx="3657600" cy="274320"/>
          </a:xfrm>
          <a:prstGeom prst="rect">
            <a:avLst/>
          </a:prstGeom>
          <a:noFill/>
          <a:ln/>
        </p:spPr>
        <p:txBody>
          <a:bodyPr wrap="square" lIns="0" tIns="0" rIns="0" bIns="0" rtlCol="0" anchor="ctr"/>
          <a:lstStyle/>
          <a:p>
            <a:pPr algn="r" indent="0" marL="0">
              <a:buNone/>
            </a:pPr>
            <a:r>
              <a:rPr lang="en-US" sz="900" dirty="0">
                <a:solidFill>
                  <a:srgbClr val="7A8A86"/>
                </a:solidFill>
                <a:latin typeface="Arial" pitchFamily="34" charset="0"/>
                <a:ea typeface="Arial" pitchFamily="34" charset="-122"/>
                <a:cs typeface="Arial" pitchFamily="34" charset="-120"/>
              </a:rPr>
              <a:t>Testahil — distributions, not tips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Testahil — Distributions, not tips (partnership brief, Aug 2026)</dc:title>
  <dc:subject>PptxGenJS Presentation</dc:subject>
  <dc:creator>Testahil</dc:creator>
  <cp:lastModifiedBy>Testahil</cp:lastModifiedBy>
  <cp:revision>1</cp:revision>
  <dcterms:created xsi:type="dcterms:W3CDTF">2026-08-18T11:49:16Z</dcterms:created>
  <dcterms:modified xsi:type="dcterms:W3CDTF">2026-08-18T11:49:16Z</dcterms:modified>
</cp:coreProperties>
</file>